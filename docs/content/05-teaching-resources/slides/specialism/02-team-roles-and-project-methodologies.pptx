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The product owner or client.</a:t>
            </a:r>
          </a:p>
          <a:p>
            <a:r>
              <a:t>2. Keeps the team cohesive and removes obstacles.</a:t>
            </a:r>
          </a:p>
          <a:p>
            <a:r>
              <a:t>3. Researches users and designs the interface.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large feature made up of many stories.</a:t>
            </a:r>
          </a:p>
          <a:p>
            <a:r>
              <a:t>2. Working software only arrives at the end.</a:t>
            </a:r>
          </a:p>
          <a:p>
            <a:r>
              <a:t>3. When requirements are fixed and well understood.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RAD.</a:t>
            </a:r>
          </a:p>
          <a:p>
            <a:r>
              <a:t>2. Waste.</a:t>
            </a:r>
          </a:p>
          <a:p>
            <a:r>
              <a:t>3. Empathetic, iterative, interdisciplinary.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33C17A"/>
                </a:solidFill>
                <a:latin typeface="Calibri"/>
              </a:rPr>
              <a:t>OCCUPATIONAL SPECIALISM</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Team Roles and Project Methodologies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Specialism Content Area 1</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1.2, 1.3</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Software Development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4028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14400"/>
          </a:xfrm>
          <a:prstGeom prst="rect">
            <a:avLst/>
          </a:prstGeom>
          <a:noFill/>
        </p:spPr>
        <p:txBody>
          <a:bodyPr wrap="square" anchor="ctr" lIns="0" rIns="0" tIns="0" bIns="0"/>
          <a:lstStyle/>
          <a:p>
            <a:pPr algn="l"/>
            <a:r>
              <a:rPr sz="2000" b="0" i="0">
                <a:solidFill>
                  <a:srgbClr val="202122"/>
                </a:solidFill>
                <a:latin typeface="Calibri"/>
              </a:rPr>
              <a:t>Describe the roles in a digital team.</a:t>
            </a:r>
          </a:p>
        </p:txBody>
      </p:sp>
      <p:sp>
        <p:nvSpPr>
          <p:cNvPr id="9" name="Oval 8"/>
          <p:cNvSpPr/>
          <p:nvPr/>
        </p:nvSpPr>
        <p:spPr>
          <a:xfrm>
            <a:off x="548640" y="329184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63240"/>
            <a:ext cx="6035040" cy="914400"/>
          </a:xfrm>
          <a:prstGeom prst="rect">
            <a:avLst/>
          </a:prstGeom>
          <a:noFill/>
        </p:spPr>
        <p:txBody>
          <a:bodyPr wrap="square" anchor="ctr" lIns="0" rIns="0" tIns="0" bIns="0"/>
          <a:lstStyle/>
          <a:p>
            <a:pPr algn="l"/>
            <a:r>
              <a:rPr sz="2000" b="0" i="0">
                <a:solidFill>
                  <a:srgbClr val="202122"/>
                </a:solidFill>
                <a:latin typeface="Calibri"/>
              </a:rPr>
              <a:t>Compare Agile, Scaled Agile, Waterfall, RAD, Lean and UCD.</a:t>
            </a:r>
          </a:p>
        </p:txBody>
      </p:sp>
      <p:sp>
        <p:nvSpPr>
          <p:cNvPr id="11" name="Oval 10"/>
          <p:cNvSpPr/>
          <p:nvPr/>
        </p:nvSpPr>
        <p:spPr>
          <a:xfrm>
            <a:off x="548640" y="43434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114800"/>
            <a:ext cx="6035040" cy="914400"/>
          </a:xfrm>
          <a:prstGeom prst="rect">
            <a:avLst/>
          </a:prstGeom>
          <a:noFill/>
        </p:spPr>
        <p:txBody>
          <a:bodyPr wrap="square" anchor="ctr" lIns="0" rIns="0" tIns="0" bIns="0"/>
          <a:lstStyle/>
          <a:p>
            <a:pPr algn="l"/>
            <a:r>
              <a:rPr sz="2000" b="0" i="0">
                <a:solidFill>
                  <a:srgbClr val="202122"/>
                </a:solidFill>
                <a:latin typeface="Calibri"/>
              </a:rPr>
              <a:t>Select a methodology for a given project.</a:t>
            </a:r>
          </a:p>
        </p:txBody>
      </p:sp>
      <p:sp>
        <p:nvSpPr>
          <p:cNvPr id="13" name="Rounded Rectangle 12"/>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5" name="TextBox 14"/>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Who decides what goes into an app: the developer, the designer or the client? Why?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Roles in the digital team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Software is built by teams with distinct roles.</a:t>
            </a:r>
          </a:p>
          <a:p>
            <a:pPr>
              <a:spcAft>
                <a:spcPts val="1320"/>
              </a:spcAft>
            </a:pPr>
            <a:r>
              <a:rPr sz="2200" b="0">
                <a:solidFill>
                  <a:srgbClr val="202122"/>
                </a:solidFill>
                <a:latin typeface="Calibri"/>
              </a:rPr>
              <a:t>The product owner or client sets the requirements. The scrum master keeps the team working well and removes obstacles. The technical lead gives technical guidance. The project manager handles budget, scope, schedule, risk and quality.</a:t>
            </a:r>
          </a:p>
          <a:p>
            <a:pPr>
              <a:spcAft>
                <a:spcPts val="1320"/>
              </a:spcAft>
            </a:pPr>
            <a:r>
              <a:rPr sz="2200" b="0">
                <a:solidFill>
                  <a:srgbClr val="202122"/>
                </a:solidFill>
                <a:latin typeface="Calibri"/>
              </a:rPr>
              <a:t>In the development team, the systems analyst writes requirements, the UX/UI designer researches users and designs the interface, developers build it, operations engineers keep it stable and security engineers keep it secure. Testers assure quality throughout.</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bug in production: the tester finds it, the developer fixes it, the operations engineer deploys the fix, and the product owner decides how urgent it 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Roles in the digital team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graphicFrame>
        <p:nvGraphicFramePr>
          <p:cNvPr id="6" name="Table 5"/>
          <p:cNvGraphicFramePr>
            <a:graphicFrameLocks noGrp="1"/>
          </p:cNvGraphicFramePr>
          <p:nvPr/>
        </p:nvGraphicFramePr>
        <p:xfrm>
          <a:off x="548640" y="1600200"/>
          <a:ext cx="11094414" cy="4526277"/>
        </p:xfrm>
        <a:graphic>
          <a:graphicData uri="http://schemas.openxmlformats.org/drawingml/2006/table">
            <a:tbl>
              <a:tblPr firstRow="1" bandRow="1">
                <a:tableStyleId>{5C22544A-7EE6-4342-B048-85BDC9FD1C3A}</a:tableStyleId>
              </a:tblPr>
              <a:tblGrid>
                <a:gridCol w="3354125"/>
                <a:gridCol w="7740289"/>
              </a:tblGrid>
              <a:tr h="646611">
                <a:tc>
                  <a:txBody>
                    <a:bodyPr wrap="square"/>
                    <a:lstStyle/>
                    <a:p>
                      <a:r>
                        <a:rPr sz="1600" b="1">
                          <a:solidFill>
                            <a:srgbClr val="FFFFFF"/>
                          </a:solidFill>
                          <a:latin typeface="Calibri"/>
                        </a:rPr>
                        <a:t>Role</a:t>
                      </a:r>
                    </a:p>
                  </a:txBody>
                  <a:tcPr marL="91440" marR="91440" anchor="ctr">
                    <a:solidFill>
                      <a:srgbClr val="03306E"/>
                    </a:solidFill>
                  </a:tcPr>
                </a:tc>
                <a:tc>
                  <a:txBody>
                    <a:bodyPr wrap="square"/>
                    <a:lstStyle/>
                    <a:p>
                      <a:r>
                        <a:rPr sz="1600" b="1">
                          <a:solidFill>
                            <a:srgbClr val="FFFFFF"/>
                          </a:solidFill>
                          <a:latin typeface="Calibri"/>
                        </a:rPr>
                        <a:t>Responsibility</a:t>
                      </a:r>
                    </a:p>
                  </a:txBody>
                  <a:tcPr marL="91440" marR="91440" anchor="ctr">
                    <a:solidFill>
                      <a:srgbClr val="03306E"/>
                    </a:solidFill>
                  </a:tcPr>
                </a:tc>
              </a:tr>
              <a:tr h="646611">
                <a:tc>
                  <a:txBody>
                    <a:bodyPr wrap="square"/>
                    <a:lstStyle/>
                    <a:p>
                      <a:r>
                        <a:rPr sz="1600" b="1">
                          <a:solidFill>
                            <a:srgbClr val="03306E"/>
                          </a:solidFill>
                          <a:latin typeface="Calibri"/>
                        </a:rPr>
                        <a:t>Product owner / client</a:t>
                      </a:r>
                    </a:p>
                  </a:txBody>
                  <a:tcPr marL="91440" marR="91440" anchor="ctr">
                    <a:solidFill>
                      <a:srgbClr val="FFFFFF"/>
                    </a:solidFill>
                  </a:tcPr>
                </a:tc>
                <a:tc>
                  <a:txBody>
                    <a:bodyPr wrap="square"/>
                    <a:lstStyle/>
                    <a:p>
                      <a:r>
                        <a:rPr sz="1600" b="0">
                          <a:solidFill>
                            <a:srgbClr val="202122"/>
                          </a:solidFill>
                          <a:latin typeface="Calibri"/>
                        </a:rPr>
                        <a:t>Sets and communicates the requirements</a:t>
                      </a:r>
                    </a:p>
                  </a:txBody>
                  <a:tcPr marL="91440" marR="91440" anchor="ctr">
                    <a:solidFill>
                      <a:srgbClr val="FFFFFF"/>
                    </a:solidFill>
                  </a:tcPr>
                </a:tc>
              </a:tr>
              <a:tr h="646611">
                <a:tc>
                  <a:txBody>
                    <a:bodyPr wrap="square"/>
                    <a:lstStyle/>
                    <a:p>
                      <a:r>
                        <a:rPr sz="1600" b="1">
                          <a:solidFill>
                            <a:srgbClr val="03306E"/>
                          </a:solidFill>
                          <a:latin typeface="Calibri"/>
                        </a:rPr>
                        <a:t>Scrum master</a:t>
                      </a:r>
                    </a:p>
                  </a:txBody>
                  <a:tcPr marL="91440" marR="91440" anchor="ctr">
                    <a:solidFill>
                      <a:srgbClr val="EAF3FF"/>
                    </a:solidFill>
                  </a:tcPr>
                </a:tc>
                <a:tc>
                  <a:txBody>
                    <a:bodyPr wrap="square"/>
                    <a:lstStyle/>
                    <a:p>
                      <a:r>
                        <a:rPr sz="1600" b="0">
                          <a:solidFill>
                            <a:srgbClr val="202122"/>
                          </a:solidFill>
                          <a:latin typeface="Calibri"/>
                        </a:rPr>
                        <a:t>Keeps the team cohesive and resourced</a:t>
                      </a:r>
                    </a:p>
                  </a:txBody>
                  <a:tcPr marL="91440" marR="91440" anchor="ctr">
                    <a:solidFill>
                      <a:srgbClr val="EAF3FF"/>
                    </a:solidFill>
                  </a:tcPr>
                </a:tc>
              </a:tr>
              <a:tr h="646611">
                <a:tc>
                  <a:txBody>
                    <a:bodyPr wrap="square"/>
                    <a:lstStyle/>
                    <a:p>
                      <a:r>
                        <a:rPr sz="1600" b="1">
                          <a:solidFill>
                            <a:srgbClr val="03306E"/>
                          </a:solidFill>
                          <a:latin typeface="Calibri"/>
                        </a:rPr>
                        <a:t>Technical lead / project manager</a:t>
                      </a:r>
                    </a:p>
                  </a:txBody>
                  <a:tcPr marL="91440" marR="91440" anchor="ctr">
                    <a:solidFill>
                      <a:srgbClr val="FFFFFF"/>
                    </a:solidFill>
                  </a:tcPr>
                </a:tc>
                <a:tc>
                  <a:txBody>
                    <a:bodyPr wrap="square"/>
                    <a:lstStyle/>
                    <a:p>
                      <a:r>
                        <a:rPr sz="1600" b="0">
                          <a:solidFill>
                            <a:srgbClr val="202122"/>
                          </a:solidFill>
                          <a:latin typeface="Calibri"/>
                        </a:rPr>
                        <a:t>Technical guidance / budget, scope, schedule, risk, quality</a:t>
                      </a:r>
                    </a:p>
                  </a:txBody>
                  <a:tcPr marL="91440" marR="91440" anchor="ctr">
                    <a:solidFill>
                      <a:srgbClr val="FFFFFF"/>
                    </a:solidFill>
                  </a:tcPr>
                </a:tc>
              </a:tr>
              <a:tr h="646611">
                <a:tc>
                  <a:txBody>
                    <a:bodyPr wrap="square"/>
                    <a:lstStyle/>
                    <a:p>
                      <a:r>
                        <a:rPr sz="1600" b="1">
                          <a:solidFill>
                            <a:srgbClr val="03306E"/>
                          </a:solidFill>
                          <a:latin typeface="Calibri"/>
                        </a:rPr>
                        <a:t>Systems analyst / UX-UI designer</a:t>
                      </a:r>
                    </a:p>
                  </a:txBody>
                  <a:tcPr marL="91440" marR="91440" anchor="ctr">
                    <a:solidFill>
                      <a:srgbClr val="EAF3FF"/>
                    </a:solidFill>
                  </a:tcPr>
                </a:tc>
                <a:tc>
                  <a:txBody>
                    <a:bodyPr wrap="square"/>
                    <a:lstStyle/>
                    <a:p>
                      <a:r>
                        <a:rPr sz="1600" b="0">
                          <a:solidFill>
                            <a:srgbClr val="202122"/>
                          </a:solidFill>
                          <a:latin typeface="Calibri"/>
                        </a:rPr>
                        <a:t>Analyses systems and writes requirements / researches users and designs the interface</a:t>
                      </a:r>
                    </a:p>
                  </a:txBody>
                  <a:tcPr marL="91440" marR="91440" anchor="ctr">
                    <a:solidFill>
                      <a:srgbClr val="EAF3FF"/>
                    </a:solidFill>
                  </a:tcPr>
                </a:tc>
              </a:tr>
              <a:tr h="646611">
                <a:tc>
                  <a:txBody>
                    <a:bodyPr wrap="square"/>
                    <a:lstStyle/>
                    <a:p>
                      <a:r>
                        <a:rPr sz="1600" b="1">
                          <a:solidFill>
                            <a:srgbClr val="03306E"/>
                          </a:solidFill>
                          <a:latin typeface="Calibri"/>
                        </a:rPr>
                        <a:t>Developer / operations / security engineer</a:t>
                      </a:r>
                    </a:p>
                  </a:txBody>
                  <a:tcPr marL="91440" marR="91440" anchor="ctr">
                    <a:solidFill>
                      <a:srgbClr val="FFFFFF"/>
                    </a:solidFill>
                  </a:tcPr>
                </a:tc>
                <a:tc>
                  <a:txBody>
                    <a:bodyPr wrap="square"/>
                    <a:lstStyle/>
                    <a:p>
                      <a:r>
                        <a:rPr sz="1600" b="0">
                          <a:solidFill>
                            <a:srgbClr val="202122"/>
                          </a:solidFill>
                          <a:latin typeface="Calibri"/>
                        </a:rPr>
                        <a:t>Builds the solution / keeps it stable / keeps it secure</a:t>
                      </a:r>
                    </a:p>
                  </a:txBody>
                  <a:tcPr marL="91440" marR="91440" anchor="ctr">
                    <a:solidFill>
                      <a:srgbClr val="FFFFFF"/>
                    </a:solidFill>
                  </a:tcPr>
                </a:tc>
              </a:tr>
              <a:tr h="646611">
                <a:tc>
                  <a:txBody>
                    <a:bodyPr wrap="square"/>
                    <a:lstStyle/>
                    <a:p>
                      <a:r>
                        <a:rPr sz="1600" b="1">
                          <a:solidFill>
                            <a:srgbClr val="03306E"/>
                          </a:solidFill>
                          <a:latin typeface="Calibri"/>
                        </a:rPr>
                        <a:t>Software tester</a:t>
                      </a:r>
                    </a:p>
                  </a:txBody>
                  <a:tcPr marL="91440" marR="91440" anchor="ctr">
                    <a:solidFill>
                      <a:srgbClr val="EAF3FF"/>
                    </a:solidFill>
                  </a:tcPr>
                </a:tc>
                <a:tc>
                  <a:txBody>
                    <a:bodyPr wrap="square"/>
                    <a:lstStyle/>
                    <a:p>
                      <a:r>
                        <a:rPr sz="1600" b="0">
                          <a:solidFill>
                            <a:srgbClr val="202122"/>
                          </a:solidFill>
                          <a:latin typeface="Calibri"/>
                        </a:rPr>
                        <a:t>Quality assurance across the product and process</a:t>
                      </a:r>
                    </a:p>
                  </a:txBody>
                  <a:tcPr marL="91440" marR="91440" anchor="ctr">
                    <a:solidFill>
                      <a:srgbClr val="EAF3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Roles in the digital team</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Who sets the product's requirements?</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a scrum master do?</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does a UX/UI designer do?</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Agile and Waterfall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Agile delivers software in small increments: sprints, epics (large features), stories and spikes (research tasks). Users see working software every iteration, requirements can change, and even a cancelled project leaves usable code. Documentation is lighter. Scaled Agile extends this to large teams.</a:t>
            </a:r>
          </a:p>
          <a:p>
            <a:pPr>
              <a:spcAft>
                <a:spcPts val="1320"/>
              </a:spcAft>
            </a:pPr>
            <a:r>
              <a:rPr sz="2200" b="0">
                <a:solidFill>
                  <a:srgbClr val="202122"/>
                </a:solidFill>
                <a:latin typeface="Calibri"/>
              </a:rPr>
              <a:t>Waterfall moves through fixed stages in order. Progress is measured by completed documents, costs are high up front and returns slow, users see little until the end, and a project cancelled early may leave nothing usable. It suits projects with fixed, well-understood requirements.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start-up app with uncertain needs suits Agile; a safety-critical system with fixed regulations may suit Waterfall.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Agile and Waterfall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Agile</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45"/>
              </a:spcAft>
              <a:buClr>
                <a:srgbClr val="0645AD"/>
              </a:buClr>
              <a:buFont typeface="Arial"/>
              <a:buChar char="•"/>
            </a:pPr>
            <a:r>
              <a:rPr sz="2100" b="1">
                <a:solidFill>
                  <a:srgbClr val="202122"/>
                </a:solidFill>
                <a:latin typeface="Calibri"/>
              </a:rPr>
              <a:t>Incremental:</a:t>
            </a:r>
            <a:r>
              <a:rPr sz="2100" b="0">
                <a:solidFill>
                  <a:srgbClr val="202122"/>
                </a:solidFill>
                <a:latin typeface="Calibri"/>
              </a:rPr>
              <a:t> sprints, epics, stories, spikes</a:t>
            </a:r>
          </a:p>
          <a:p>
            <a:pPr marL="274320" indent="-274320">
              <a:spcAft>
                <a:spcPts val="945"/>
              </a:spcAft>
              <a:buClr>
                <a:srgbClr val="0645AD"/>
              </a:buClr>
              <a:buFont typeface="Arial"/>
              <a:buChar char="•"/>
            </a:pPr>
            <a:r>
              <a:rPr sz="2100" b="0">
                <a:solidFill>
                  <a:srgbClr val="202122"/>
                </a:solidFill>
                <a:latin typeface="Calibri"/>
              </a:rPr>
              <a:t>Requirements can keep changing</a:t>
            </a:r>
          </a:p>
          <a:p>
            <a:pPr marL="274320" indent="-274320">
              <a:spcAft>
                <a:spcPts val="945"/>
              </a:spcAft>
              <a:buClr>
                <a:srgbClr val="0645AD"/>
              </a:buClr>
              <a:buFont typeface="Arial"/>
              <a:buChar char="•"/>
            </a:pPr>
            <a:r>
              <a:rPr sz="2100" b="0">
                <a:solidFill>
                  <a:srgbClr val="202122"/>
                </a:solidFill>
                <a:latin typeface="Calibri"/>
              </a:rPr>
              <a:t>Users see working software every iteration</a:t>
            </a:r>
          </a:p>
          <a:p>
            <a:pPr marL="274320" indent="-274320">
              <a:spcAft>
                <a:spcPts val="945"/>
              </a:spcAft>
              <a:buClr>
                <a:srgbClr val="0645AD"/>
              </a:buClr>
              <a:buFont typeface="Arial"/>
              <a:buChar char="•"/>
            </a:pPr>
            <a:r>
              <a:rPr sz="2100" b="0">
                <a:solidFill>
                  <a:srgbClr val="202122"/>
                </a:solidFill>
                <a:latin typeface="Calibri"/>
              </a:rPr>
              <a:t>Less formal documentation</a:t>
            </a:r>
          </a:p>
          <a:p>
            <a:pPr marL="274320" indent="-274320">
              <a:spcAft>
                <a:spcPts val="945"/>
              </a:spcAft>
              <a:buClr>
                <a:srgbClr val="0645AD"/>
              </a:buClr>
              <a:buFont typeface="Arial"/>
              <a:buChar char="•"/>
            </a:pPr>
            <a:r>
              <a:rPr sz="2100" b="0">
                <a:solidFill>
                  <a:srgbClr val="202122"/>
                </a:solidFill>
                <a:latin typeface="Calibri"/>
              </a:rPr>
              <a:t>Scaled Agile extends it to large teams</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Waterfall</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45"/>
              </a:spcAft>
              <a:buClr>
                <a:srgbClr val="0645AD"/>
              </a:buClr>
              <a:buFont typeface="Arial"/>
              <a:buChar char="•"/>
            </a:pPr>
            <a:r>
              <a:rPr sz="2100" b="0">
                <a:solidFill>
                  <a:srgbClr val="202122"/>
                </a:solidFill>
                <a:latin typeface="Calibri"/>
              </a:rPr>
              <a:t>Rigid, systematic stages</a:t>
            </a:r>
          </a:p>
          <a:p>
            <a:pPr marL="274320" indent="-274320">
              <a:spcAft>
                <a:spcPts val="945"/>
              </a:spcAft>
              <a:buClr>
                <a:srgbClr val="0645AD"/>
              </a:buClr>
              <a:buFont typeface="Arial"/>
              <a:buChar char="•"/>
            </a:pPr>
            <a:r>
              <a:rPr sz="2100" b="0">
                <a:solidFill>
                  <a:srgbClr val="202122"/>
                </a:solidFill>
                <a:latin typeface="Calibri"/>
              </a:rPr>
              <a:t>Progress measured by completed artefacts</a:t>
            </a:r>
          </a:p>
          <a:p>
            <a:pPr marL="274320" indent="-274320">
              <a:spcAft>
                <a:spcPts val="945"/>
              </a:spcAft>
              <a:buClr>
                <a:srgbClr val="0645AD"/>
              </a:buClr>
              <a:buFont typeface="Arial"/>
              <a:buChar char="•"/>
            </a:pPr>
            <a:r>
              <a:rPr sz="2100" b="0">
                <a:solidFill>
                  <a:srgbClr val="202122"/>
                </a:solidFill>
                <a:latin typeface="Calibri"/>
              </a:rPr>
              <a:t>High upfront cost, slower return</a:t>
            </a:r>
          </a:p>
          <a:p>
            <a:pPr marL="274320" indent="-274320">
              <a:spcAft>
                <a:spcPts val="945"/>
              </a:spcAft>
              <a:buClr>
                <a:srgbClr val="0645AD"/>
              </a:buClr>
              <a:buFont typeface="Arial"/>
              <a:buChar char="•"/>
            </a:pPr>
            <a:r>
              <a:rPr sz="2100" b="0">
                <a:solidFill>
                  <a:srgbClr val="202122"/>
                </a:solidFill>
                <a:latin typeface="Calibri"/>
              </a:rPr>
              <a:t>Cancelled early may leave nothing usable</a:t>
            </a:r>
          </a:p>
          <a:p>
            <a:pPr marL="274320" indent="-274320">
              <a:spcAft>
                <a:spcPts val="945"/>
              </a:spcAft>
              <a:buClr>
                <a:srgbClr val="0645AD"/>
              </a:buClr>
              <a:buFont typeface="Arial"/>
              <a:buChar char="•"/>
            </a:pPr>
            <a:r>
              <a:rPr sz="2100" b="0">
                <a:solidFill>
                  <a:srgbClr val="202122"/>
                </a:solidFill>
                <a:latin typeface="Calibri"/>
              </a:rPr>
              <a:t>Heavy documentation, little user contact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Agile and Waterfall</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an epic in Agile?</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might a cancelled Waterfall project leave nothing usable?</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When does Waterfall suit a project?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Other methodologies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00"/>
              </a:spcAft>
            </a:pPr>
            <a:r>
              <a:rPr sz="2000" b="0">
                <a:solidFill>
                  <a:srgbClr val="202122"/>
                </a:solidFill>
                <a:latin typeface="Calibri"/>
              </a:rPr>
              <a:t>Rapid Application Development (RAD) builds prototypes quickly and improves them systematically. It values features over polish, reuses a lot of existing code and suits small to medium projects.</a:t>
            </a:r>
          </a:p>
          <a:p>
            <a:pPr>
              <a:spcAft>
                <a:spcPts val="1200"/>
              </a:spcAft>
            </a:pPr>
            <a:r>
              <a:rPr sz="2000" b="0">
                <a:solidFill>
                  <a:srgbClr val="202122"/>
                </a:solidFill>
                <a:latin typeface="Calibri"/>
              </a:rPr>
              <a:t>Lean cuts waste such as unneeded features, repeated tasks and poor communication, delays decisions to the last responsible moment, and delivers in short cycles. It suits small teams with limited resources.</a:t>
            </a:r>
          </a:p>
          <a:p>
            <a:pPr>
              <a:spcAft>
                <a:spcPts val="1200"/>
              </a:spcAft>
            </a:pPr>
            <a:r>
              <a:rPr sz="2000" b="0">
                <a:solidFill>
                  <a:srgbClr val="202122"/>
                </a:solidFill>
                <a:latin typeface="Calibri"/>
              </a:rPr>
              <a:t>User Centred Design (UCD) keeps users at the centre. It's empathetic, iterative and interdisciplinary: understand the context, specify requirements, design, then assess against requirements, and repeat.</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charity building an accessible website for older users would use UCD: testing each design with real older users before moving 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Other methodologies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Rounded Rectangle 5"/>
          <p:cNvSpPr/>
          <p:nvPr/>
        </p:nvSpPr>
        <p:spPr>
          <a:xfrm>
            <a:off x="548640"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RAD</a:t>
            </a:r>
          </a:p>
        </p:txBody>
      </p:sp>
      <p:sp>
        <p:nvSpPr>
          <p:cNvPr id="9" name="TextBox 8"/>
          <p:cNvSpPr txBox="1"/>
          <p:nvPr/>
        </p:nvSpPr>
        <p:spPr>
          <a:xfrm>
            <a:off x="777240" y="2468880"/>
            <a:ext cx="3058058" cy="3566160"/>
          </a:xfrm>
          <a:prstGeom prst="rect">
            <a:avLst/>
          </a:prstGeom>
          <a:noFill/>
        </p:spPr>
        <p:txBody>
          <a:bodyPr wrap="square" anchor="t" lIns="0" rIns="0" tIns="0" bIns="0"/>
          <a:lstStyle/>
          <a:p>
            <a:pPr algn="l"/>
            <a:r>
              <a:rPr sz="2000" b="0" i="0">
                <a:solidFill>
                  <a:srgbClr val="202122"/>
                </a:solidFill>
                <a:latin typeface="Calibri"/>
              </a:rPr>
              <a:t>Fast prototypes improved systematically. Features before quality, heavy code reuse. Small to medium projects.</a:t>
            </a:r>
          </a:p>
        </p:txBody>
      </p:sp>
      <p:sp>
        <p:nvSpPr>
          <p:cNvPr id="10" name="Rounded Rectangle 9"/>
          <p:cNvSpPr/>
          <p:nvPr/>
        </p:nvSpPr>
        <p:spPr>
          <a:xfrm>
            <a:off x="4338218"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Lean</a:t>
            </a:r>
          </a:p>
        </p:txBody>
      </p:sp>
      <p:sp>
        <p:nvSpPr>
          <p:cNvPr id="13" name="TextBox 12"/>
          <p:cNvSpPr txBox="1"/>
          <p:nvPr/>
        </p:nvSpPr>
        <p:spPr>
          <a:xfrm>
            <a:off x="4566818" y="2468880"/>
            <a:ext cx="3058058" cy="3566160"/>
          </a:xfrm>
          <a:prstGeom prst="rect">
            <a:avLst/>
          </a:prstGeom>
          <a:noFill/>
        </p:spPr>
        <p:txBody>
          <a:bodyPr wrap="square" anchor="t" lIns="0" rIns="0" tIns="0" bIns="0"/>
          <a:lstStyle/>
          <a:p>
            <a:pPr algn="l"/>
            <a:r>
              <a:rPr sz="2000" b="0" i="0">
                <a:solidFill>
                  <a:srgbClr val="202122"/>
                </a:solidFill>
                <a:latin typeface="Calibri"/>
              </a:rPr>
              <a:t>Cut waste, defer decisions, short cycles, fit-for-use iterations. Small teams.</a:t>
            </a:r>
          </a:p>
        </p:txBody>
      </p:sp>
      <p:sp>
        <p:nvSpPr>
          <p:cNvPr id="14" name="Rounded Rectangle 13"/>
          <p:cNvSpPr/>
          <p:nvPr/>
        </p:nvSpPr>
        <p:spPr>
          <a:xfrm>
            <a:off x="8127796"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User Centred Design</a:t>
            </a:r>
          </a:p>
        </p:txBody>
      </p:sp>
      <p:sp>
        <p:nvSpPr>
          <p:cNvPr id="17" name="TextBox 16"/>
          <p:cNvSpPr txBox="1"/>
          <p:nvPr/>
        </p:nvSpPr>
        <p:spPr>
          <a:xfrm>
            <a:off x="8356396" y="2468880"/>
            <a:ext cx="3058058" cy="3566160"/>
          </a:xfrm>
          <a:prstGeom prst="rect">
            <a:avLst/>
          </a:prstGeom>
          <a:noFill/>
        </p:spPr>
        <p:txBody>
          <a:bodyPr wrap="square" anchor="t" lIns="0" rIns="0" tIns="0" bIns="0"/>
          <a:lstStyle/>
          <a:p>
            <a:pPr algn="l"/>
            <a:r>
              <a:rPr sz="2000" b="0" i="0">
                <a:solidFill>
                  <a:srgbClr val="202122"/>
                </a:solidFill>
                <a:latin typeface="Calibri"/>
              </a:rPr>
              <a:t>Empathetic, iterative, interdisciplinary: understand, specify, design, assess.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Other methodologies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methodology relies heavily on reusing code?</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Lean aim to cut?</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are the characteristics of UCD?</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Oval 5"/>
          <p:cNvSpPr/>
          <p:nvPr/>
        </p:nvSpPr>
        <p:spPr>
          <a:xfrm>
            <a:off x="548640" y="1618488"/>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Who keeps a Scrum team cohesive and resourced?</a:t>
            </a:r>
          </a:p>
        </p:txBody>
      </p:sp>
      <p:sp>
        <p:nvSpPr>
          <p:cNvPr id="8" name="Oval 7"/>
          <p:cNvSpPr/>
          <p:nvPr/>
        </p:nvSpPr>
        <p:spPr>
          <a:xfrm>
            <a:off x="548640" y="2814066"/>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Which methodology measures progress by completed artefacts?</a:t>
            </a:r>
          </a:p>
        </p:txBody>
      </p:sp>
      <p:sp>
        <p:nvSpPr>
          <p:cNvPr id="10" name="Oval 9"/>
          <p:cNvSpPr/>
          <p:nvPr/>
        </p:nvSpPr>
        <p:spPr>
          <a:xfrm>
            <a:off x="548640" y="4009644"/>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What is a sprint?</a:t>
            </a:r>
          </a:p>
        </p:txBody>
      </p:sp>
      <p:sp>
        <p:nvSpPr>
          <p:cNvPr id="12" name="Oval 11"/>
          <p:cNvSpPr/>
          <p:nvPr/>
        </p:nvSpPr>
        <p:spPr>
          <a:xfrm>
            <a:off x="548640" y="5205221"/>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Which methodology relies heavily on reusing code?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18488"/>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Who keeps a Scrum team cohesive and resourced?</a:t>
            </a:r>
          </a:p>
          <a:p>
            <a:r>
              <a:rPr sz="1800" b="1">
                <a:solidFill>
                  <a:srgbClr val="03306E"/>
                </a:solidFill>
                <a:latin typeface="Calibri"/>
              </a:rPr>
              <a:t>The scrum master.</a:t>
            </a:r>
          </a:p>
        </p:txBody>
      </p:sp>
      <p:sp>
        <p:nvSpPr>
          <p:cNvPr id="8" name="Oval 7"/>
          <p:cNvSpPr/>
          <p:nvPr/>
        </p:nvSpPr>
        <p:spPr>
          <a:xfrm>
            <a:off x="548640" y="2814066"/>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Which methodology measures progress by completed artefacts?</a:t>
            </a:r>
          </a:p>
          <a:p>
            <a:r>
              <a:rPr sz="1800" b="1">
                <a:solidFill>
                  <a:srgbClr val="03306E"/>
                </a:solidFill>
                <a:latin typeface="Calibri"/>
              </a:rPr>
              <a:t>Waterfall.</a:t>
            </a:r>
          </a:p>
        </p:txBody>
      </p:sp>
      <p:sp>
        <p:nvSpPr>
          <p:cNvPr id="10" name="Oval 9"/>
          <p:cNvSpPr/>
          <p:nvPr/>
        </p:nvSpPr>
        <p:spPr>
          <a:xfrm>
            <a:off x="548640" y="4009644"/>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What is a sprint?</a:t>
            </a:r>
          </a:p>
          <a:p>
            <a:r>
              <a:rPr sz="1800" b="1">
                <a:solidFill>
                  <a:srgbClr val="03306E"/>
                </a:solidFill>
                <a:latin typeface="Calibri"/>
              </a:rPr>
              <a:t>A short, fixed period of work delivering an increment.</a:t>
            </a:r>
          </a:p>
        </p:txBody>
      </p:sp>
      <p:sp>
        <p:nvSpPr>
          <p:cNvPr id="12" name="Oval 11"/>
          <p:cNvSpPr/>
          <p:nvPr/>
        </p:nvSpPr>
        <p:spPr>
          <a:xfrm>
            <a:off x="548640" y="5205221"/>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Which methodology relies heavily on reusing code?</a:t>
            </a:r>
          </a:p>
          <a:p>
            <a:r>
              <a:rPr sz="1800" b="1">
                <a:solidFill>
                  <a:srgbClr val="03306E"/>
                </a:solidFill>
                <a:latin typeface="Calibri"/>
              </a:rPr>
              <a:t>RAD.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Pick the methodology</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Team Roles and Project Methodologies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Rounded Rectangle 5"/>
          <p:cNvSpPr/>
          <p:nvPr/>
        </p:nvSpPr>
        <p:spPr>
          <a:xfrm>
            <a:off x="548640" y="1508760"/>
            <a:ext cx="2011680" cy="457200"/>
          </a:xfrm>
          <a:prstGeom prst="roundRect">
            <a:avLst>
              <a:gd name="adj" fmla="val 50000"/>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20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Small groups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Three projects: an NHS records system, a start-up's first app, and a charity's accessible website.</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Choose a methodology for each.</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Justify each choice with two features of the methodology.</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Assign team roles for one project.</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Choice fits the risk and requirements</a:t>
            </a:r>
          </a:p>
          <a:p>
            <a:pPr marL="274320" indent="-274320">
              <a:spcAft>
                <a:spcPts val="810"/>
              </a:spcAft>
              <a:buClr>
                <a:srgbClr val="0645AD"/>
              </a:buClr>
              <a:buFont typeface="Arial"/>
              <a:buChar char="•"/>
            </a:pPr>
            <a:r>
              <a:rPr sz="1800" b="0">
                <a:solidFill>
                  <a:srgbClr val="202122"/>
                </a:solidFill>
                <a:latin typeface="Calibri"/>
              </a:rPr>
              <a:t>Features correctly described</a:t>
            </a:r>
          </a:p>
          <a:p>
            <a:pPr marL="274320" indent="-274320">
              <a:spcAft>
                <a:spcPts val="810"/>
              </a:spcAft>
              <a:buClr>
                <a:srgbClr val="0645AD"/>
              </a:buClr>
              <a:buFont typeface="Arial"/>
              <a:buChar char="•"/>
            </a:pPr>
            <a:r>
              <a:rPr sz="1800" b="0">
                <a:solidFill>
                  <a:srgbClr val="202122"/>
                </a:solidFill>
                <a:latin typeface="Calibri"/>
              </a:rPr>
              <a:t>Roles realistic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OCCUPATIONAL SPECIALISM  ·  Specialism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When is Waterfall the right choice?</a:t>
            </a:r>
          </a:p>
        </p:txBody>
      </p:sp>
      <p:sp>
        <p:nvSpPr>
          <p:cNvPr id="6" name="Oval 5"/>
          <p:cNvSpPr/>
          <p:nvPr/>
        </p:nvSpPr>
        <p:spPr>
          <a:xfrm>
            <a:off x="548640" y="26974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What does a UX designer do?</a:t>
            </a:r>
          </a:p>
        </p:txBody>
      </p:sp>
      <p:sp>
        <p:nvSpPr>
          <p:cNvPr id="8" name="Oval 7"/>
          <p:cNvSpPr/>
          <p:nvPr/>
        </p:nvSpPr>
        <p:spPr>
          <a:xfrm>
            <a:off x="548640" y="365760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Why does Agile suit changing requirements?</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Analyse a Problem</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https://lana6478.github.io/T-level-Digital-Software-Development/#/02-occupational-specialism/01-analyse-a-problem.md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Team Roles and Project Methodologies</dc:title>
  <dc:subject>Digital Software Development T Level: Specialism Content Area 1</dc:subject>
  <dc:creator>Samuel O'Connell</dc:creator>
  <cp:keywords>T Level; Digital Software Development; lesson slides; 1.2, 1.3</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