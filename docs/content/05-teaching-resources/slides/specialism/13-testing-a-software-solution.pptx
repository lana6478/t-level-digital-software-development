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 quick check that the main features work.</a:t>
            </a:r>
          </a:p>
          <a:p>
            <a:r>
              <a:t>2. Checking code for problems without running it.</a:t>
            </a:r>
          </a:p>
          <a:p>
            <a:r>
              <a:t>3. E.g. browser compatibility, loading time, responsiveness.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Alpha is internal; beta uses real external users.</a:t>
            </a:r>
          </a:p>
          <a:p>
            <a:r>
              <a:t>2. Knowledge of the code's structure.</a:t>
            </a:r>
          </a:p>
          <a:p>
            <a:r>
              <a:t>3. That the software meets the client's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also needs a purpose, pre-requisites and an expected result. Afterwards, record actual results, changes made, and any re-tests or regression tests.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0 or 101.</a:t>
            </a:r>
          </a:p>
          <a:p>
            <a:r>
              <a:t>2. Something that must be set up before a test can run.</a:t>
            </a:r>
          </a:p>
          <a:p>
            <a:r>
              <a:t>3. The change made and the re-test or regression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33C17A"/>
                </a:solidFill>
                <a:latin typeface="Calibri"/>
              </a:rPr>
              <a:t>OCCUPATIONAL SPECIALISM</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Testing a Software Solution</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Specialism Content Area 7</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7.1, 7.2, 7.3</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Software Development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Select functional, non-functional, front-end and security testing.</a:t>
            </a:r>
          </a:p>
        </p:txBody>
      </p:sp>
      <p:sp>
        <p:nvSpPr>
          <p:cNvPr id="9" name="Oval 8"/>
          <p:cNvSpPr/>
          <p:nvPr/>
        </p:nvSpPr>
        <p:spPr>
          <a:xfrm>
            <a:off x="548640" y="3274695"/>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Use acceptance, alpha, beta, closed box and open box testing.</a:t>
            </a:r>
          </a:p>
        </p:txBody>
      </p:sp>
      <p:sp>
        <p:nvSpPr>
          <p:cNvPr id="11" name="Oval 10"/>
          <p:cNvSpPr/>
          <p:nvPr/>
        </p:nvSpPr>
        <p:spPr>
          <a:xfrm>
            <a:off x="548640" y="4314825"/>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Design tests with the full range of test data.</a:t>
            </a:r>
          </a:p>
        </p:txBody>
      </p:sp>
      <p:sp>
        <p:nvSpPr>
          <p:cNvPr id="13" name="Oval 12"/>
          <p:cNvSpPr/>
          <p:nvPr/>
        </p:nvSpPr>
        <p:spPr>
          <a:xfrm>
            <a:off x="548640" y="5354954"/>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Update a test plan with results and regression tests.</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Your website works on your laptop. List every other situation you should test it 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Types of testing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140"/>
              </a:spcAft>
            </a:pPr>
            <a:r>
              <a:rPr sz="1900" b="0">
                <a:solidFill>
                  <a:srgbClr val="202122"/>
                </a:solidFill>
                <a:latin typeface="Calibri"/>
              </a:rPr>
              <a:t>Different tests check different things.</a:t>
            </a:r>
          </a:p>
          <a:p>
            <a:pPr>
              <a:spcAft>
                <a:spcPts val="1140"/>
              </a:spcAft>
            </a:pPr>
            <a:r>
              <a:rPr sz="1900" b="0">
                <a:solidFill>
                  <a:srgbClr val="202122"/>
                </a:solidFill>
                <a:latin typeface="Calibri"/>
              </a:rPr>
              <a:t>Functional testing checks the software does what it should: unit (one piece), smoke (a quick check that the main features work), integration (pieces together) and system (the whole).</a:t>
            </a:r>
          </a:p>
          <a:p>
            <a:pPr>
              <a:spcAft>
                <a:spcPts val="1140"/>
              </a:spcAft>
            </a:pPr>
            <a:r>
              <a:rPr sz="1900" b="1">
                <a:solidFill>
                  <a:srgbClr val="202122"/>
                </a:solidFill>
                <a:latin typeface="Calibri"/>
              </a:rPr>
              <a:t>Non-functional testing checks how well:</a:t>
            </a:r>
            <a:r>
              <a:rPr sz="1900" b="0">
                <a:solidFill>
                  <a:srgbClr val="202122"/>
                </a:solidFill>
                <a:latin typeface="Calibri"/>
              </a:rPr>
              <a:t> availability, compatibility, configuration and load.</a:t>
            </a:r>
          </a:p>
          <a:p>
            <a:pPr>
              <a:spcAft>
                <a:spcPts val="1140"/>
              </a:spcAft>
            </a:pPr>
            <a:r>
              <a:rPr sz="1900" b="0">
                <a:solidFill>
                  <a:srgbClr val="202122"/>
                </a:solidFill>
                <a:latin typeface="Calibri"/>
              </a:rPr>
              <a:t>Front-end testing checks performance, browser and OS compatibility, rendering, loading times and responsiveness.</a:t>
            </a:r>
          </a:p>
          <a:p>
            <a:pPr>
              <a:spcAft>
                <a:spcPts val="1140"/>
              </a:spcAft>
            </a:pPr>
            <a:r>
              <a:rPr sz="1900" b="0">
                <a:solidFill>
                  <a:srgbClr val="202122"/>
                </a:solidFill>
                <a:latin typeface="Calibri"/>
              </a:rPr>
              <a:t>Security testing uses vulnerability scanning, static analysis (examining code without running it), dynamic analysis (testing it running) and integration analysis.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Before release: smoke test the main features, run the site in Chrome, Firefox and Safari, load test 1,000 users, and run a vulnerability scan.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Types of testing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4404207" cy="512064"/>
          </a:xfrm>
          <a:prstGeom prst="rect">
            <a:avLst/>
          </a:prstGeom>
          <a:noFill/>
        </p:spPr>
        <p:txBody>
          <a:bodyPr wrap="square" anchor="ctr" lIns="0" rIns="0" tIns="0" bIns="0"/>
          <a:lstStyle/>
          <a:p>
            <a:pPr algn="l"/>
            <a:r>
              <a:rPr sz="1900" b="1" i="0">
                <a:solidFill>
                  <a:srgbClr val="03306E"/>
                </a:solidFill>
                <a:latin typeface="Calibri"/>
              </a:rPr>
              <a:t>Functional</a:t>
            </a:r>
          </a:p>
        </p:txBody>
      </p:sp>
      <p:sp>
        <p:nvSpPr>
          <p:cNvPr id="9" name="TextBox 8"/>
          <p:cNvSpPr txBox="1"/>
          <p:nvPr/>
        </p:nvSpPr>
        <p:spPr>
          <a:xfrm>
            <a:off x="777240" y="2468880"/>
            <a:ext cx="4952847" cy="1143000"/>
          </a:xfrm>
          <a:prstGeom prst="rect">
            <a:avLst/>
          </a:prstGeom>
          <a:noFill/>
        </p:spPr>
        <p:txBody>
          <a:bodyPr wrap="square" anchor="t" lIns="0" rIns="0" tIns="0" bIns="0"/>
          <a:lstStyle/>
          <a:p>
            <a:pPr algn="l"/>
            <a:r>
              <a:rPr sz="2000" b="0" i="0">
                <a:solidFill>
                  <a:srgbClr val="202122"/>
                </a:solidFill>
                <a:latin typeface="Calibri"/>
              </a:rPr>
              <a:t>Unit, smoke, integration and system testing.</a:t>
            </a:r>
          </a:p>
        </p:txBody>
      </p:sp>
      <p:sp>
        <p:nvSpPr>
          <p:cNvPr id="10" name="Rounded Rectangle 9"/>
          <p:cNvSpPr/>
          <p:nvPr/>
        </p:nvSpPr>
        <p:spPr>
          <a:xfrm>
            <a:off x="6233007" y="160020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61607"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7055967" y="1801368"/>
            <a:ext cx="4404207" cy="512064"/>
          </a:xfrm>
          <a:prstGeom prst="rect">
            <a:avLst/>
          </a:prstGeom>
          <a:noFill/>
        </p:spPr>
        <p:txBody>
          <a:bodyPr wrap="square" anchor="ctr" lIns="0" rIns="0" tIns="0" bIns="0"/>
          <a:lstStyle/>
          <a:p>
            <a:pPr algn="l"/>
            <a:r>
              <a:rPr sz="1900" b="1" i="0">
                <a:solidFill>
                  <a:srgbClr val="03306E"/>
                </a:solidFill>
                <a:latin typeface="Calibri"/>
              </a:rPr>
              <a:t>Non-functional</a:t>
            </a:r>
          </a:p>
        </p:txBody>
      </p:sp>
      <p:sp>
        <p:nvSpPr>
          <p:cNvPr id="13" name="TextBox 12"/>
          <p:cNvSpPr txBox="1"/>
          <p:nvPr/>
        </p:nvSpPr>
        <p:spPr>
          <a:xfrm>
            <a:off x="6461607" y="2468880"/>
            <a:ext cx="4952847" cy="1143000"/>
          </a:xfrm>
          <a:prstGeom prst="rect">
            <a:avLst/>
          </a:prstGeom>
          <a:noFill/>
        </p:spPr>
        <p:txBody>
          <a:bodyPr wrap="square" anchor="t" lIns="0" rIns="0" tIns="0" bIns="0"/>
          <a:lstStyle/>
          <a:p>
            <a:pPr algn="l"/>
            <a:r>
              <a:rPr sz="2000" b="0" i="0">
                <a:solidFill>
                  <a:srgbClr val="202122"/>
                </a:solidFill>
                <a:latin typeface="Calibri"/>
              </a:rPr>
              <a:t>Availability, compatibility, configuration and load testing.</a:t>
            </a:r>
          </a:p>
        </p:txBody>
      </p:sp>
      <p:sp>
        <p:nvSpPr>
          <p:cNvPr id="14" name="Rounded Rectangle 13"/>
          <p:cNvSpPr/>
          <p:nvPr/>
        </p:nvSpPr>
        <p:spPr>
          <a:xfrm>
            <a:off x="548640"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25196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1371600" y="4224528"/>
            <a:ext cx="4404207" cy="512064"/>
          </a:xfrm>
          <a:prstGeom prst="rect">
            <a:avLst/>
          </a:prstGeom>
          <a:noFill/>
        </p:spPr>
        <p:txBody>
          <a:bodyPr wrap="square" anchor="ctr" lIns="0" rIns="0" tIns="0" bIns="0"/>
          <a:lstStyle/>
          <a:p>
            <a:pPr algn="l"/>
            <a:r>
              <a:rPr sz="1900" b="1" i="0">
                <a:solidFill>
                  <a:srgbClr val="03306E"/>
                </a:solidFill>
                <a:latin typeface="Calibri"/>
              </a:rPr>
              <a:t>Front-end</a:t>
            </a:r>
          </a:p>
        </p:txBody>
      </p:sp>
      <p:sp>
        <p:nvSpPr>
          <p:cNvPr id="17" name="TextBox 16"/>
          <p:cNvSpPr txBox="1"/>
          <p:nvPr/>
        </p:nvSpPr>
        <p:spPr>
          <a:xfrm>
            <a:off x="777240" y="4892040"/>
            <a:ext cx="4952847" cy="1143000"/>
          </a:xfrm>
          <a:prstGeom prst="rect">
            <a:avLst/>
          </a:prstGeom>
          <a:noFill/>
        </p:spPr>
        <p:txBody>
          <a:bodyPr wrap="square" anchor="t" lIns="0" rIns="0" tIns="0" bIns="0"/>
          <a:lstStyle/>
          <a:p>
            <a:pPr algn="l"/>
            <a:r>
              <a:rPr sz="2000" b="0" i="0">
                <a:solidFill>
                  <a:srgbClr val="202122"/>
                </a:solidFill>
                <a:latin typeface="Calibri"/>
              </a:rPr>
              <a:t>Performance, browsers, OS, rendering, loading times, responsiveness.</a:t>
            </a:r>
          </a:p>
        </p:txBody>
      </p:sp>
      <p:sp>
        <p:nvSpPr>
          <p:cNvPr id="18" name="Rounded Rectangle 17"/>
          <p:cNvSpPr/>
          <p:nvPr/>
        </p:nvSpPr>
        <p:spPr>
          <a:xfrm>
            <a:off x="6233007" y="4023360"/>
            <a:ext cx="5410047"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61607" y="425196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7055967" y="4224528"/>
            <a:ext cx="4404207" cy="512064"/>
          </a:xfrm>
          <a:prstGeom prst="rect">
            <a:avLst/>
          </a:prstGeom>
          <a:noFill/>
        </p:spPr>
        <p:txBody>
          <a:bodyPr wrap="square" anchor="ctr" lIns="0" rIns="0" tIns="0" bIns="0"/>
          <a:lstStyle/>
          <a:p>
            <a:pPr algn="l"/>
            <a:r>
              <a:rPr sz="1900" b="1" i="0">
                <a:solidFill>
                  <a:srgbClr val="03306E"/>
                </a:solidFill>
                <a:latin typeface="Calibri"/>
              </a:rPr>
              <a:t>Security</a:t>
            </a:r>
          </a:p>
        </p:txBody>
      </p:sp>
      <p:sp>
        <p:nvSpPr>
          <p:cNvPr id="21" name="TextBox 20"/>
          <p:cNvSpPr txBox="1"/>
          <p:nvPr/>
        </p:nvSpPr>
        <p:spPr>
          <a:xfrm>
            <a:off x="6461607" y="4892040"/>
            <a:ext cx="4952847" cy="1143000"/>
          </a:xfrm>
          <a:prstGeom prst="rect">
            <a:avLst/>
          </a:prstGeom>
          <a:noFill/>
        </p:spPr>
        <p:txBody>
          <a:bodyPr wrap="square" anchor="t" lIns="0" rIns="0" tIns="0" bIns="0"/>
          <a:lstStyle/>
          <a:p>
            <a:pPr algn="l"/>
            <a:r>
              <a:rPr sz="2000" b="0" i="0">
                <a:solidFill>
                  <a:srgbClr val="202122"/>
                </a:solidFill>
                <a:latin typeface="Calibri"/>
              </a:rPr>
              <a:t>Vulnerability scanning, static, dynamic and integration analysis.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Types of testing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a smoke test?</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static analysis?</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Give one front-end test.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Testing techniques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Acceptance testing checks the software meets the client's requirements. Alpha testing is early internal testing; beta testing gives a limited group of real external users the software before full release.</a:t>
            </a:r>
          </a:p>
          <a:p>
            <a:pPr>
              <a:spcAft>
                <a:spcPts val="1320"/>
              </a:spcAft>
            </a:pPr>
            <a:r>
              <a:rPr sz="2200" b="0">
                <a:solidFill>
                  <a:srgbClr val="202122"/>
                </a:solidFill>
                <a:latin typeface="Calibri"/>
              </a:rPr>
              <a:t>Closed box (black box) testing uses only inputs and outputs, without looking at the code. Open box (white box) testing designs tests from the code's structure, so every path is exercised.</a:t>
            </a:r>
          </a:p>
          <a:p>
            <a:pPr>
              <a:spcAft>
                <a:spcPts val="1320"/>
              </a:spcAft>
            </a:pPr>
            <a:r>
              <a:rPr sz="2200" b="0">
                <a:solidFill>
                  <a:srgbClr val="202122"/>
                </a:solidFill>
                <a:latin typeface="Calibri"/>
              </a:rPr>
              <a:t>Tests can be manual or automatic, and AI tools can help generate tests.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game is alpha tested by staff, then beta tested by 500 players who report bugs before launch.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Testing techniques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graphicFrame>
        <p:nvGraphicFramePr>
          <p:cNvPr id="6" name="Table 5"/>
          <p:cNvGraphicFramePr>
            <a:graphicFrameLocks noGrp="1"/>
          </p:cNvGraphicFramePr>
          <p:nvPr/>
        </p:nvGraphicFramePr>
        <p:xfrm>
          <a:off x="548640" y="1600200"/>
          <a:ext cx="11094414" cy="3977640"/>
        </p:xfrm>
        <a:graphic>
          <a:graphicData uri="http://schemas.openxmlformats.org/drawingml/2006/table">
            <a:tbl>
              <a:tblPr firstRow="1" bandRow="1">
                <a:tableStyleId>{5C22544A-7EE6-4342-B048-85BDC9FD1C3A}</a:tableStyleId>
              </a:tblPr>
              <a:tblGrid>
                <a:gridCol w="3096115"/>
                <a:gridCol w="7998299"/>
              </a:tblGrid>
              <a:tr h="662940">
                <a:tc>
                  <a:txBody>
                    <a:bodyPr wrap="square"/>
                    <a:lstStyle/>
                    <a:p>
                      <a:r>
                        <a:rPr sz="1600" b="1">
                          <a:solidFill>
                            <a:srgbClr val="FFFFFF"/>
                          </a:solidFill>
                          <a:latin typeface="Calibri"/>
                        </a:rPr>
                        <a:t>Technique</a:t>
                      </a:r>
                    </a:p>
                  </a:txBody>
                  <a:tcPr marL="91440" marR="91440" anchor="ctr">
                    <a:solidFill>
                      <a:srgbClr val="03306E"/>
                    </a:solidFill>
                  </a:tcPr>
                </a:tc>
                <a:tc>
                  <a:txBody>
                    <a:bodyPr wrap="square"/>
                    <a:lstStyle/>
                    <a:p>
                      <a:r>
                        <a:rPr sz="1600" b="1">
                          <a:solidFill>
                            <a:srgbClr val="FFFFFF"/>
                          </a:solidFill>
                          <a:latin typeface="Calibri"/>
                        </a:rPr>
                        <a:t>What it means</a:t>
                      </a:r>
                    </a:p>
                  </a:txBody>
                  <a:tcPr marL="91440" marR="91440" anchor="ctr">
                    <a:solidFill>
                      <a:srgbClr val="03306E"/>
                    </a:solidFill>
                  </a:tcPr>
                </a:tc>
              </a:tr>
              <a:tr h="662940">
                <a:tc>
                  <a:txBody>
                    <a:bodyPr wrap="square"/>
                    <a:lstStyle/>
                    <a:p>
                      <a:r>
                        <a:rPr sz="1600" b="1">
                          <a:solidFill>
                            <a:srgbClr val="03306E"/>
                          </a:solidFill>
                          <a:latin typeface="Calibri"/>
                        </a:rPr>
                        <a:t>Acceptance</a:t>
                      </a:r>
                    </a:p>
                  </a:txBody>
                  <a:tcPr marL="91440" marR="91440" anchor="ctr">
                    <a:solidFill>
                      <a:srgbClr val="FFFFFF"/>
                    </a:solidFill>
                  </a:tcPr>
                </a:tc>
                <a:tc>
                  <a:txBody>
                    <a:bodyPr wrap="square"/>
                    <a:lstStyle/>
                    <a:p>
                      <a:r>
                        <a:rPr sz="1600" b="0">
                          <a:solidFill>
                            <a:srgbClr val="202122"/>
                          </a:solidFill>
                          <a:latin typeface="Calibri"/>
                        </a:rPr>
                        <a:t>Does it meet the client's requirements?</a:t>
                      </a:r>
                    </a:p>
                  </a:txBody>
                  <a:tcPr marL="91440" marR="91440" anchor="ctr">
                    <a:solidFill>
                      <a:srgbClr val="FFFFFF"/>
                    </a:solidFill>
                  </a:tcPr>
                </a:tc>
              </a:tr>
              <a:tr h="662940">
                <a:tc>
                  <a:txBody>
                    <a:bodyPr wrap="square"/>
                    <a:lstStyle/>
                    <a:p>
                      <a:r>
                        <a:rPr sz="1600" b="1">
                          <a:solidFill>
                            <a:srgbClr val="03306E"/>
                          </a:solidFill>
                          <a:latin typeface="Calibri"/>
                        </a:rPr>
                        <a:t>Alpha</a:t>
                      </a:r>
                    </a:p>
                  </a:txBody>
                  <a:tcPr marL="91440" marR="91440" anchor="ctr">
                    <a:solidFill>
                      <a:srgbClr val="EAF3FF"/>
                    </a:solidFill>
                  </a:tcPr>
                </a:tc>
                <a:tc>
                  <a:txBody>
                    <a:bodyPr wrap="square"/>
                    <a:lstStyle/>
                    <a:p>
                      <a:r>
                        <a:rPr sz="1600" b="0">
                          <a:solidFill>
                            <a:srgbClr val="202122"/>
                          </a:solidFill>
                          <a:latin typeface="Calibri"/>
                        </a:rPr>
                        <a:t>Early internal testing</a:t>
                      </a:r>
                    </a:p>
                  </a:txBody>
                  <a:tcPr marL="91440" marR="91440" anchor="ctr">
                    <a:solidFill>
                      <a:srgbClr val="EAF3FF"/>
                    </a:solidFill>
                  </a:tcPr>
                </a:tc>
              </a:tr>
              <a:tr h="662940">
                <a:tc>
                  <a:txBody>
                    <a:bodyPr wrap="square"/>
                    <a:lstStyle/>
                    <a:p>
                      <a:r>
                        <a:rPr sz="1600" b="1">
                          <a:solidFill>
                            <a:srgbClr val="03306E"/>
                          </a:solidFill>
                          <a:latin typeface="Calibri"/>
                        </a:rPr>
                        <a:t>Beta</a:t>
                      </a:r>
                    </a:p>
                  </a:txBody>
                  <a:tcPr marL="91440" marR="91440" anchor="ctr">
                    <a:solidFill>
                      <a:srgbClr val="FFFFFF"/>
                    </a:solidFill>
                  </a:tcPr>
                </a:tc>
                <a:tc>
                  <a:txBody>
                    <a:bodyPr wrap="square"/>
                    <a:lstStyle/>
                    <a:p>
                      <a:r>
                        <a:rPr sz="1600" b="0">
                          <a:solidFill>
                            <a:srgbClr val="202122"/>
                          </a:solidFill>
                          <a:latin typeface="Calibri"/>
                        </a:rPr>
                        <a:t>Limited real, external users before release</a:t>
                      </a:r>
                    </a:p>
                  </a:txBody>
                  <a:tcPr marL="91440" marR="91440" anchor="ctr">
                    <a:solidFill>
                      <a:srgbClr val="FFFFFF"/>
                    </a:solidFill>
                  </a:tcPr>
                </a:tc>
              </a:tr>
              <a:tr h="662940">
                <a:tc>
                  <a:txBody>
                    <a:bodyPr wrap="square"/>
                    <a:lstStyle/>
                    <a:p>
                      <a:r>
                        <a:rPr sz="1600" b="1">
                          <a:solidFill>
                            <a:srgbClr val="03306E"/>
                          </a:solidFill>
                          <a:latin typeface="Calibri"/>
                        </a:rPr>
                        <a:t>Closed box (black box)</a:t>
                      </a:r>
                    </a:p>
                  </a:txBody>
                  <a:tcPr marL="91440" marR="91440" anchor="ctr">
                    <a:solidFill>
                      <a:srgbClr val="EAF3FF"/>
                    </a:solidFill>
                  </a:tcPr>
                </a:tc>
                <a:tc>
                  <a:txBody>
                    <a:bodyPr wrap="square"/>
                    <a:lstStyle/>
                    <a:p>
                      <a:r>
                        <a:rPr sz="1600" b="0">
                          <a:solidFill>
                            <a:srgbClr val="202122"/>
                          </a:solidFill>
                          <a:latin typeface="Calibri"/>
                        </a:rPr>
                        <a:t>Inputs and outputs only, no code knowledge</a:t>
                      </a:r>
                    </a:p>
                  </a:txBody>
                  <a:tcPr marL="91440" marR="91440" anchor="ctr">
                    <a:solidFill>
                      <a:srgbClr val="EAF3FF"/>
                    </a:solidFill>
                  </a:tcPr>
                </a:tc>
              </a:tr>
              <a:tr h="662940">
                <a:tc>
                  <a:txBody>
                    <a:bodyPr wrap="square"/>
                    <a:lstStyle/>
                    <a:p>
                      <a:r>
                        <a:rPr sz="1600" b="1">
                          <a:solidFill>
                            <a:srgbClr val="03306E"/>
                          </a:solidFill>
                          <a:latin typeface="Calibri"/>
                        </a:rPr>
                        <a:t>Open box (white box)</a:t>
                      </a:r>
                    </a:p>
                  </a:txBody>
                  <a:tcPr marL="91440" marR="91440" anchor="ctr">
                    <a:solidFill>
                      <a:srgbClr val="FFFFFF"/>
                    </a:solidFill>
                  </a:tcPr>
                </a:tc>
                <a:tc>
                  <a:txBody>
                    <a:bodyPr wrap="square"/>
                    <a:lstStyle/>
                    <a:p>
                      <a:r>
                        <a:rPr sz="1600" b="0">
                          <a:solidFill>
                            <a:srgbClr val="202122"/>
                          </a:solidFill>
                          <a:latin typeface="Calibri"/>
                        </a:rPr>
                        <a:t>Tests based on the code's structure</a:t>
                      </a:r>
                    </a:p>
                  </a:txBody>
                  <a:tcPr marL="91440" marR="91440" anchor="ctr">
                    <a:solidFill>
                      <a:srgbClr val="FFFFFF"/>
                    </a:solidFill>
                  </a:tcPr>
                </a:tc>
              </a:tr>
            </a:tbl>
          </a:graphicData>
        </a:graphic>
      </p:graphicFrame>
      <p:sp>
        <p:nvSpPr>
          <p:cNvPr id="7" name="TextBox 6"/>
          <p:cNvSpPr txBox="1"/>
          <p:nvPr/>
        </p:nvSpPr>
        <p:spPr>
          <a:xfrm>
            <a:off x="548640" y="5715000"/>
            <a:ext cx="11094415" cy="457200"/>
          </a:xfrm>
          <a:prstGeom prst="rect">
            <a:avLst/>
          </a:prstGeom>
          <a:noFill/>
        </p:spPr>
        <p:txBody>
          <a:bodyPr wrap="square" anchor="t" lIns="0" rIns="0" tIns="0" bIns="0"/>
          <a:lstStyle/>
          <a:p>
            <a:pPr algn="l"/>
            <a:r>
              <a:rPr sz="1300" b="0" i="1">
                <a:solidFill>
                  <a:srgbClr val="54595D"/>
                </a:solidFill>
                <a:latin typeface="Calibri"/>
              </a:rPr>
              <a:t>Tests can be manual or automatic, including AI-assisted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Testing techniques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is the difference between alpha and beta testing?</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does open box testing use?</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does acceptance testing check?</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Test data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Each test needs a purpose, test data, any prerequisites and an expected result.</a:t>
            </a:r>
          </a:p>
          <a:p>
            <a:pPr>
              <a:spcAft>
                <a:spcPts val="1320"/>
              </a:spcAft>
            </a:pPr>
            <a:r>
              <a:rPr sz="2200" b="0">
                <a:solidFill>
                  <a:srgbClr val="202122"/>
                </a:solidFill>
                <a:latin typeface="Calibri"/>
              </a:rPr>
              <a:t>Test data comes in five kinds. Valid: normal data that should be accepted. Invalid: should be rejected. Valid extreme: at the very edge but still allowed. Invalid extreme: just outside the limit. Erroneous: the wrong type entirely.</a:t>
            </a:r>
          </a:p>
          <a:p>
            <a:pPr>
              <a:spcAft>
                <a:spcPts val="1320"/>
              </a:spcAft>
            </a:pPr>
            <a:r>
              <a:rPr sz="2200" b="0">
                <a:solidFill>
                  <a:srgbClr val="202122"/>
                </a:solidFill>
                <a:latin typeface="Calibri"/>
              </a:rPr>
              <a:t>After testing, update the plan with actual results, any changes made, and re-tests or regression tests.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For ages 11 to 18: valid 15, valid extreme 11 and 18, invalid extreme 10 and 19, invalid 30, erroneous 'fifteen'.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Test data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sp>
        <p:nvSpPr>
          <p:cNvPr id="6" name="Rounded Rectangle 5"/>
          <p:cNvSpPr/>
          <p:nvPr/>
        </p:nvSpPr>
        <p:spPr>
          <a:xfrm>
            <a:off x="548640"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900" b="1" i="0">
                <a:solidFill>
                  <a:srgbClr val="03306E"/>
                </a:solidFill>
                <a:latin typeface="Calibri"/>
              </a:rPr>
              <a:t>Valid</a:t>
            </a:r>
          </a:p>
        </p:txBody>
      </p:sp>
      <p:sp>
        <p:nvSpPr>
          <p:cNvPr id="9" name="TextBox 8"/>
          <p:cNvSpPr txBox="1"/>
          <p:nvPr/>
        </p:nvSpPr>
        <p:spPr>
          <a:xfrm>
            <a:off x="777240" y="2468880"/>
            <a:ext cx="3058058" cy="1143000"/>
          </a:xfrm>
          <a:prstGeom prst="rect">
            <a:avLst/>
          </a:prstGeom>
          <a:noFill/>
        </p:spPr>
        <p:txBody>
          <a:bodyPr wrap="square" anchor="t" lIns="0" rIns="0" tIns="0" bIns="0"/>
          <a:lstStyle/>
          <a:p>
            <a:pPr algn="l"/>
            <a:r>
              <a:rPr sz="2000" b="0" i="0">
                <a:solidFill>
                  <a:srgbClr val="202122"/>
                </a:solidFill>
                <a:latin typeface="Calibri"/>
              </a:rPr>
              <a:t>Normal, accepted data.</a:t>
            </a:r>
          </a:p>
        </p:txBody>
      </p:sp>
      <p:sp>
        <p:nvSpPr>
          <p:cNvPr id="10" name="Rounded Rectangle 9"/>
          <p:cNvSpPr/>
          <p:nvPr/>
        </p:nvSpPr>
        <p:spPr>
          <a:xfrm>
            <a:off x="4338218"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Invalid</a:t>
            </a:r>
          </a:p>
        </p:txBody>
      </p:sp>
      <p:sp>
        <p:nvSpPr>
          <p:cNvPr id="13" name="TextBox 12"/>
          <p:cNvSpPr txBox="1"/>
          <p:nvPr/>
        </p:nvSpPr>
        <p:spPr>
          <a:xfrm>
            <a:off x="4566818" y="2468880"/>
            <a:ext cx="3058058" cy="1143000"/>
          </a:xfrm>
          <a:prstGeom prst="rect">
            <a:avLst/>
          </a:prstGeom>
          <a:noFill/>
        </p:spPr>
        <p:txBody>
          <a:bodyPr wrap="square" anchor="t" lIns="0" rIns="0" tIns="0" bIns="0"/>
          <a:lstStyle/>
          <a:p>
            <a:pPr algn="l"/>
            <a:r>
              <a:rPr sz="2000" b="0" i="0">
                <a:solidFill>
                  <a:srgbClr val="202122"/>
                </a:solidFill>
                <a:latin typeface="Calibri"/>
              </a:rPr>
              <a:t>Should be rejected.</a:t>
            </a:r>
          </a:p>
        </p:txBody>
      </p:sp>
      <p:sp>
        <p:nvSpPr>
          <p:cNvPr id="14" name="Rounded Rectangle 13"/>
          <p:cNvSpPr/>
          <p:nvPr/>
        </p:nvSpPr>
        <p:spPr>
          <a:xfrm>
            <a:off x="8127796" y="160020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Valid extreme</a:t>
            </a:r>
          </a:p>
        </p:txBody>
      </p:sp>
      <p:sp>
        <p:nvSpPr>
          <p:cNvPr id="17" name="TextBox 16"/>
          <p:cNvSpPr txBox="1"/>
          <p:nvPr/>
        </p:nvSpPr>
        <p:spPr>
          <a:xfrm>
            <a:off x="8356396" y="2468880"/>
            <a:ext cx="3058058" cy="1143000"/>
          </a:xfrm>
          <a:prstGeom prst="rect">
            <a:avLst/>
          </a:prstGeom>
          <a:noFill/>
        </p:spPr>
        <p:txBody>
          <a:bodyPr wrap="square" anchor="t" lIns="0" rIns="0" tIns="0" bIns="0"/>
          <a:lstStyle/>
          <a:p>
            <a:pPr algn="l"/>
            <a:r>
              <a:rPr sz="2000" b="0" i="0">
                <a:solidFill>
                  <a:srgbClr val="202122"/>
                </a:solidFill>
                <a:latin typeface="Calibri"/>
              </a:rPr>
              <a:t>At the edge but allowed.</a:t>
            </a:r>
          </a:p>
        </p:txBody>
      </p:sp>
      <p:sp>
        <p:nvSpPr>
          <p:cNvPr id="18" name="Rounded Rectangle 17"/>
          <p:cNvSpPr/>
          <p:nvPr/>
        </p:nvSpPr>
        <p:spPr>
          <a:xfrm>
            <a:off x="548640"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425196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4</a:t>
            </a:r>
          </a:p>
        </p:txBody>
      </p:sp>
      <p:sp>
        <p:nvSpPr>
          <p:cNvPr id="20" name="TextBox 19"/>
          <p:cNvSpPr txBox="1"/>
          <p:nvPr/>
        </p:nvSpPr>
        <p:spPr>
          <a:xfrm>
            <a:off x="1371600" y="4224528"/>
            <a:ext cx="2509418" cy="512064"/>
          </a:xfrm>
          <a:prstGeom prst="rect">
            <a:avLst/>
          </a:prstGeom>
          <a:noFill/>
        </p:spPr>
        <p:txBody>
          <a:bodyPr wrap="square" anchor="ctr" lIns="0" rIns="0" tIns="0" bIns="0"/>
          <a:lstStyle/>
          <a:p>
            <a:pPr algn="l"/>
            <a:r>
              <a:rPr sz="1900" b="1" i="0">
                <a:solidFill>
                  <a:srgbClr val="03306E"/>
                </a:solidFill>
                <a:latin typeface="Calibri"/>
              </a:rPr>
              <a:t>Invalid extreme</a:t>
            </a:r>
          </a:p>
        </p:txBody>
      </p:sp>
      <p:sp>
        <p:nvSpPr>
          <p:cNvPr id="21" name="TextBox 20"/>
          <p:cNvSpPr txBox="1"/>
          <p:nvPr/>
        </p:nvSpPr>
        <p:spPr>
          <a:xfrm>
            <a:off x="777240" y="4892040"/>
            <a:ext cx="3058058" cy="1143000"/>
          </a:xfrm>
          <a:prstGeom prst="rect">
            <a:avLst/>
          </a:prstGeom>
          <a:noFill/>
        </p:spPr>
        <p:txBody>
          <a:bodyPr wrap="square" anchor="t" lIns="0" rIns="0" tIns="0" bIns="0"/>
          <a:lstStyle/>
          <a:p>
            <a:pPr algn="l"/>
            <a:r>
              <a:rPr sz="2000" b="0" i="0">
                <a:solidFill>
                  <a:srgbClr val="202122"/>
                </a:solidFill>
                <a:latin typeface="Calibri"/>
              </a:rPr>
              <a:t>Just outside the limit.</a:t>
            </a:r>
          </a:p>
        </p:txBody>
      </p:sp>
      <p:sp>
        <p:nvSpPr>
          <p:cNvPr id="22" name="Rounded Rectangle 21"/>
          <p:cNvSpPr/>
          <p:nvPr/>
        </p:nvSpPr>
        <p:spPr>
          <a:xfrm>
            <a:off x="4338218" y="4023360"/>
            <a:ext cx="3515258" cy="2148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66818" y="4251960"/>
            <a:ext cx="457200" cy="45720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5</a:t>
            </a:r>
          </a:p>
        </p:txBody>
      </p:sp>
      <p:sp>
        <p:nvSpPr>
          <p:cNvPr id="24" name="TextBox 23"/>
          <p:cNvSpPr txBox="1"/>
          <p:nvPr/>
        </p:nvSpPr>
        <p:spPr>
          <a:xfrm>
            <a:off x="5161178" y="4224528"/>
            <a:ext cx="2509418" cy="512064"/>
          </a:xfrm>
          <a:prstGeom prst="rect">
            <a:avLst/>
          </a:prstGeom>
          <a:noFill/>
        </p:spPr>
        <p:txBody>
          <a:bodyPr wrap="square" anchor="ctr" lIns="0" rIns="0" tIns="0" bIns="0"/>
          <a:lstStyle/>
          <a:p>
            <a:pPr algn="l"/>
            <a:r>
              <a:rPr sz="1900" b="1" i="0">
                <a:solidFill>
                  <a:srgbClr val="03306E"/>
                </a:solidFill>
                <a:latin typeface="Calibri"/>
              </a:rPr>
              <a:t>Erroneous</a:t>
            </a:r>
          </a:p>
        </p:txBody>
      </p:sp>
      <p:sp>
        <p:nvSpPr>
          <p:cNvPr id="25" name="TextBox 24"/>
          <p:cNvSpPr txBox="1"/>
          <p:nvPr/>
        </p:nvSpPr>
        <p:spPr>
          <a:xfrm>
            <a:off x="4566818" y="4892040"/>
            <a:ext cx="3058058" cy="1143000"/>
          </a:xfrm>
          <a:prstGeom prst="rect">
            <a:avLst/>
          </a:prstGeom>
          <a:noFill/>
        </p:spPr>
        <p:txBody>
          <a:bodyPr wrap="square" anchor="t" lIns="0" rIns="0" tIns="0" bIns="0"/>
          <a:lstStyle/>
          <a:p>
            <a:pPr algn="l"/>
            <a:r>
              <a:rPr sz="2000" b="0" i="0">
                <a:solidFill>
                  <a:srgbClr val="202122"/>
                </a:solidFill>
                <a:latin typeface="Calibri"/>
              </a:rPr>
              <a:t>Wrong type entirely.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Test data</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For a range 1 to 100, give an invalid extreme value.</a:t>
            </a:r>
          </a:p>
        </p:txBody>
      </p:sp>
      <p:sp>
        <p:nvSpPr>
          <p:cNvPr id="8" name="Oval 7"/>
          <p:cNvSpPr/>
          <p:nvPr/>
        </p:nvSpPr>
        <p:spPr>
          <a:xfrm>
            <a:off x="548640" y="31089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What is a prerequisite?</a:t>
            </a:r>
          </a:p>
        </p:txBody>
      </p:sp>
      <p:sp>
        <p:nvSpPr>
          <p:cNvPr id="10" name="Oval 9"/>
          <p:cNvSpPr/>
          <p:nvPr/>
        </p:nvSpPr>
        <p:spPr>
          <a:xfrm>
            <a:off x="548640" y="45262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should be recorded after fixing a bug?</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is smoke testing?</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What is the difference between alpha and beta testing?</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For a range 1 to 100, give valid extreme and invalid extreme values.</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What is static analysis?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is smoke testing?</a:t>
            </a:r>
          </a:p>
          <a:p>
            <a:r>
              <a:rPr sz="1800" b="1">
                <a:solidFill>
                  <a:srgbClr val="03306E"/>
                </a:solidFill>
                <a:latin typeface="Calibri"/>
              </a:rPr>
              <a:t>A quick check that the main functions work before deeper testing.</a:t>
            </a:r>
          </a:p>
        </p:txBody>
      </p:sp>
      <p:sp>
        <p:nvSpPr>
          <p:cNvPr id="8" name="Oval 7"/>
          <p:cNvSpPr/>
          <p:nvPr/>
        </p:nvSpPr>
        <p:spPr>
          <a:xfrm>
            <a:off x="548640" y="2814066"/>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What is the difference between alpha and beta testing?</a:t>
            </a:r>
          </a:p>
          <a:p>
            <a:r>
              <a:rPr sz="1800" b="1">
                <a:solidFill>
                  <a:srgbClr val="03306E"/>
                </a:solidFill>
                <a:latin typeface="Calibri"/>
              </a:rPr>
              <a:t>Alpha is internal; beta uses a limited group of real external users.</a:t>
            </a:r>
          </a:p>
        </p:txBody>
      </p:sp>
      <p:sp>
        <p:nvSpPr>
          <p:cNvPr id="10" name="Oval 9"/>
          <p:cNvSpPr/>
          <p:nvPr/>
        </p:nvSpPr>
        <p:spPr>
          <a:xfrm>
            <a:off x="548640" y="4009644"/>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For a range 1 to 100, give valid extreme and invalid extreme values.</a:t>
            </a:r>
          </a:p>
          <a:p>
            <a:r>
              <a:rPr sz="1800" b="1">
                <a:solidFill>
                  <a:srgbClr val="03306E"/>
                </a:solidFill>
                <a:latin typeface="Calibri"/>
              </a:rPr>
              <a:t>Valid extreme: 1 or 100. Invalid extreme: 0 or 101.</a:t>
            </a:r>
          </a:p>
        </p:txBody>
      </p:sp>
      <p:sp>
        <p:nvSpPr>
          <p:cNvPr id="12" name="Oval 11"/>
          <p:cNvSpPr/>
          <p:nvPr/>
        </p:nvSpPr>
        <p:spPr>
          <a:xfrm>
            <a:off x="548640" y="5205221"/>
            <a:ext cx="411480" cy="41148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What is static analysis?</a:t>
            </a:r>
          </a:p>
          <a:p>
            <a:r>
              <a:rPr sz="1800" b="1">
                <a:solidFill>
                  <a:srgbClr val="03306E"/>
                </a:solidFill>
                <a:latin typeface="Calibri"/>
              </a:rPr>
              <a:t>Checking code for problems without running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Full test plan</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Testing a Software Solution</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Rounded Rectangle 5"/>
          <p:cNvSpPr/>
          <p:nvPr/>
        </p:nvSpPr>
        <p:spPr>
          <a:xfrm>
            <a:off x="548640" y="1508760"/>
            <a:ext cx="2011680" cy="457200"/>
          </a:xfrm>
          <a:prstGeom prst="roundRect">
            <a:avLst>
              <a:gd name="adj" fmla="val 50000"/>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35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Pairs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Choose a feature from your own project.</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Write tests using all five test data types.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Add one front-end and one security test.</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Run them, record results and plan regression tests.</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Pre-requisites stated</a:t>
            </a:r>
          </a:p>
          <a:p>
            <a:pPr marL="274320" indent="-274320">
              <a:spcAft>
                <a:spcPts val="810"/>
              </a:spcAft>
              <a:buClr>
                <a:srgbClr val="0645AD"/>
              </a:buClr>
              <a:buFont typeface="Arial"/>
              <a:buChar char="•"/>
            </a:pPr>
            <a:r>
              <a:rPr sz="1800" b="0">
                <a:solidFill>
                  <a:srgbClr val="202122"/>
                </a:solidFill>
                <a:latin typeface="Calibri"/>
              </a:rPr>
              <a:t>All data types used</a:t>
            </a:r>
          </a:p>
          <a:p>
            <a:pPr marL="274320" indent="-274320">
              <a:spcAft>
                <a:spcPts val="810"/>
              </a:spcAft>
              <a:buClr>
                <a:srgbClr val="0645AD"/>
              </a:buClr>
              <a:buFont typeface="Arial"/>
              <a:buChar char="•"/>
            </a:pPr>
            <a:r>
              <a:rPr sz="1800" b="0">
                <a:solidFill>
                  <a:srgbClr val="202122"/>
                </a:solidFill>
                <a:latin typeface="Calibri"/>
              </a:rPr>
              <a:t>Regression testing planned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OCCUPATIONAL SPECIALISM  ·  Specialism Content Area 7</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Why run beta tests with real users?</a:t>
            </a:r>
          </a:p>
        </p:txBody>
      </p:sp>
      <p:sp>
        <p:nvSpPr>
          <p:cNvPr id="6" name="Oval 5"/>
          <p:cNvSpPr/>
          <p:nvPr/>
        </p:nvSpPr>
        <p:spPr>
          <a:xfrm>
            <a:off x="548640" y="269748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What is open box testing?</a:t>
            </a:r>
          </a:p>
        </p:txBody>
      </p:sp>
      <p:sp>
        <p:nvSpPr>
          <p:cNvPr id="8" name="Oval 7"/>
          <p:cNvSpPr/>
          <p:nvPr/>
        </p:nvSpPr>
        <p:spPr>
          <a:xfrm>
            <a:off x="548640" y="3657600"/>
            <a:ext cx="502920" cy="502920"/>
          </a:xfrm>
          <a:prstGeom prst="ellipse">
            <a:avLst/>
          </a:prstGeom>
          <a:solidFill>
            <a:srgbClr val="33C1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When should regression tests run?</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Testing a Software Solution</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https://lana6478.github.io/T-level-Digital-Software-Development/#/02-occupational-specialism/07-testing.md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Testing a Software Solution</dc:title>
  <dc:subject>Digital Software Development T Level: Specialism Content Area 7</dc:subject>
  <dc:creator>Samuel O'Connell</dc:creator>
  <cp:keywords>T Level; Digital Software Development; lesson slides; 7.1, 7.2, 7.3</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