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specific URL where requests are sent.</a:t>
            </a:r>
          </a:p>
          <a:p>
            <a:r>
              <a:t>2. SQL injection.</a:t>
            </a:r>
          </a:p>
          <a:p>
            <a:r>
              <a:t>3. 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app runs identically anywhere and scales easily.</a:t>
            </a:r>
          </a:p>
          <a:p>
            <a:r>
              <a:t>2. Through app stores.</a:t>
            </a:r>
          </a:p>
          <a:p>
            <a:r>
              <a:t>3. Easy updates and access from any browser.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33C17A"/>
                </a:solidFill>
                <a:latin typeface="Calibri"/>
              </a:rPr>
              <a:t>OCCUPATIONAL SPECIALISM</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Connecting to Data and Deploying Software</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Specialism Content Area 6</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6.3, 6.4</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Software Development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4028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14400"/>
          </a:xfrm>
          <a:prstGeom prst="rect">
            <a:avLst/>
          </a:prstGeom>
          <a:noFill/>
        </p:spPr>
        <p:txBody>
          <a:bodyPr wrap="square" anchor="ctr" lIns="0" rIns="0" tIns="0" bIns="0"/>
          <a:lstStyle/>
          <a:p>
            <a:pPr algn="l"/>
            <a:r>
              <a:rPr sz="2000" b="0" i="0">
                <a:solidFill>
                  <a:srgbClr val="202122"/>
                </a:solidFill>
                <a:latin typeface="Calibri"/>
              </a:rPr>
              <a:t>Connect code to data sources using APIs, JDBC and ODBC.</a:t>
            </a:r>
          </a:p>
        </p:txBody>
      </p:sp>
      <p:sp>
        <p:nvSpPr>
          <p:cNvPr id="9" name="Oval 8"/>
          <p:cNvSpPr/>
          <p:nvPr/>
        </p:nvSpPr>
        <p:spPr>
          <a:xfrm>
            <a:off x="548640" y="329184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63240"/>
            <a:ext cx="6035040" cy="914400"/>
          </a:xfrm>
          <a:prstGeom prst="rect">
            <a:avLst/>
          </a:prstGeom>
          <a:noFill/>
        </p:spPr>
        <p:txBody>
          <a:bodyPr wrap="square" anchor="ctr" lIns="0" rIns="0" tIns="0" bIns="0"/>
          <a:lstStyle/>
          <a:p>
            <a:pPr algn="l"/>
            <a:r>
              <a:rPr sz="2000" b="0" i="0">
                <a:solidFill>
                  <a:srgbClr val="202122"/>
                </a:solidFill>
                <a:latin typeface="Calibri"/>
              </a:rPr>
              <a:t>Extract, store, update and delete data.</a:t>
            </a:r>
          </a:p>
        </p:txBody>
      </p:sp>
      <p:sp>
        <p:nvSpPr>
          <p:cNvPr id="11" name="Oval 10"/>
          <p:cNvSpPr/>
          <p:nvPr/>
        </p:nvSpPr>
        <p:spPr>
          <a:xfrm>
            <a:off x="548640" y="43434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114800"/>
            <a:ext cx="6035040" cy="914400"/>
          </a:xfrm>
          <a:prstGeom prst="rect">
            <a:avLst/>
          </a:prstGeom>
          <a:noFill/>
        </p:spPr>
        <p:txBody>
          <a:bodyPr wrap="square" anchor="ctr" lIns="0" rIns="0" tIns="0" bIns="0"/>
          <a:lstStyle/>
          <a:p>
            <a:pPr algn="l"/>
            <a:r>
              <a:rPr sz="2000" b="0" i="0">
                <a:solidFill>
                  <a:srgbClr val="202122"/>
                </a:solidFill>
                <a:latin typeface="Calibri"/>
              </a:rPr>
              <a:t>Select a deployment method for a project.</a:t>
            </a:r>
          </a:p>
        </p:txBody>
      </p:sp>
      <p:sp>
        <p:nvSpPr>
          <p:cNvPr id="13" name="Rounded Rectangle 12"/>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5" name="TextBox 14"/>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weather app shows today's forecast. Where does that data come from, and how does the app get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Connecting to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Software connects to data sources in several ways.</a:t>
            </a:r>
          </a:p>
          <a:p>
            <a:pPr>
              <a:spcAft>
                <a:spcPts val="1260"/>
              </a:spcAft>
            </a:pPr>
            <a:r>
              <a:rPr sz="2100" b="0">
                <a:solidFill>
                  <a:srgbClr val="202122"/>
                </a:solidFill>
                <a:latin typeface="Calibri"/>
              </a:rPr>
              <a:t>An API is accessed with requests (GET to read, POST to create and so on) to endpoints (specific URLs). The response, usually JSON, is parsed and displayed. API keys identify and authorise your app.</a:t>
            </a:r>
          </a:p>
          <a:p>
            <a:pPr>
              <a:spcAft>
                <a:spcPts val="1260"/>
              </a:spcAft>
            </a:pPr>
            <a:r>
              <a:rPr sz="2100" b="0">
                <a:solidFill>
                  <a:srgbClr val="202122"/>
                </a:solidFill>
                <a:latin typeface="Calibri"/>
              </a:rPr>
              <a:t>JDBC connects Java programs to databases using a driver manager, a connection, statements or prepared statements, SQL queries and result sets.</a:t>
            </a:r>
          </a:p>
          <a:p>
            <a:pPr>
              <a:spcAft>
                <a:spcPts val="1260"/>
              </a:spcAft>
            </a:pPr>
            <a:r>
              <a:rPr sz="2100" b="0">
                <a:solidFill>
                  <a:srgbClr val="202122"/>
                </a:solidFill>
                <a:latin typeface="Calibri"/>
              </a:rPr>
              <a:t>ODBC is a standard any application can use: the app talks to a driver manager and driver, which connect to a data source using its name and credentials.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weather app sends a GET request to the forecast endpoint with its API key. The JSON reply is parsed into a Python dictionary and today's temperature is displayed.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Connecting to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4" cy="3977640"/>
        </p:xfrm>
        <a:graphic>
          <a:graphicData uri="http://schemas.openxmlformats.org/drawingml/2006/table">
            <a:tbl>
              <a:tblPr firstRow="1" bandRow="1">
                <a:tableStyleId>{5C22544A-7EE6-4342-B048-85BDC9FD1C3A}</a:tableStyleId>
              </a:tblPr>
              <a:tblGrid>
                <a:gridCol w="2322086"/>
                <a:gridCol w="8772328"/>
              </a:tblGrid>
              <a:tr h="994410">
                <a:tc>
                  <a:txBody>
                    <a:bodyPr wrap="square"/>
                    <a:lstStyle/>
                    <a:p>
                      <a:r>
                        <a:rPr sz="1600" b="1">
                          <a:solidFill>
                            <a:srgbClr val="FFFFFF"/>
                          </a:solidFill>
                          <a:latin typeface="Calibri"/>
                        </a:rPr>
                        <a:t>Method</a:t>
                      </a:r>
                    </a:p>
                  </a:txBody>
                  <a:tcPr marL="91440" marR="91440" anchor="ctr">
                    <a:solidFill>
                      <a:srgbClr val="03306E"/>
                    </a:solidFill>
                  </a:tcPr>
                </a:tc>
                <a:tc>
                  <a:txBody>
                    <a:bodyPr wrap="square"/>
                    <a:lstStyle/>
                    <a:p>
                      <a:r>
                        <a:rPr sz="1600" b="1">
                          <a:solidFill>
                            <a:srgbClr val="FFFFFF"/>
                          </a:solidFill>
                          <a:latin typeface="Calibri"/>
                        </a:rPr>
                        <a:t>Key parts</a:t>
                      </a:r>
                    </a:p>
                  </a:txBody>
                  <a:tcPr marL="91440" marR="91440" anchor="ctr">
                    <a:solidFill>
                      <a:srgbClr val="03306E"/>
                    </a:solidFill>
                  </a:tcPr>
                </a:tc>
              </a:tr>
              <a:tr h="994410">
                <a:tc>
                  <a:txBody>
                    <a:bodyPr wrap="square"/>
                    <a:lstStyle/>
                    <a:p>
                      <a:r>
                        <a:rPr sz="1600" b="1">
                          <a:solidFill>
                            <a:srgbClr val="03306E"/>
                          </a:solidFill>
                          <a:latin typeface="Calibri"/>
                        </a:rPr>
                        <a:t>API</a:t>
                      </a:r>
                    </a:p>
                  </a:txBody>
                  <a:tcPr marL="91440" marR="91440" anchor="ctr">
                    <a:solidFill>
                      <a:srgbClr val="FFFFFF"/>
                    </a:solidFill>
                  </a:tcPr>
                </a:tc>
                <a:tc>
                  <a:txBody>
                    <a:bodyPr wrap="square"/>
                    <a:lstStyle/>
                    <a:p>
                      <a:r>
                        <a:rPr sz="1600" b="0">
                          <a:solidFill>
                            <a:srgbClr val="202122"/>
                          </a:solidFill>
                          <a:latin typeface="Calibri"/>
                        </a:rPr>
                        <a:t>Request types and methods (GET, POST...), endpoints, parsing responses, API keys</a:t>
                      </a:r>
                    </a:p>
                  </a:txBody>
                  <a:tcPr marL="91440" marR="91440" anchor="ctr">
                    <a:solidFill>
                      <a:srgbClr val="FFFFFF"/>
                    </a:solidFill>
                  </a:tcPr>
                </a:tc>
              </a:tr>
              <a:tr h="994410">
                <a:tc>
                  <a:txBody>
                    <a:bodyPr wrap="square"/>
                    <a:lstStyle/>
                    <a:p>
                      <a:r>
                        <a:rPr sz="1600" b="1">
                          <a:solidFill>
                            <a:srgbClr val="03306E"/>
                          </a:solidFill>
                          <a:latin typeface="Calibri"/>
                        </a:rPr>
                        <a:t>JDBC</a:t>
                      </a:r>
                    </a:p>
                  </a:txBody>
                  <a:tcPr marL="91440" marR="91440" anchor="ctr">
                    <a:solidFill>
                      <a:srgbClr val="EAF3FF"/>
                    </a:solidFill>
                  </a:tcPr>
                </a:tc>
                <a:tc>
                  <a:txBody>
                    <a:bodyPr wrap="square"/>
                    <a:lstStyle/>
                    <a:p>
                      <a:r>
                        <a:rPr sz="1600" b="0">
                          <a:solidFill>
                            <a:srgbClr val="202122"/>
                          </a:solidFill>
                          <a:latin typeface="Calibri"/>
                        </a:rPr>
                        <a:t>Core API, driver manager, connection, statement, prepared statement, result set, SQL</a:t>
                      </a:r>
                    </a:p>
                  </a:txBody>
                  <a:tcPr marL="91440" marR="91440" anchor="ctr">
                    <a:solidFill>
                      <a:srgbClr val="EAF3FF"/>
                    </a:solidFill>
                  </a:tcPr>
                </a:tc>
              </a:tr>
              <a:tr h="994410">
                <a:tc>
                  <a:txBody>
                    <a:bodyPr wrap="square"/>
                    <a:lstStyle/>
                    <a:p>
                      <a:r>
                        <a:rPr sz="1600" b="1">
                          <a:solidFill>
                            <a:srgbClr val="03306E"/>
                          </a:solidFill>
                          <a:latin typeface="Calibri"/>
                        </a:rPr>
                        <a:t>ODBC</a:t>
                      </a:r>
                    </a:p>
                  </a:txBody>
                  <a:tcPr marL="91440" marR="91440" anchor="ctr">
                    <a:solidFill>
                      <a:srgbClr val="FFFFFF"/>
                    </a:solidFill>
                  </a:tcPr>
                </a:tc>
                <a:tc>
                  <a:txBody>
                    <a:bodyPr wrap="square"/>
                    <a:lstStyle/>
                    <a:p>
                      <a:r>
                        <a:rPr sz="1600" b="0">
                          <a:solidFill>
                            <a:srgbClr val="202122"/>
                          </a:solidFill>
                          <a:latin typeface="Calibri"/>
                        </a:rPr>
                        <a:t>Application, driver manager, driver, data source, connection details and credentials</a:t>
                      </a:r>
                    </a:p>
                  </a:txBody>
                  <a:tcPr marL="91440" marR="91440" anchor="ctr">
                    <a:solidFill>
                      <a:srgbClr val="FFFFFF"/>
                    </a:solidFill>
                  </a:tcPr>
                </a:tc>
              </a:tr>
            </a:tbl>
          </a:graphicData>
        </a:graphic>
      </p:graphicFrame>
      <p:sp>
        <p:nvSpPr>
          <p:cNvPr id="7" name="TextBox 6"/>
          <p:cNvSpPr txBox="1"/>
          <p:nvPr/>
        </p:nvSpPr>
        <p:spPr>
          <a:xfrm>
            <a:off x="548640" y="5715000"/>
            <a:ext cx="11094415" cy="457200"/>
          </a:xfrm>
          <a:prstGeom prst="rect">
            <a:avLst/>
          </a:prstGeom>
          <a:noFill/>
        </p:spPr>
        <p:txBody>
          <a:bodyPr wrap="square" anchor="t" lIns="0" rIns="0" tIns="0" bIns="0"/>
          <a:lstStyle/>
          <a:p>
            <a:pPr algn="l"/>
            <a:r>
              <a:rPr sz="1300" b="0" i="1">
                <a:solidFill>
                  <a:srgbClr val="54595D"/>
                </a:solidFill>
                <a:latin typeface="Calibri"/>
              </a:rPr>
              <a:t>Choose the data source and connection method that suits the context, not just the one you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Connecting to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an API endpoint?</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 prepared statement protect against?</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format do most APIs return?</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Working with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Create</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Store new records.</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Read</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Extract and display data.</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Update</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Change existing records.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Delete</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Remove records safely.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Deployment methods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Deployment gets software to users.</a:t>
            </a:r>
          </a:p>
          <a:p>
            <a:pPr>
              <a:spcAft>
                <a:spcPts val="1320"/>
              </a:spcAft>
            </a:pPr>
            <a:r>
              <a:rPr sz="2200" b="0">
                <a:solidFill>
                  <a:srgbClr val="202122"/>
                </a:solidFill>
                <a:latin typeface="Calibri"/>
              </a:rPr>
              <a:t>Local installation puts it on one machine. Network or server installation deploys it across an organisation. Mobile platforms distribute through app stores. Web and cloud platforms make it available in a browser with easy updates.</a:t>
            </a:r>
          </a:p>
          <a:p>
            <a:pPr>
              <a:spcAft>
                <a:spcPts val="1320"/>
              </a:spcAft>
            </a:pPr>
            <a:r>
              <a:rPr sz="2200" b="0">
                <a:solidFill>
                  <a:srgbClr val="202122"/>
                </a:solidFill>
                <a:latin typeface="Calibri"/>
              </a:rPr>
              <a:t>Containerisation packages the app with everything it needs, so it runs identically anywhere. Container-scheduling platforms run and scale many containers automatically.</a:t>
            </a:r>
          </a:p>
          <a:p>
            <a:pPr>
              <a:spcAft>
                <a:spcPts val="1320"/>
              </a:spcAft>
            </a:pPr>
            <a:r>
              <a:rPr sz="2200" b="0">
                <a:solidFill>
                  <a:srgbClr val="202122"/>
                </a:solidFill>
                <a:latin typeface="Calibri"/>
              </a:rPr>
              <a:t>Choose based on the users, the platform and how often it will be updated.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web app deployed in containers on a cloud platform can scale from 10 to 10,000 users by adding containers automatically.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Deployment methods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3354125"/>
                <a:gridCol w="7740289"/>
              </a:tblGrid>
              <a:tr h="754380">
                <a:tc>
                  <a:txBody>
                    <a:bodyPr wrap="square"/>
                    <a:lstStyle/>
                    <a:p>
                      <a:r>
                        <a:rPr sz="1600" b="1">
                          <a:solidFill>
                            <a:srgbClr val="FFFFFF"/>
                          </a:solidFill>
                          <a:latin typeface="Calibri"/>
                        </a:rPr>
                        <a:t>Method</a:t>
                      </a:r>
                    </a:p>
                  </a:txBody>
                  <a:tcPr marL="91440" marR="91440" anchor="ctr">
                    <a:solidFill>
                      <a:srgbClr val="03306E"/>
                    </a:solidFill>
                  </a:tcPr>
                </a:tc>
                <a:tc>
                  <a:txBody>
                    <a:bodyPr wrap="square"/>
                    <a:lstStyle/>
                    <a:p>
                      <a:r>
                        <a:rPr sz="1600" b="1">
                          <a:solidFill>
                            <a:srgbClr val="FFFFFF"/>
                          </a:solidFill>
                          <a:latin typeface="Calibri"/>
                        </a:rPr>
                        <a:t>Suits</a:t>
                      </a:r>
                    </a:p>
                  </a:txBody>
                  <a:tcPr marL="91440" marR="91440" anchor="ctr">
                    <a:solidFill>
                      <a:srgbClr val="03306E"/>
                    </a:solidFill>
                  </a:tcPr>
                </a:tc>
              </a:tr>
              <a:tr h="754380">
                <a:tc>
                  <a:txBody>
                    <a:bodyPr wrap="square"/>
                    <a:lstStyle/>
                    <a:p>
                      <a:r>
                        <a:rPr sz="1600" b="1">
                          <a:solidFill>
                            <a:srgbClr val="03306E"/>
                          </a:solidFill>
                          <a:latin typeface="Calibri"/>
                        </a:rPr>
                        <a:t>Local installation</a:t>
                      </a:r>
                    </a:p>
                  </a:txBody>
                  <a:tcPr marL="91440" marR="91440" anchor="ctr">
                    <a:solidFill>
                      <a:srgbClr val="FFFFFF"/>
                    </a:solidFill>
                  </a:tcPr>
                </a:tc>
                <a:tc>
                  <a:txBody>
                    <a:bodyPr wrap="square"/>
                    <a:lstStyle/>
                    <a:p>
                      <a:r>
                        <a:rPr sz="1600" b="0">
                          <a:solidFill>
                            <a:srgbClr val="202122"/>
                          </a:solidFill>
                          <a:latin typeface="Calibri"/>
                        </a:rPr>
                        <a:t>Single users, offline tools</a:t>
                      </a:r>
                    </a:p>
                  </a:txBody>
                  <a:tcPr marL="91440" marR="91440" anchor="ctr">
                    <a:solidFill>
                      <a:srgbClr val="FFFFFF"/>
                    </a:solidFill>
                  </a:tcPr>
                </a:tc>
              </a:tr>
              <a:tr h="754380">
                <a:tc>
                  <a:txBody>
                    <a:bodyPr wrap="square"/>
                    <a:lstStyle/>
                    <a:p>
                      <a:r>
                        <a:rPr sz="1600" b="1">
                          <a:solidFill>
                            <a:srgbClr val="03306E"/>
                          </a:solidFill>
                          <a:latin typeface="Calibri"/>
                        </a:rPr>
                        <a:t>Network / server installation</a:t>
                      </a:r>
                    </a:p>
                  </a:txBody>
                  <a:tcPr marL="91440" marR="91440" anchor="ctr">
                    <a:solidFill>
                      <a:srgbClr val="EAF3FF"/>
                    </a:solidFill>
                  </a:tcPr>
                </a:tc>
                <a:tc>
                  <a:txBody>
                    <a:bodyPr wrap="square"/>
                    <a:lstStyle/>
                    <a:p>
                      <a:r>
                        <a:rPr sz="1600" b="0">
                          <a:solidFill>
                            <a:srgbClr val="202122"/>
                          </a:solidFill>
                          <a:latin typeface="Calibri"/>
                        </a:rPr>
                        <a:t>Organisations managing many PCs</a:t>
                      </a:r>
                    </a:p>
                  </a:txBody>
                  <a:tcPr marL="91440" marR="91440" anchor="ctr">
                    <a:solidFill>
                      <a:srgbClr val="EAF3FF"/>
                    </a:solidFill>
                  </a:tcPr>
                </a:tc>
              </a:tr>
              <a:tr h="754380">
                <a:tc>
                  <a:txBody>
                    <a:bodyPr wrap="square"/>
                    <a:lstStyle/>
                    <a:p>
                      <a:r>
                        <a:rPr sz="1600" b="1">
                          <a:solidFill>
                            <a:srgbClr val="03306E"/>
                          </a:solidFill>
                          <a:latin typeface="Calibri"/>
                        </a:rPr>
                        <a:t>Mobile platforms</a:t>
                      </a:r>
                    </a:p>
                  </a:txBody>
                  <a:tcPr marL="91440" marR="91440" anchor="ctr">
                    <a:solidFill>
                      <a:srgbClr val="FFFFFF"/>
                    </a:solidFill>
                  </a:tcPr>
                </a:tc>
                <a:tc>
                  <a:txBody>
                    <a:bodyPr wrap="square"/>
                    <a:lstStyle/>
                    <a:p>
                      <a:r>
                        <a:rPr sz="1600" b="0">
                          <a:solidFill>
                            <a:srgbClr val="202122"/>
                          </a:solidFill>
                          <a:latin typeface="Calibri"/>
                        </a:rPr>
                        <a:t>App store distribution</a:t>
                      </a:r>
                    </a:p>
                  </a:txBody>
                  <a:tcPr marL="91440" marR="91440" anchor="ctr">
                    <a:solidFill>
                      <a:srgbClr val="FFFFFF"/>
                    </a:solidFill>
                  </a:tcPr>
                </a:tc>
              </a:tr>
              <a:tr h="754380">
                <a:tc>
                  <a:txBody>
                    <a:bodyPr wrap="square"/>
                    <a:lstStyle/>
                    <a:p>
                      <a:r>
                        <a:rPr sz="1600" b="1">
                          <a:solidFill>
                            <a:srgbClr val="03306E"/>
                          </a:solidFill>
                          <a:latin typeface="Calibri"/>
                        </a:rPr>
                        <a:t>Web and cloud platforms</a:t>
                      </a:r>
                    </a:p>
                  </a:txBody>
                  <a:tcPr marL="91440" marR="91440" anchor="ctr">
                    <a:solidFill>
                      <a:srgbClr val="EAF3FF"/>
                    </a:solidFill>
                  </a:tcPr>
                </a:tc>
                <a:tc>
                  <a:txBody>
                    <a:bodyPr wrap="square"/>
                    <a:lstStyle/>
                    <a:p>
                      <a:r>
                        <a:rPr sz="1600" b="0">
                          <a:solidFill>
                            <a:srgbClr val="202122"/>
                          </a:solidFill>
                          <a:latin typeface="Calibri"/>
                        </a:rPr>
                        <a:t>Anyone with a browser; easy updates</a:t>
                      </a:r>
                    </a:p>
                  </a:txBody>
                  <a:tcPr marL="91440" marR="91440" anchor="ctr">
                    <a:solidFill>
                      <a:srgbClr val="EAF3FF"/>
                    </a:solidFill>
                  </a:tcPr>
                </a:tc>
              </a:tr>
              <a:tr h="754380">
                <a:tc>
                  <a:txBody>
                    <a:bodyPr wrap="square"/>
                    <a:lstStyle/>
                    <a:p>
                      <a:r>
                        <a:rPr sz="1600" b="1">
                          <a:solidFill>
                            <a:srgbClr val="03306E"/>
                          </a:solidFill>
                          <a:latin typeface="Calibri"/>
                        </a:rPr>
                        <a:t>Containers and scheduling platforms</a:t>
                      </a:r>
                    </a:p>
                  </a:txBody>
                  <a:tcPr marL="91440" marR="91440" anchor="ctr">
                    <a:solidFill>
                      <a:srgbClr val="FFFFFF"/>
                    </a:solidFill>
                  </a:tcPr>
                </a:tc>
                <a:tc>
                  <a:txBody>
                    <a:bodyPr wrap="square"/>
                    <a:lstStyle/>
                    <a:p>
                      <a:r>
                        <a:rPr sz="1600" b="0">
                          <a:solidFill>
                            <a:srgbClr val="202122"/>
                          </a:solidFill>
                          <a:latin typeface="Calibri"/>
                        </a:rPr>
                        <a:t>Consistent, scalable deployment</a:t>
                      </a:r>
                    </a:p>
                  </a:txBody>
                  <a:tcPr marL="91440" marR="9144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Deployment methods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Why use containers?</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How are mobile apps usually distributed?</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one advantage of web deployment.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is an API endpoint?</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What does a prepared statement protect against?</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What does ODBC stand for?</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Why use containers for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is an API endpoint?</a:t>
            </a:r>
          </a:p>
          <a:p>
            <a:r>
              <a:rPr sz="1800" b="1">
                <a:solidFill>
                  <a:srgbClr val="03306E"/>
                </a:solidFill>
                <a:latin typeface="Calibri"/>
              </a:rPr>
              <a:t>A specific URL where an API receives requests.</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What does a prepared statement protect against?</a:t>
            </a:r>
          </a:p>
          <a:p>
            <a:r>
              <a:rPr sz="1800" b="1">
                <a:solidFill>
                  <a:srgbClr val="03306E"/>
                </a:solidFill>
                <a:latin typeface="Calibri"/>
              </a:rPr>
              <a:t>SQL injection.</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What does ODBC stand for?</a:t>
            </a:r>
          </a:p>
          <a:p>
            <a:r>
              <a:rPr sz="1800" b="1">
                <a:solidFill>
                  <a:srgbClr val="03306E"/>
                </a:solidFill>
                <a:latin typeface="Calibri"/>
              </a:rPr>
              <a:t>Open Database Connectivity.</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Why use containers for deployment?</a:t>
            </a:r>
          </a:p>
          <a:p>
            <a:r>
              <a:rPr sz="1800" b="1">
                <a:solidFill>
                  <a:srgbClr val="03306E"/>
                </a:solidFill>
                <a:latin typeface="Calibri"/>
              </a:rPr>
              <a:t>The app runs the same way everywhere and scales easily.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Call a real API</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Connecting to Data and Deploying Software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508760"/>
            <a:ext cx="2011680" cy="457200"/>
          </a:xfrm>
          <a:prstGeom prst="roundRect">
            <a:avLst>
              <a:gd name="adj" fmla="val 50000"/>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 in Python</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Use the requests library to call a free public API chosen by your teacher.</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Parse the JSON response and display three values.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Handle a failed request with a clear message.</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Recommend a deployment method for your tool.</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Data parsed correctly</a:t>
            </a:r>
          </a:p>
          <a:p>
            <a:pPr marL="274320" indent="-274320">
              <a:spcAft>
                <a:spcPts val="810"/>
              </a:spcAft>
              <a:buClr>
                <a:srgbClr val="0645AD"/>
              </a:buClr>
              <a:buFont typeface="Arial"/>
              <a:buChar char="•"/>
            </a:pPr>
            <a:r>
              <a:rPr sz="1800" b="0">
                <a:solidFill>
                  <a:srgbClr val="202122"/>
                </a:solidFill>
                <a:latin typeface="Calibri"/>
              </a:rPr>
              <a:t>Errors handled</a:t>
            </a:r>
          </a:p>
          <a:p>
            <a:pPr marL="274320" indent="-274320">
              <a:spcAft>
                <a:spcPts val="810"/>
              </a:spcAft>
              <a:buClr>
                <a:srgbClr val="0645AD"/>
              </a:buClr>
              <a:buFont typeface="Arial"/>
              <a:buChar char="•"/>
            </a:pPr>
            <a:r>
              <a:rPr sz="1800" b="0">
                <a:solidFill>
                  <a:srgbClr val="202122"/>
                </a:solidFill>
                <a:latin typeface="Calibri"/>
              </a:rPr>
              <a:t>Deployment choice justified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OCCUPATIONAL SPECIALISM  ·  Specialism Content Area 6</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keep API keys secret?</a:t>
            </a:r>
          </a:p>
        </p:txBody>
      </p:sp>
      <p:sp>
        <p:nvSpPr>
          <p:cNvPr id="6" name="Oval 5"/>
          <p:cNvSpPr/>
          <p:nvPr/>
        </p:nvSpPr>
        <p:spPr>
          <a:xfrm>
            <a:off x="548640" y="26974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When would you choose a mobile deployment?</a:t>
            </a:r>
          </a:p>
        </p:txBody>
      </p:sp>
      <p:sp>
        <p:nvSpPr>
          <p:cNvPr id="8" name="Oval 7"/>
          <p:cNvSpPr/>
          <p:nvPr/>
        </p:nvSpPr>
        <p:spPr>
          <a:xfrm>
            <a:off x="548640" y="365760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does CRUD stand for?</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Implement a Solution Using at Least Two Appropriate Languages</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https://lana6478.github.io/T-level-Digital-Software-Development/#/02-occupational-specialism/06-implementation.md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to Data and Deploying Software</dc:title>
  <dc:subject>Digital Software Development T Level: Specialism Content Area 6</dc:subject>
  <dc:creator>Samuel O'Connell</dc:creator>
  <cp:keywords>T Level; Digital Software Development; lesson slides; 6.3, 6.4</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