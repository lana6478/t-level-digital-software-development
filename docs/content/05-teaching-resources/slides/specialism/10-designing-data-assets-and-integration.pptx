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E.g. file type, size, compression, quality, bandwidth.</a:t>
            </a:r>
          </a:p>
          <a:p>
            <a:r>
              <a:t>2. Large files load slowly on limited bandwidth.</a:t>
            </a:r>
          </a:p>
          <a:p>
            <a:r>
              <a:t>3. Licences, ownership and quality.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list of every field with its type and rules.</a:t>
            </a:r>
          </a:p>
          <a:p>
            <a:r>
              <a:t>2. Duplicated data.</a:t>
            </a:r>
          </a:p>
          <a:p>
            <a:r>
              <a:t>3. A field linking to the primary key of another 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E.g. the player's own input.</a:t>
            </a:r>
          </a:p>
          <a:p>
            <a:r>
              <a:t>2. Where your system ends and external systems begin.</a:t>
            </a:r>
          </a:p>
          <a:p>
            <a:r>
              <a:t>3. E.g. a sports-data feed or payment provider.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33C17A"/>
                </a:solidFill>
                <a:latin typeface="Calibri"/>
              </a:rPr>
              <a:t>OCCUPATIONAL SPECIALISM</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Designing Data, Assets and Integration</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Specialism Content Area 4</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4.3 (program, assets, platforms, databases, networks)</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Software Development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Apply program design conventions and CMS features.</a:t>
            </a:r>
          </a:p>
        </p:txBody>
      </p:sp>
      <p:sp>
        <p:nvSpPr>
          <p:cNvPr id="9" name="Oval 8"/>
          <p:cNvSpPr/>
          <p:nvPr/>
        </p:nvSpPr>
        <p:spPr>
          <a:xfrm>
            <a:off x="548640" y="327469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Select assets and use AI legally and ethically.</a:t>
            </a:r>
          </a:p>
        </p:txBody>
      </p:sp>
      <p:sp>
        <p:nvSpPr>
          <p:cNvPr id="11" name="Oval 10"/>
          <p:cNvSpPr/>
          <p:nvPr/>
        </p:nvSpPr>
        <p:spPr>
          <a:xfrm>
            <a:off x="548640" y="4314825"/>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Design a database using a data dictionary, ERD and normalisation.</a:t>
            </a:r>
          </a:p>
        </p:txBody>
      </p:sp>
      <p:sp>
        <p:nvSpPr>
          <p:cNvPr id="13" name="Oval 12"/>
          <p:cNvSpPr/>
          <p:nvPr/>
        </p:nvSpPr>
        <p:spPr>
          <a:xfrm>
            <a:off x="548640" y="5354954"/>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Plan target platforms and network integration points.</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In a multiplayer game, what must happen on your device and what must happen on the server?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Program design and CMS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Rounded Rectangle 5"/>
          <p:cNvSpPr/>
          <p:nvPr/>
        </p:nvSpPr>
        <p:spPr>
          <a:xfrm>
            <a:off x="548640" y="1600200"/>
            <a:ext cx="5410047"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Design conventions</a:t>
            </a:r>
          </a:p>
        </p:txBody>
      </p:sp>
      <p:sp>
        <p:nvSpPr>
          <p:cNvPr id="9" name="TextBox 8"/>
          <p:cNvSpPr txBox="1"/>
          <p:nvPr/>
        </p:nvSpPr>
        <p:spPr>
          <a:xfrm>
            <a:off x="777240" y="2468880"/>
            <a:ext cx="4952847" cy="3566160"/>
          </a:xfrm>
          <a:prstGeom prst="rect">
            <a:avLst/>
          </a:prstGeom>
          <a:noFill/>
        </p:spPr>
        <p:txBody>
          <a:bodyPr wrap="square" anchor="t" lIns="0" rIns="0" tIns="0" bIns="0"/>
          <a:lstStyle/>
          <a:p>
            <a:pPr algn="l"/>
            <a:r>
              <a:rPr sz="2000" b="0" i="0">
                <a:solidFill>
                  <a:srgbClr val="202122"/>
                </a:solidFill>
                <a:latin typeface="Calibri"/>
              </a:rPr>
              <a:t>Pre-defined code, BCS flowcharts, pseudocode, control structures, data types, validation, data structures.</a:t>
            </a:r>
          </a:p>
        </p:txBody>
      </p:sp>
      <p:sp>
        <p:nvSpPr>
          <p:cNvPr id="10" name="Rounded Rectangle 9"/>
          <p:cNvSpPr/>
          <p:nvPr/>
        </p:nvSpPr>
        <p:spPr>
          <a:xfrm>
            <a:off x="6233007" y="1600200"/>
            <a:ext cx="5410047"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CMS features</a:t>
            </a:r>
          </a:p>
        </p:txBody>
      </p:sp>
      <p:sp>
        <p:nvSpPr>
          <p:cNvPr id="13" name="TextBox 12"/>
          <p:cNvSpPr txBox="1"/>
          <p:nvPr/>
        </p:nvSpPr>
        <p:spPr>
          <a:xfrm>
            <a:off x="6461607" y="2468880"/>
            <a:ext cx="4952847" cy="3566160"/>
          </a:xfrm>
          <a:prstGeom prst="rect">
            <a:avLst/>
          </a:prstGeom>
          <a:noFill/>
        </p:spPr>
        <p:txBody>
          <a:bodyPr wrap="square" anchor="t" lIns="0" rIns="0" tIns="0" bIns="0"/>
          <a:lstStyle/>
          <a:p>
            <a:pPr algn="l"/>
            <a:r>
              <a:rPr sz="2000" b="0" i="0">
                <a:solidFill>
                  <a:srgbClr val="202122"/>
                </a:solidFill>
                <a:latin typeface="Calibri"/>
              </a:rPr>
              <a:t>SEO, page management, social media, analytics, workflow, publishing controls, security, versioning, APIs, multilingual.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Assets and AI</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Assets are the graphics, audio, video and code a solution uses.</a:t>
            </a:r>
          </a:p>
          <a:p>
            <a:pPr>
              <a:spcAft>
                <a:spcPts val="1320"/>
              </a:spcAft>
            </a:pPr>
            <a:r>
              <a:rPr sz="2200" b="0">
                <a:solidFill>
                  <a:srgbClr val="202122"/>
                </a:solidFill>
                <a:latin typeface="Calibri"/>
              </a:rPr>
              <a:t>When selecting them, consider the file type, file size and compression, how audio and video are streamed or encoded, metadata, the quality needed, the available bandwidth and storage, and the target platform. A 20 MB image might look great but will crawl on a mobile connection.</a:t>
            </a:r>
          </a:p>
          <a:p>
            <a:pPr>
              <a:spcAft>
                <a:spcPts val="1320"/>
              </a:spcAft>
            </a:pPr>
            <a:r>
              <a:rPr sz="2200" b="0">
                <a:solidFill>
                  <a:srgbClr val="202122"/>
                </a:solidFill>
                <a:latin typeface="Calibri"/>
              </a:rPr>
              <a:t>When using AI to generate content or assets, work legally and ethically: check licences and ownership, don't pass off others' work, and review the output.</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Swapping a 4 MB PNG hero image for a 300 KB compressed WebP makes a mobile page load in 1 second instead of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Assets and AI</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Rounded Rectangle 5"/>
          <p:cNvSpPr/>
          <p:nvPr/>
        </p:nvSpPr>
        <p:spPr>
          <a:xfrm>
            <a:off x="548640"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2509418" cy="512064"/>
          </a:xfrm>
          <a:prstGeom prst="rect">
            <a:avLst/>
          </a:prstGeom>
          <a:noFill/>
        </p:spPr>
        <p:txBody>
          <a:bodyPr wrap="square" anchor="ctr" lIns="0" rIns="0" tIns="0" bIns="0"/>
          <a:lstStyle/>
          <a:p>
            <a:pPr algn="l"/>
            <a:r>
              <a:rPr sz="1900" b="1" i="0">
                <a:solidFill>
                  <a:srgbClr val="03306E"/>
                </a:solidFill>
                <a:latin typeface="Calibri"/>
              </a:rPr>
              <a:t>Asset choices</a:t>
            </a:r>
          </a:p>
        </p:txBody>
      </p:sp>
      <p:sp>
        <p:nvSpPr>
          <p:cNvPr id="9" name="TextBox 8"/>
          <p:cNvSpPr txBox="1"/>
          <p:nvPr/>
        </p:nvSpPr>
        <p:spPr>
          <a:xfrm>
            <a:off x="777240" y="2468880"/>
            <a:ext cx="3058058" cy="3566160"/>
          </a:xfrm>
          <a:prstGeom prst="rect">
            <a:avLst/>
          </a:prstGeom>
          <a:noFill/>
        </p:spPr>
        <p:txBody>
          <a:bodyPr wrap="square" anchor="t" lIns="0" rIns="0" tIns="0" bIns="0"/>
          <a:lstStyle/>
          <a:p>
            <a:pPr algn="l"/>
            <a:r>
              <a:rPr sz="2000" b="0" i="0">
                <a:solidFill>
                  <a:srgbClr val="202122"/>
                </a:solidFill>
                <a:latin typeface="Calibri"/>
              </a:rPr>
              <a:t>File type, size, compression, streaming and encoding, metadata, quality.</a:t>
            </a:r>
          </a:p>
        </p:txBody>
      </p:sp>
      <p:sp>
        <p:nvSpPr>
          <p:cNvPr id="10" name="Rounded Rectangle 9"/>
          <p:cNvSpPr/>
          <p:nvPr/>
        </p:nvSpPr>
        <p:spPr>
          <a:xfrm>
            <a:off x="4338218"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4566818"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5161178" y="1801368"/>
            <a:ext cx="2509418" cy="512064"/>
          </a:xfrm>
          <a:prstGeom prst="rect">
            <a:avLst/>
          </a:prstGeom>
          <a:noFill/>
        </p:spPr>
        <p:txBody>
          <a:bodyPr wrap="square" anchor="ctr" lIns="0" rIns="0" tIns="0" bIns="0"/>
          <a:lstStyle/>
          <a:p>
            <a:pPr algn="l"/>
            <a:r>
              <a:rPr sz="1900" b="1" i="0">
                <a:solidFill>
                  <a:srgbClr val="03306E"/>
                </a:solidFill>
                <a:latin typeface="Calibri"/>
              </a:rPr>
              <a:t>Constraints</a:t>
            </a:r>
          </a:p>
        </p:txBody>
      </p:sp>
      <p:sp>
        <p:nvSpPr>
          <p:cNvPr id="13" name="TextBox 12"/>
          <p:cNvSpPr txBox="1"/>
          <p:nvPr/>
        </p:nvSpPr>
        <p:spPr>
          <a:xfrm>
            <a:off x="4566818" y="2468880"/>
            <a:ext cx="3058058" cy="3566160"/>
          </a:xfrm>
          <a:prstGeom prst="rect">
            <a:avLst/>
          </a:prstGeom>
          <a:noFill/>
        </p:spPr>
        <p:txBody>
          <a:bodyPr wrap="square" anchor="t" lIns="0" rIns="0" tIns="0" bIns="0"/>
          <a:lstStyle/>
          <a:p>
            <a:pPr algn="l"/>
            <a:r>
              <a:rPr sz="2000" b="0" i="0">
                <a:solidFill>
                  <a:srgbClr val="202122"/>
                </a:solidFill>
                <a:latin typeface="Calibri"/>
              </a:rPr>
              <a:t>Available bandwidth, storage and target platform.</a:t>
            </a:r>
          </a:p>
        </p:txBody>
      </p:sp>
      <p:sp>
        <p:nvSpPr>
          <p:cNvPr id="14" name="Rounded Rectangle 13"/>
          <p:cNvSpPr/>
          <p:nvPr/>
        </p:nvSpPr>
        <p:spPr>
          <a:xfrm>
            <a:off x="8127796" y="1600200"/>
            <a:ext cx="3515258" cy="457200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8356396"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8950756" y="1801368"/>
            <a:ext cx="2509418" cy="512064"/>
          </a:xfrm>
          <a:prstGeom prst="rect">
            <a:avLst/>
          </a:prstGeom>
          <a:noFill/>
        </p:spPr>
        <p:txBody>
          <a:bodyPr wrap="square" anchor="ctr" lIns="0" rIns="0" tIns="0" bIns="0"/>
          <a:lstStyle/>
          <a:p>
            <a:pPr algn="l"/>
            <a:r>
              <a:rPr sz="1900" b="1" i="0">
                <a:solidFill>
                  <a:srgbClr val="03306E"/>
                </a:solidFill>
                <a:latin typeface="Calibri"/>
              </a:rPr>
              <a:t>Using AI</a:t>
            </a:r>
          </a:p>
        </p:txBody>
      </p:sp>
      <p:sp>
        <p:nvSpPr>
          <p:cNvPr id="17" name="TextBox 16"/>
          <p:cNvSpPr txBox="1"/>
          <p:nvPr/>
        </p:nvSpPr>
        <p:spPr>
          <a:xfrm>
            <a:off x="8356396" y="2468880"/>
            <a:ext cx="3058058" cy="3566160"/>
          </a:xfrm>
          <a:prstGeom prst="rect">
            <a:avLst/>
          </a:prstGeom>
          <a:noFill/>
        </p:spPr>
        <p:txBody>
          <a:bodyPr wrap="square" anchor="t" lIns="0" rIns="0" tIns="0" bIns="0"/>
          <a:lstStyle/>
          <a:p>
            <a:pPr algn="l"/>
            <a:r>
              <a:rPr sz="2000" b="0" i="0">
                <a:solidFill>
                  <a:srgbClr val="202122"/>
                </a:solidFill>
                <a:latin typeface="Calibri"/>
              </a:rPr>
              <a:t>Check licences and ownership; work legally and ethically.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Assets and AI</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Name three factors when selecting an image asset.</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does asset size matter on mobile?</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should you check when using AI-generated assets?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Designing a database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Databases support user management, e-commerce (stock, orders, personalisation), diagnostics and performance analysis.</a:t>
            </a:r>
          </a:p>
          <a:p>
            <a:pPr>
              <a:spcAft>
                <a:spcPts val="1320"/>
              </a:spcAft>
            </a:pPr>
            <a:r>
              <a:rPr sz="2200" b="0">
                <a:solidFill>
                  <a:srgbClr val="202122"/>
                </a:solidFill>
                <a:latin typeface="Calibri"/>
              </a:rPr>
              <a:t>Design starts with a data dictionary listing every field, its data type, size and validation rules. An entity relationship diagram (ERD) shows the entities (such as Customer, Order, Product) and the relationships between them.</a:t>
            </a:r>
          </a:p>
          <a:p>
            <a:pPr>
              <a:spcAft>
                <a:spcPts val="1320"/>
              </a:spcAft>
            </a:pPr>
            <a:r>
              <a:rPr sz="2200" b="0">
                <a:solidFill>
                  <a:srgbClr val="202122"/>
                </a:solidFill>
                <a:latin typeface="Calibri"/>
              </a:rPr>
              <a:t>Normalisation to third normal form removes duplicated data by splitting it into linked tables using primary and foreign keys, so each fact is stored once.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Instead of storing a customer's address on every order, store it once in Customer and link each Order with a CustomerID foreign key.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Designing a database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Rectangle 5"/>
          <p:cNvSpPr/>
          <p:nvPr/>
        </p:nvSpPr>
        <p:spPr>
          <a:xfrm>
            <a:off x="1884006" y="2793492"/>
            <a:ext cx="8423681"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563966" y="249174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3268979"/>
            <a:ext cx="2670733" cy="731520"/>
          </a:xfrm>
          <a:prstGeom prst="rect">
            <a:avLst/>
          </a:prstGeom>
          <a:noFill/>
        </p:spPr>
        <p:txBody>
          <a:bodyPr wrap="square" anchor="t" lIns="0" rIns="0" tIns="0" bIns="0"/>
          <a:lstStyle/>
          <a:p>
            <a:pPr algn="ctr"/>
            <a:r>
              <a:rPr sz="1700" b="1" i="0">
                <a:solidFill>
                  <a:srgbClr val="03306E"/>
                </a:solidFill>
                <a:latin typeface="Calibri"/>
              </a:rPr>
              <a:t>Purpose</a:t>
            </a:r>
          </a:p>
        </p:txBody>
      </p:sp>
      <p:sp>
        <p:nvSpPr>
          <p:cNvPr id="9" name="Rounded Rectangle 8"/>
          <p:cNvSpPr/>
          <p:nvPr/>
        </p:nvSpPr>
        <p:spPr>
          <a:xfrm>
            <a:off x="548640"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183380"/>
            <a:ext cx="2396413" cy="960119"/>
          </a:xfrm>
          <a:prstGeom prst="rect">
            <a:avLst/>
          </a:prstGeom>
          <a:noFill/>
        </p:spPr>
        <p:txBody>
          <a:bodyPr wrap="square" anchor="t" lIns="0" rIns="0" tIns="0" bIns="0"/>
          <a:lstStyle/>
          <a:p>
            <a:pPr algn="l"/>
            <a:r>
              <a:rPr sz="1800" b="0" i="0">
                <a:solidFill>
                  <a:srgbClr val="202122"/>
                </a:solidFill>
                <a:latin typeface="Calibri"/>
              </a:rPr>
              <a:t>User management, e-commerce, diagnostics, performance.</a:t>
            </a:r>
          </a:p>
        </p:txBody>
      </p:sp>
      <p:sp>
        <p:nvSpPr>
          <p:cNvPr id="11" name="Oval 10"/>
          <p:cNvSpPr/>
          <p:nvPr/>
        </p:nvSpPr>
        <p:spPr>
          <a:xfrm>
            <a:off x="4371860" y="249174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3356533" y="3268979"/>
            <a:ext cx="2670733" cy="731520"/>
          </a:xfrm>
          <a:prstGeom prst="rect">
            <a:avLst/>
          </a:prstGeom>
          <a:noFill/>
        </p:spPr>
        <p:txBody>
          <a:bodyPr wrap="square" anchor="t" lIns="0" rIns="0" tIns="0" bIns="0"/>
          <a:lstStyle/>
          <a:p>
            <a:pPr algn="ctr"/>
            <a:r>
              <a:rPr sz="1700" b="1" i="0">
                <a:solidFill>
                  <a:srgbClr val="03306E"/>
                </a:solidFill>
                <a:latin typeface="Calibri"/>
              </a:rPr>
              <a:t>Data dictionary</a:t>
            </a:r>
          </a:p>
        </p:txBody>
      </p:sp>
      <p:sp>
        <p:nvSpPr>
          <p:cNvPr id="13" name="Rounded Rectangle 12"/>
          <p:cNvSpPr/>
          <p:nvPr/>
        </p:nvSpPr>
        <p:spPr>
          <a:xfrm>
            <a:off x="3356533"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93693" y="4183380"/>
            <a:ext cx="2396413" cy="960119"/>
          </a:xfrm>
          <a:prstGeom prst="rect">
            <a:avLst/>
          </a:prstGeom>
          <a:noFill/>
        </p:spPr>
        <p:txBody>
          <a:bodyPr wrap="square" anchor="t" lIns="0" rIns="0" tIns="0" bIns="0"/>
          <a:lstStyle/>
          <a:p>
            <a:pPr algn="l"/>
            <a:r>
              <a:rPr sz="1800" b="0" i="0">
                <a:solidFill>
                  <a:srgbClr val="202122"/>
                </a:solidFill>
                <a:latin typeface="Calibri"/>
              </a:rPr>
              <a:t>Every field, type and rule.</a:t>
            </a:r>
          </a:p>
        </p:txBody>
      </p:sp>
      <p:sp>
        <p:nvSpPr>
          <p:cNvPr id="15" name="Oval 14"/>
          <p:cNvSpPr/>
          <p:nvPr/>
        </p:nvSpPr>
        <p:spPr>
          <a:xfrm>
            <a:off x="7179754" y="249174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6164427" y="3268979"/>
            <a:ext cx="2670733" cy="731520"/>
          </a:xfrm>
          <a:prstGeom prst="rect">
            <a:avLst/>
          </a:prstGeom>
          <a:noFill/>
        </p:spPr>
        <p:txBody>
          <a:bodyPr wrap="square" anchor="t" lIns="0" rIns="0" tIns="0" bIns="0"/>
          <a:lstStyle/>
          <a:p>
            <a:pPr algn="ctr"/>
            <a:r>
              <a:rPr sz="1700" b="1" i="0">
                <a:solidFill>
                  <a:srgbClr val="03306E"/>
                </a:solidFill>
                <a:latin typeface="Calibri"/>
              </a:rPr>
              <a:t>ERD</a:t>
            </a:r>
          </a:p>
        </p:txBody>
      </p:sp>
      <p:sp>
        <p:nvSpPr>
          <p:cNvPr id="17" name="Rounded Rectangle 16"/>
          <p:cNvSpPr/>
          <p:nvPr/>
        </p:nvSpPr>
        <p:spPr>
          <a:xfrm>
            <a:off x="6164427"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01587" y="4183380"/>
            <a:ext cx="2396413" cy="960119"/>
          </a:xfrm>
          <a:prstGeom prst="rect">
            <a:avLst/>
          </a:prstGeom>
          <a:noFill/>
        </p:spPr>
        <p:txBody>
          <a:bodyPr wrap="square" anchor="t" lIns="0" rIns="0" tIns="0" bIns="0"/>
          <a:lstStyle/>
          <a:p>
            <a:pPr algn="l"/>
            <a:r>
              <a:rPr sz="1800" b="0" i="0">
                <a:solidFill>
                  <a:srgbClr val="202122"/>
                </a:solidFill>
                <a:latin typeface="Calibri"/>
              </a:rPr>
              <a:t>Entities and relationships.</a:t>
            </a:r>
          </a:p>
        </p:txBody>
      </p:sp>
      <p:sp>
        <p:nvSpPr>
          <p:cNvPr id="19" name="Oval 18"/>
          <p:cNvSpPr/>
          <p:nvPr/>
        </p:nvSpPr>
        <p:spPr>
          <a:xfrm>
            <a:off x="9987648" y="2491740"/>
            <a:ext cx="640080" cy="6400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8972321" y="3268979"/>
            <a:ext cx="2670733" cy="731520"/>
          </a:xfrm>
          <a:prstGeom prst="rect">
            <a:avLst/>
          </a:prstGeom>
          <a:noFill/>
        </p:spPr>
        <p:txBody>
          <a:bodyPr wrap="square" anchor="t" lIns="0" rIns="0" tIns="0" bIns="0"/>
          <a:lstStyle/>
          <a:p>
            <a:pPr algn="ctr"/>
            <a:r>
              <a:rPr sz="1700" b="1" i="0">
                <a:solidFill>
                  <a:srgbClr val="03306E"/>
                </a:solidFill>
                <a:latin typeface="Calibri"/>
              </a:rPr>
              <a:t>Normalise</a:t>
            </a:r>
          </a:p>
        </p:txBody>
      </p:sp>
      <p:sp>
        <p:nvSpPr>
          <p:cNvPr id="21" name="Rounded Rectangle 20"/>
          <p:cNvSpPr/>
          <p:nvPr/>
        </p:nvSpPr>
        <p:spPr>
          <a:xfrm>
            <a:off x="8972321" y="4046220"/>
            <a:ext cx="2670733" cy="1234439"/>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09481" y="4183380"/>
            <a:ext cx="2396413" cy="960119"/>
          </a:xfrm>
          <a:prstGeom prst="rect">
            <a:avLst/>
          </a:prstGeom>
          <a:noFill/>
        </p:spPr>
        <p:txBody>
          <a:bodyPr wrap="square" anchor="t" lIns="0" rIns="0" tIns="0" bIns="0"/>
          <a:lstStyle/>
          <a:p>
            <a:pPr algn="l"/>
            <a:r>
              <a:rPr sz="1800" b="0" i="0">
                <a:solidFill>
                  <a:srgbClr val="202122"/>
                </a:solidFill>
                <a:latin typeface="Calibri"/>
              </a:rPr>
              <a:t>To third normal form.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Designing a database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data dictionary?</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does normalisation remove?</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a foreign key?</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Platforms and integration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1">
                <a:solidFill>
                  <a:srgbClr val="202122"/>
                </a:solidFill>
                <a:latin typeface="Calibri"/>
              </a:rPr>
              <a:t>Target platforms shape design:</a:t>
            </a:r>
            <a:r>
              <a:rPr sz="2200" b="0">
                <a:solidFill>
                  <a:srgbClr val="202122"/>
                </a:solidFill>
                <a:latin typeface="Calibri"/>
              </a:rPr>
              <a:t> the operating system, file system, physical or virtual servers, the language stack, and whether it's a mobile or web app.</a:t>
            </a:r>
          </a:p>
          <a:p>
            <a:pPr>
              <a:spcAft>
                <a:spcPts val="1320"/>
              </a:spcAft>
            </a:pPr>
            <a:r>
              <a:rPr sz="2200" b="0">
                <a:solidFill>
                  <a:srgbClr val="202122"/>
                </a:solidFill>
                <a:latin typeface="Calibri"/>
              </a:rPr>
              <a:t>Network integration asks which data is processed locally (such as a player's input in a game) and which remotely (such as all players' positions in a multiplayer game), how data moves between them (such as remote system calls), how the systems connect, where the system's boundaries are, and which external systems to integrate with.</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fantasy football app processes team selection on the phone, stores teams on its server, and pulls live scores from an external sports-data feed.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Platforms and integration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Target platforms</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OS, file system, physical or virtual servers, language stack, mobile or web.</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Local or remote</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What runs on the device, what runs on the server.</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Connections</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How data moves, e.g. remote system calls; system boundaries.</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External systems</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Third-party feeds such as sports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Platforms and integration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Oval 5"/>
          <p:cNvSpPr/>
          <p:nvPr/>
        </p:nvSpPr>
        <p:spPr>
          <a:xfrm>
            <a:off x="548640" y="169164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processed locally in a multiplayer game?</a:t>
            </a:r>
          </a:p>
        </p:txBody>
      </p:sp>
      <p:sp>
        <p:nvSpPr>
          <p:cNvPr id="8" name="Oval 7"/>
          <p:cNvSpPr/>
          <p:nvPr/>
        </p:nvSpPr>
        <p:spPr>
          <a:xfrm>
            <a:off x="548640" y="31089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a system boundary?</a:t>
            </a:r>
          </a:p>
        </p:txBody>
      </p:sp>
      <p:sp>
        <p:nvSpPr>
          <p:cNvPr id="10" name="Oval 9"/>
          <p:cNvSpPr/>
          <p:nvPr/>
        </p:nvSpPr>
        <p:spPr>
          <a:xfrm>
            <a:off x="548640" y="45262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an example of an external system to integrate with.</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What is a data dictionary?</a:t>
            </a:r>
          </a:p>
        </p:txBody>
      </p:sp>
      <p:sp>
        <p:nvSpPr>
          <p:cNvPr id="8" name="Oval 7"/>
          <p:cNvSpPr/>
          <p:nvPr/>
        </p:nvSpPr>
        <p:spPr>
          <a:xfrm>
            <a:off x="548640" y="2814066"/>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What does normalisation reduce?</a:t>
            </a:r>
          </a:p>
        </p:txBody>
      </p:sp>
      <p:sp>
        <p:nvSpPr>
          <p:cNvPr id="10" name="Oval 9"/>
          <p:cNvSpPr/>
          <p:nvPr/>
        </p:nvSpPr>
        <p:spPr>
          <a:xfrm>
            <a:off x="548640" y="4009644"/>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Give one factor when selecting a video asset.</a:t>
            </a:r>
          </a:p>
        </p:txBody>
      </p:sp>
      <p:sp>
        <p:nvSpPr>
          <p:cNvPr id="12" name="Oval 11"/>
          <p:cNvSpPr/>
          <p:nvPr/>
        </p:nvSpPr>
        <p:spPr>
          <a:xfrm>
            <a:off x="548640" y="5205221"/>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What is a system boundary?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What is a data dictionary?</a:t>
            </a:r>
          </a:p>
          <a:p>
            <a:r>
              <a:rPr sz="1800" b="1">
                <a:solidFill>
                  <a:srgbClr val="03306E"/>
                </a:solidFill>
                <a:latin typeface="Calibri"/>
              </a:rPr>
              <a:t>A document describing every field, its type and rules.</a:t>
            </a:r>
          </a:p>
        </p:txBody>
      </p:sp>
      <p:sp>
        <p:nvSpPr>
          <p:cNvPr id="8" name="Oval 7"/>
          <p:cNvSpPr/>
          <p:nvPr/>
        </p:nvSpPr>
        <p:spPr>
          <a:xfrm>
            <a:off x="548640" y="2814066"/>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What does normalisation reduce?</a:t>
            </a:r>
          </a:p>
          <a:p>
            <a:r>
              <a:rPr sz="1800" b="1">
                <a:solidFill>
                  <a:srgbClr val="03306E"/>
                </a:solidFill>
                <a:latin typeface="Calibri"/>
              </a:rPr>
              <a:t>Data redundancy (duplication).</a:t>
            </a:r>
          </a:p>
        </p:txBody>
      </p:sp>
      <p:sp>
        <p:nvSpPr>
          <p:cNvPr id="10" name="Oval 9"/>
          <p:cNvSpPr/>
          <p:nvPr/>
        </p:nvSpPr>
        <p:spPr>
          <a:xfrm>
            <a:off x="548640" y="4009644"/>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Give one factor when selecting a video asset.</a:t>
            </a:r>
          </a:p>
          <a:p>
            <a:r>
              <a:rPr sz="1800" b="1">
                <a:solidFill>
                  <a:srgbClr val="03306E"/>
                </a:solidFill>
                <a:latin typeface="Calibri"/>
              </a:rPr>
              <a:t>E.g. file size, compression, bandwidth, quality.</a:t>
            </a:r>
          </a:p>
        </p:txBody>
      </p:sp>
      <p:sp>
        <p:nvSpPr>
          <p:cNvPr id="12" name="Oval 11"/>
          <p:cNvSpPr/>
          <p:nvPr/>
        </p:nvSpPr>
        <p:spPr>
          <a:xfrm>
            <a:off x="548640" y="5205221"/>
            <a:ext cx="411480" cy="41148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What is a system boundary?</a:t>
            </a:r>
          </a:p>
          <a:p>
            <a:r>
              <a:rPr sz="1800" b="1">
                <a:solidFill>
                  <a:srgbClr val="03306E"/>
                </a:solidFill>
                <a:latin typeface="Calibri"/>
              </a:rPr>
              <a:t>Where your system ends and external systems begin.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Design a shop database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Software Development T Level  ·  Designing Data, Assets and Integration</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35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A small online shop sells products to customers who place orders.</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Write a data dictionary for three tables.</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Draw the ERD.</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Check it is in third normal form and explain why.</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Primary and foreign keys shown</a:t>
            </a:r>
          </a:p>
          <a:p>
            <a:pPr marL="274320" indent="-274320">
              <a:spcAft>
                <a:spcPts val="810"/>
              </a:spcAft>
              <a:buClr>
                <a:srgbClr val="0645AD"/>
              </a:buClr>
              <a:buFont typeface="Arial"/>
              <a:buChar char="•"/>
            </a:pPr>
            <a:r>
              <a:rPr sz="1800" b="0">
                <a:solidFill>
                  <a:srgbClr val="202122"/>
                </a:solidFill>
                <a:latin typeface="Calibri"/>
              </a:rPr>
              <a:t>Relationships correct</a:t>
            </a:r>
          </a:p>
          <a:p>
            <a:pPr marL="274320" indent="-274320">
              <a:spcAft>
                <a:spcPts val="810"/>
              </a:spcAft>
              <a:buClr>
                <a:srgbClr val="0645AD"/>
              </a:buClr>
              <a:buFont typeface="Arial"/>
              <a:buChar char="•"/>
            </a:pPr>
            <a:r>
              <a:rPr sz="1800" b="0">
                <a:solidFill>
                  <a:srgbClr val="202122"/>
                </a:solidFill>
                <a:latin typeface="Calibri"/>
              </a:rPr>
              <a:t>No repeated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OCCUPATIONAL SPECIALISM  ·  Specialism Content Area 4</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process some data locally?</a:t>
            </a:r>
          </a:p>
        </p:txBody>
      </p:sp>
      <p:sp>
        <p:nvSpPr>
          <p:cNvPr id="6" name="Oval 5"/>
          <p:cNvSpPr/>
          <p:nvPr/>
        </p:nvSpPr>
        <p:spPr>
          <a:xfrm>
            <a:off x="548640" y="269748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is a foreign key?</a:t>
            </a:r>
          </a:p>
        </p:txBody>
      </p:sp>
      <p:sp>
        <p:nvSpPr>
          <p:cNvPr id="8" name="Oval 7"/>
          <p:cNvSpPr/>
          <p:nvPr/>
        </p:nvSpPr>
        <p:spPr>
          <a:xfrm>
            <a:off x="548640" y="3657600"/>
            <a:ext cx="502920" cy="502920"/>
          </a:xfrm>
          <a:prstGeom prst="ellipse">
            <a:avLst/>
          </a:prstGeom>
          <a:solidFill>
            <a:srgbClr val="33C1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Name one CMS feature and why it matters.</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Design</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https://lana6478.github.io/T-level-Digital-Software-Development/#/02-occupational-specialism/04-design.md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Data, Assets and Integration</dc:title>
  <dc:subject>Digital Software Development T Level: Specialism Content Area 4</dc:subject>
  <dc:creator>Samuel O'Connell</dc:creator>
  <cp:keywords>T Level; Digital Software Development; lesson slides; 4.3 (program, assets, platforms, databases, networks)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