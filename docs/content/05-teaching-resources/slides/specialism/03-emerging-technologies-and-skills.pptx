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AI that interprets images and video.</a:t>
            </a:r>
          </a:p>
          <a:p>
            <a:r>
              <a:t>2. Systems that monitor and control physical equipment.</a:t>
            </a:r>
          </a:p>
          <a:p>
            <a:r>
              <a:t>3. Faster mobile connections allow richer real-time features.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Identify the skills needed and check you have them.</a:t>
            </a:r>
          </a:p>
          <a:p>
            <a:r>
              <a:t>2. Any three: coaching, on-the-job learning, self-study, forums, workshops.</a:t>
            </a:r>
          </a:p>
          <a:p>
            <a:r>
              <a:t>3. Technologies change constantly.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33C17A"/>
                </a:solidFill>
                <a:latin typeface="Calibri"/>
              </a:rPr>
              <a:t>OCCUPATIONAL SPECIALISM</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Emerging Technologies and Developing Your Skills</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Specialism Content Area 1</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1.5, 1.6</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Software Development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Technologies and Developing Your Skills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4028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14400"/>
          </a:xfrm>
          <a:prstGeom prst="rect">
            <a:avLst/>
          </a:prstGeom>
          <a:noFill/>
        </p:spPr>
        <p:txBody>
          <a:bodyPr wrap="square" anchor="ctr" lIns="0" rIns="0" tIns="0" bIns="0"/>
          <a:lstStyle/>
          <a:p>
            <a:pPr algn="l"/>
            <a:r>
              <a:rPr sz="2000" b="0" i="0">
                <a:solidFill>
                  <a:srgbClr val="202122"/>
                </a:solidFill>
                <a:latin typeface="Calibri"/>
              </a:rPr>
              <a:t>Describe emerging technologies affecting software development.</a:t>
            </a:r>
          </a:p>
        </p:txBody>
      </p:sp>
      <p:sp>
        <p:nvSpPr>
          <p:cNvPr id="9" name="Oval 8"/>
          <p:cNvSpPr/>
          <p:nvPr/>
        </p:nvSpPr>
        <p:spPr>
          <a:xfrm>
            <a:off x="548640" y="329184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63240"/>
            <a:ext cx="6035040" cy="914400"/>
          </a:xfrm>
          <a:prstGeom prst="rect">
            <a:avLst/>
          </a:prstGeom>
          <a:noFill/>
        </p:spPr>
        <p:txBody>
          <a:bodyPr wrap="square" anchor="ctr" lIns="0" rIns="0" tIns="0" bIns="0"/>
          <a:lstStyle/>
          <a:p>
            <a:pPr algn="l"/>
            <a:r>
              <a:rPr sz="2000" b="0" i="0">
                <a:solidFill>
                  <a:srgbClr val="202122"/>
                </a:solidFill>
                <a:latin typeface="Calibri"/>
              </a:rPr>
              <a:t>Identify your own training needs for a project.</a:t>
            </a:r>
          </a:p>
        </p:txBody>
      </p:sp>
      <p:sp>
        <p:nvSpPr>
          <p:cNvPr id="11" name="Oval 10"/>
          <p:cNvSpPr/>
          <p:nvPr/>
        </p:nvSpPr>
        <p:spPr>
          <a:xfrm>
            <a:off x="548640" y="43434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114800"/>
            <a:ext cx="6035040" cy="914400"/>
          </a:xfrm>
          <a:prstGeom prst="rect">
            <a:avLst/>
          </a:prstGeom>
          <a:noFill/>
        </p:spPr>
        <p:txBody>
          <a:bodyPr wrap="square" anchor="ctr" lIns="0" rIns="0" tIns="0" bIns="0"/>
          <a:lstStyle/>
          <a:p>
            <a:pPr algn="l"/>
            <a:r>
              <a:rPr sz="2000" b="0" i="0">
                <a:solidFill>
                  <a:srgbClr val="202122"/>
                </a:solidFill>
                <a:latin typeface="Calibri"/>
              </a:rPr>
              <a:t>Choose ways to close a skills gap.</a:t>
            </a:r>
          </a:p>
        </p:txBody>
      </p:sp>
      <p:sp>
        <p:nvSpPr>
          <p:cNvPr id="13" name="Rounded Rectangle 12"/>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5" name="TextBox 14"/>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Name a technology that did not exist when you started secondary school. How would you learn to build software for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Emerging technologies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Technologies and Developing Your Skills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Developers increasingly build for new technologies.</a:t>
            </a:r>
          </a:p>
          <a:p>
            <a:pPr>
              <a:spcAft>
                <a:spcPts val="1320"/>
              </a:spcAft>
            </a:pPr>
            <a:r>
              <a:rPr sz="2200" b="0">
                <a:solidFill>
                  <a:srgbClr val="202122"/>
                </a:solidFill>
                <a:latin typeface="Calibri"/>
              </a:rPr>
              <a:t>AI and virtual intelligence include conversational and generative AI, machine learning, object recognition and computer vision. Operational technology (OT) and the Internet of Things (IoT) connect physical equipment to software. Biometrics identify people by fingerprints or faces. Robotics and automation replace manual tasks. Cloud platforms, data lakes and data warehouses store and process data at scale. Drones and 3D printing are controlled by software, and 5G networks make fast mobile connections widespread.</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warehouse app uses computer vision to read labels, IoT sensors to track stock, and cloud services to store the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Emerging technologies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Technologies and Developing Your Skills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AI and VI</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1800" b="0" i="0">
                <a:solidFill>
                  <a:srgbClr val="202122"/>
                </a:solidFill>
                <a:latin typeface="Calibri"/>
              </a:rPr>
              <a:t>Generative and conversational AI, machine learning, object recognition, computer vision.</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OT and IoT</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Operational technology and connected devices.</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600" b="1" i="0">
                <a:solidFill>
                  <a:srgbClr val="03306E"/>
                </a:solidFill>
                <a:latin typeface="Calibri"/>
              </a:rPr>
              <a:t>Biometrics and robotics</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Identity by body features; automation.</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Cloud and data</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2000" b="0" i="0">
                <a:solidFill>
                  <a:srgbClr val="202122"/>
                </a:solidFill>
                <a:latin typeface="Calibri"/>
              </a:rPr>
              <a:t>Cloud platforms, data lakes and data warehouses.</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600" b="1" i="0">
                <a:solidFill>
                  <a:srgbClr val="03306E"/>
                </a:solidFill>
                <a:latin typeface="Calibri"/>
              </a:rPr>
              <a:t>Drones and 3D printing</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New physical products controlled by software.</a:t>
            </a:r>
          </a:p>
        </p:txBody>
      </p:sp>
      <p:sp>
        <p:nvSpPr>
          <p:cNvPr id="26" name="Rounded Rectangle 25"/>
          <p:cNvSpPr/>
          <p:nvPr/>
        </p:nvSpPr>
        <p:spPr>
          <a:xfrm>
            <a:off x="8127796"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356396" y="425196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6</a:t>
            </a:r>
          </a:p>
        </p:txBody>
      </p:sp>
      <p:sp>
        <p:nvSpPr>
          <p:cNvPr id="28" name="TextBox 27"/>
          <p:cNvSpPr txBox="1"/>
          <p:nvPr/>
        </p:nvSpPr>
        <p:spPr>
          <a:xfrm>
            <a:off x="8950756" y="4224528"/>
            <a:ext cx="2509418" cy="512064"/>
          </a:xfrm>
          <a:prstGeom prst="rect">
            <a:avLst/>
          </a:prstGeom>
          <a:noFill/>
        </p:spPr>
        <p:txBody>
          <a:bodyPr wrap="square" anchor="ctr" lIns="0" rIns="0" tIns="0" bIns="0"/>
          <a:lstStyle/>
          <a:p>
            <a:pPr algn="l"/>
            <a:r>
              <a:rPr sz="1900" b="1" i="0">
                <a:solidFill>
                  <a:srgbClr val="03306E"/>
                </a:solidFill>
                <a:latin typeface="Calibri"/>
              </a:rPr>
              <a:t>Networks</a:t>
            </a:r>
          </a:p>
        </p:txBody>
      </p:sp>
      <p:sp>
        <p:nvSpPr>
          <p:cNvPr id="29" name="TextBox 28"/>
          <p:cNvSpPr txBox="1"/>
          <p:nvPr/>
        </p:nvSpPr>
        <p:spPr>
          <a:xfrm>
            <a:off x="8356396" y="4892040"/>
            <a:ext cx="3058058" cy="1143000"/>
          </a:xfrm>
          <a:prstGeom prst="rect">
            <a:avLst/>
          </a:prstGeom>
          <a:noFill/>
        </p:spPr>
        <p:txBody>
          <a:bodyPr wrap="square" anchor="t" lIns="0" rIns="0" tIns="0" bIns="0"/>
          <a:lstStyle/>
          <a:p>
            <a:pPr algn="l"/>
            <a:r>
              <a:rPr sz="2000" b="0" i="0">
                <a:solidFill>
                  <a:srgbClr val="202122"/>
                </a:solidFill>
                <a:latin typeface="Calibri"/>
              </a:rPr>
              <a:t>5G and wider broadband.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Emerging technologies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Technologies and Developing Your Skills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computer vision?</a:t>
            </a:r>
          </a:p>
        </p:txBody>
      </p:sp>
      <p:sp>
        <p:nvSpPr>
          <p:cNvPr id="8" name="Oval 7"/>
          <p:cNvSpPr/>
          <p:nvPr/>
        </p:nvSpPr>
        <p:spPr>
          <a:xfrm>
            <a:off x="548640" y="31089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operational technology?</a:t>
            </a:r>
          </a:p>
        </p:txBody>
      </p:sp>
      <p:sp>
        <p:nvSpPr>
          <p:cNvPr id="10" name="Oval 9"/>
          <p:cNvSpPr/>
          <p:nvPr/>
        </p:nvSpPr>
        <p:spPr>
          <a:xfrm>
            <a:off x="548640" y="45262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How does 5G affect app design?</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Identifying and addressing training needs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Technologies and Developing Your Skills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No developer knows everything, so a key skill is spotting what you don't know.</a:t>
            </a:r>
          </a:p>
          <a:p>
            <a:pPr>
              <a:spcAft>
                <a:spcPts val="1320"/>
              </a:spcAft>
            </a:pPr>
            <a:r>
              <a:rPr sz="2200" b="0">
                <a:solidFill>
                  <a:srgbClr val="202122"/>
                </a:solidFill>
                <a:latin typeface="Calibri"/>
              </a:rPr>
              <a:t>First identify what knowledge and skills a project needs. Then judge honestly whether you can currently do the work. If there's a gap, close it through coaching from a professional or peer, learning on the job, self-study, professional online forums, or online workshops.</a:t>
            </a:r>
          </a:p>
          <a:p>
            <a:pPr>
              <a:spcAft>
                <a:spcPts val="1320"/>
              </a:spcAft>
            </a:pPr>
            <a:r>
              <a:rPr sz="2200" b="0">
                <a:solidFill>
                  <a:srgbClr val="202122"/>
                </a:solidFill>
                <a:latin typeface="Calibri"/>
              </a:rPr>
              <a:t>Keeping your skills current is essential because languages, frameworks and tools change constantly.</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developer asked to add payments to an app has never used a payment API. They work through the provider's tutorial, ask a colleague to review their code, then build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Identifying and addressing training needs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Technologies and Developing Your Skills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Rectangle 5"/>
          <p:cNvSpPr/>
          <p:nvPr/>
        </p:nvSpPr>
        <p:spPr>
          <a:xfrm>
            <a:off x="1884006" y="2656332"/>
            <a:ext cx="8423681"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563966" y="235458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1</a:t>
            </a:r>
          </a:p>
        </p:txBody>
      </p:sp>
      <p:sp>
        <p:nvSpPr>
          <p:cNvPr id="8" name="TextBox 7"/>
          <p:cNvSpPr txBox="1"/>
          <p:nvPr/>
        </p:nvSpPr>
        <p:spPr>
          <a:xfrm>
            <a:off x="548640" y="3131820"/>
            <a:ext cx="2670733" cy="731520"/>
          </a:xfrm>
          <a:prstGeom prst="rect">
            <a:avLst/>
          </a:prstGeom>
          <a:noFill/>
        </p:spPr>
        <p:txBody>
          <a:bodyPr wrap="square" anchor="t" lIns="0" rIns="0" tIns="0" bIns="0"/>
          <a:lstStyle/>
          <a:p>
            <a:pPr algn="ctr"/>
            <a:r>
              <a:rPr sz="1700" b="1" i="0">
                <a:solidFill>
                  <a:srgbClr val="03306E"/>
                </a:solidFill>
                <a:latin typeface="Calibri"/>
              </a:rPr>
              <a:t>Identify</a:t>
            </a:r>
          </a:p>
        </p:txBody>
      </p:sp>
      <p:sp>
        <p:nvSpPr>
          <p:cNvPr id="9" name="Rounded Rectangle 8"/>
          <p:cNvSpPr/>
          <p:nvPr/>
        </p:nvSpPr>
        <p:spPr>
          <a:xfrm>
            <a:off x="548640" y="3909060"/>
            <a:ext cx="2670733" cy="15087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046220"/>
            <a:ext cx="2396413" cy="1234439"/>
          </a:xfrm>
          <a:prstGeom prst="rect">
            <a:avLst/>
          </a:prstGeom>
          <a:noFill/>
        </p:spPr>
        <p:txBody>
          <a:bodyPr wrap="square" anchor="t" lIns="0" rIns="0" tIns="0" bIns="0"/>
          <a:lstStyle/>
          <a:p>
            <a:pPr algn="l"/>
            <a:r>
              <a:rPr sz="1800" b="0" i="0">
                <a:solidFill>
                  <a:srgbClr val="202122"/>
                </a:solidFill>
                <a:latin typeface="Calibri"/>
              </a:rPr>
              <a:t>What knowledge and skills does the project need?</a:t>
            </a:r>
          </a:p>
        </p:txBody>
      </p:sp>
      <p:sp>
        <p:nvSpPr>
          <p:cNvPr id="11" name="Oval 10"/>
          <p:cNvSpPr/>
          <p:nvPr/>
        </p:nvSpPr>
        <p:spPr>
          <a:xfrm>
            <a:off x="4371860" y="235458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2</a:t>
            </a:r>
          </a:p>
        </p:txBody>
      </p:sp>
      <p:sp>
        <p:nvSpPr>
          <p:cNvPr id="12" name="TextBox 11"/>
          <p:cNvSpPr txBox="1"/>
          <p:nvPr/>
        </p:nvSpPr>
        <p:spPr>
          <a:xfrm>
            <a:off x="3356533" y="3131820"/>
            <a:ext cx="2670733" cy="731520"/>
          </a:xfrm>
          <a:prstGeom prst="rect">
            <a:avLst/>
          </a:prstGeom>
          <a:noFill/>
        </p:spPr>
        <p:txBody>
          <a:bodyPr wrap="square" anchor="t" lIns="0" rIns="0" tIns="0" bIns="0"/>
          <a:lstStyle/>
          <a:p>
            <a:pPr algn="ctr"/>
            <a:r>
              <a:rPr sz="1700" b="1" i="0">
                <a:solidFill>
                  <a:srgbClr val="03306E"/>
                </a:solidFill>
                <a:latin typeface="Calibri"/>
              </a:rPr>
              <a:t>Assess</a:t>
            </a:r>
          </a:p>
        </p:txBody>
      </p:sp>
      <p:sp>
        <p:nvSpPr>
          <p:cNvPr id="13" name="Rounded Rectangle 12"/>
          <p:cNvSpPr/>
          <p:nvPr/>
        </p:nvSpPr>
        <p:spPr>
          <a:xfrm>
            <a:off x="3356533" y="3909060"/>
            <a:ext cx="2670733" cy="15087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493693" y="4046220"/>
            <a:ext cx="2396413" cy="1234439"/>
          </a:xfrm>
          <a:prstGeom prst="rect">
            <a:avLst/>
          </a:prstGeom>
          <a:noFill/>
        </p:spPr>
        <p:txBody>
          <a:bodyPr wrap="square" anchor="t" lIns="0" rIns="0" tIns="0" bIns="0"/>
          <a:lstStyle/>
          <a:p>
            <a:pPr algn="l"/>
            <a:r>
              <a:rPr sz="1800" b="0" i="0">
                <a:solidFill>
                  <a:srgbClr val="202122"/>
                </a:solidFill>
                <a:latin typeface="Calibri"/>
              </a:rPr>
              <a:t>Can you currently do the work?</a:t>
            </a:r>
          </a:p>
        </p:txBody>
      </p:sp>
      <p:sp>
        <p:nvSpPr>
          <p:cNvPr id="15" name="Oval 14"/>
          <p:cNvSpPr/>
          <p:nvPr/>
        </p:nvSpPr>
        <p:spPr>
          <a:xfrm>
            <a:off x="7179754" y="235458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3</a:t>
            </a:r>
          </a:p>
        </p:txBody>
      </p:sp>
      <p:sp>
        <p:nvSpPr>
          <p:cNvPr id="16" name="TextBox 15"/>
          <p:cNvSpPr txBox="1"/>
          <p:nvPr/>
        </p:nvSpPr>
        <p:spPr>
          <a:xfrm>
            <a:off x="6164427" y="3131820"/>
            <a:ext cx="2670733" cy="731520"/>
          </a:xfrm>
          <a:prstGeom prst="rect">
            <a:avLst/>
          </a:prstGeom>
          <a:noFill/>
        </p:spPr>
        <p:txBody>
          <a:bodyPr wrap="square" anchor="t" lIns="0" rIns="0" tIns="0" bIns="0"/>
          <a:lstStyle/>
          <a:p>
            <a:pPr algn="ctr"/>
            <a:r>
              <a:rPr sz="1700" b="1" i="0">
                <a:solidFill>
                  <a:srgbClr val="03306E"/>
                </a:solidFill>
                <a:latin typeface="Calibri"/>
              </a:rPr>
              <a:t>Choose</a:t>
            </a:r>
          </a:p>
        </p:txBody>
      </p:sp>
      <p:sp>
        <p:nvSpPr>
          <p:cNvPr id="17" name="Rounded Rectangle 16"/>
          <p:cNvSpPr/>
          <p:nvPr/>
        </p:nvSpPr>
        <p:spPr>
          <a:xfrm>
            <a:off x="6164427" y="3909060"/>
            <a:ext cx="2670733" cy="15087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01587" y="4046220"/>
            <a:ext cx="2396413" cy="1234439"/>
          </a:xfrm>
          <a:prstGeom prst="rect">
            <a:avLst/>
          </a:prstGeom>
          <a:noFill/>
        </p:spPr>
        <p:txBody>
          <a:bodyPr wrap="square" anchor="t" lIns="0" rIns="0" tIns="0" bIns="0"/>
          <a:lstStyle/>
          <a:p>
            <a:pPr algn="l"/>
            <a:r>
              <a:rPr sz="1800" b="0" i="0">
                <a:solidFill>
                  <a:srgbClr val="202122"/>
                </a:solidFill>
                <a:latin typeface="Calibri"/>
              </a:rPr>
              <a:t>Coaching, on-the-job learning, self-study, forums, workshops.</a:t>
            </a:r>
          </a:p>
        </p:txBody>
      </p:sp>
      <p:sp>
        <p:nvSpPr>
          <p:cNvPr id="19" name="Oval 18"/>
          <p:cNvSpPr/>
          <p:nvPr/>
        </p:nvSpPr>
        <p:spPr>
          <a:xfrm>
            <a:off x="9987648" y="235458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4</a:t>
            </a:r>
          </a:p>
        </p:txBody>
      </p:sp>
      <p:sp>
        <p:nvSpPr>
          <p:cNvPr id="20" name="TextBox 19"/>
          <p:cNvSpPr txBox="1"/>
          <p:nvPr/>
        </p:nvSpPr>
        <p:spPr>
          <a:xfrm>
            <a:off x="8972321" y="3131820"/>
            <a:ext cx="2670733" cy="731520"/>
          </a:xfrm>
          <a:prstGeom prst="rect">
            <a:avLst/>
          </a:prstGeom>
          <a:noFill/>
        </p:spPr>
        <p:txBody>
          <a:bodyPr wrap="square" anchor="t" lIns="0" rIns="0" tIns="0" bIns="0"/>
          <a:lstStyle/>
          <a:p>
            <a:pPr algn="ctr"/>
            <a:r>
              <a:rPr sz="1700" b="1" i="0">
                <a:solidFill>
                  <a:srgbClr val="03306E"/>
                </a:solidFill>
                <a:latin typeface="Calibri"/>
              </a:rPr>
              <a:t>Learn and apply</a:t>
            </a:r>
          </a:p>
        </p:txBody>
      </p:sp>
      <p:sp>
        <p:nvSpPr>
          <p:cNvPr id="21" name="Rounded Rectangle 20"/>
          <p:cNvSpPr/>
          <p:nvPr/>
        </p:nvSpPr>
        <p:spPr>
          <a:xfrm>
            <a:off x="8972321" y="3909060"/>
            <a:ext cx="2670733" cy="15087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09481" y="4046220"/>
            <a:ext cx="2396413" cy="1234439"/>
          </a:xfrm>
          <a:prstGeom prst="rect">
            <a:avLst/>
          </a:prstGeom>
          <a:noFill/>
        </p:spPr>
        <p:txBody>
          <a:bodyPr wrap="square" anchor="t" lIns="0" rIns="0" tIns="0" bIns="0"/>
          <a:lstStyle/>
          <a:p>
            <a:pPr algn="l"/>
            <a:r>
              <a:rPr sz="1800" b="0" i="0">
                <a:solidFill>
                  <a:srgbClr val="202122"/>
                </a:solidFill>
                <a:latin typeface="Calibri"/>
              </a:rPr>
              <a:t>Close the gap and use it in the project.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100" b="1" i="0">
                <a:solidFill>
                  <a:srgbClr val="03306E"/>
                </a:solidFill>
                <a:latin typeface="Cambria"/>
              </a:rPr>
              <a:t>Quick check: Identifying and addressing training needs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Technologies and Developing Your Skills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should you do before starting a project?</a:t>
            </a:r>
          </a:p>
        </p:txBody>
      </p:sp>
      <p:sp>
        <p:nvSpPr>
          <p:cNvPr id="8" name="Oval 7"/>
          <p:cNvSpPr/>
          <p:nvPr/>
        </p:nvSpPr>
        <p:spPr>
          <a:xfrm>
            <a:off x="548640" y="31089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Give three ways to close a skills gap.</a:t>
            </a:r>
          </a:p>
        </p:txBody>
      </p:sp>
      <p:sp>
        <p:nvSpPr>
          <p:cNvPr id="10" name="Oval 9"/>
          <p:cNvSpPr/>
          <p:nvPr/>
        </p:nvSpPr>
        <p:spPr>
          <a:xfrm>
            <a:off x="548640" y="45262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must developers keep learning?</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Technologies and Developing Your Skills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Oval 5"/>
          <p:cNvSpPr/>
          <p:nvPr/>
        </p:nvSpPr>
        <p:spPr>
          <a:xfrm>
            <a:off x="548640" y="1618488"/>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429512"/>
          </a:xfrm>
          <a:prstGeom prst="rect">
            <a:avLst/>
          </a:prstGeom>
          <a:noFill/>
        </p:spPr>
        <p:txBody>
          <a:bodyPr wrap="square" anchor="t" lIns="0" rIns="0" tIns="0" bIns="0"/>
          <a:lstStyle/>
          <a:p>
            <a:pPr algn="l"/>
            <a:r>
              <a:rPr sz="2200" b="0" i="0">
                <a:solidFill>
                  <a:srgbClr val="202122"/>
                </a:solidFill>
                <a:latin typeface="Calibri"/>
              </a:rPr>
              <a:t>What is computer vision?</a:t>
            </a:r>
          </a:p>
        </p:txBody>
      </p:sp>
      <p:sp>
        <p:nvSpPr>
          <p:cNvPr id="8" name="Oval 7"/>
          <p:cNvSpPr/>
          <p:nvPr/>
        </p:nvSpPr>
        <p:spPr>
          <a:xfrm>
            <a:off x="548640" y="3212592"/>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3194304"/>
            <a:ext cx="10408615" cy="1429512"/>
          </a:xfrm>
          <a:prstGeom prst="rect">
            <a:avLst/>
          </a:prstGeom>
          <a:noFill/>
        </p:spPr>
        <p:txBody>
          <a:bodyPr wrap="square" anchor="t" lIns="0" rIns="0" tIns="0" bIns="0"/>
          <a:lstStyle/>
          <a:p>
            <a:pPr algn="l"/>
            <a:r>
              <a:rPr sz="2200" b="0" i="0">
                <a:solidFill>
                  <a:srgbClr val="202122"/>
                </a:solidFill>
                <a:latin typeface="Calibri"/>
              </a:rPr>
              <a:t>Give two ways to close a skills gap.</a:t>
            </a:r>
          </a:p>
        </p:txBody>
      </p:sp>
      <p:sp>
        <p:nvSpPr>
          <p:cNvPr id="10" name="Oval 9"/>
          <p:cNvSpPr/>
          <p:nvPr/>
        </p:nvSpPr>
        <p:spPr>
          <a:xfrm>
            <a:off x="548640" y="4806695"/>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4788408"/>
            <a:ext cx="10408615" cy="1429512"/>
          </a:xfrm>
          <a:prstGeom prst="rect">
            <a:avLst/>
          </a:prstGeom>
          <a:noFill/>
        </p:spPr>
        <p:txBody>
          <a:bodyPr wrap="square" anchor="t" lIns="0" rIns="0" tIns="0" bIns="0"/>
          <a:lstStyle/>
          <a:p>
            <a:pPr algn="l"/>
            <a:r>
              <a:rPr sz="2200" b="0" i="0">
                <a:solidFill>
                  <a:srgbClr val="202122"/>
                </a:solidFill>
                <a:latin typeface="Calibri"/>
              </a:rPr>
              <a:t>What is operational technology?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Technologies and Developing Your Skills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Oval 5"/>
          <p:cNvSpPr/>
          <p:nvPr/>
        </p:nvSpPr>
        <p:spPr>
          <a:xfrm>
            <a:off x="548640" y="1618488"/>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429512"/>
          </a:xfrm>
          <a:prstGeom prst="rect">
            <a:avLst/>
          </a:prstGeom>
          <a:noFill/>
        </p:spPr>
        <p:txBody>
          <a:bodyPr wrap="square" anchor="t" lIns="0" rIns="0" tIns="0" bIns="0"/>
          <a:lstStyle/>
          <a:p>
            <a:pPr algn="l"/>
            <a:r>
              <a:rPr sz="1800" b="0" i="0">
                <a:solidFill>
                  <a:srgbClr val="54595D"/>
                </a:solidFill>
                <a:latin typeface="Calibri"/>
              </a:rPr>
              <a:t>What is computer vision?</a:t>
            </a:r>
          </a:p>
          <a:p>
            <a:r>
              <a:rPr sz="1800" b="1">
                <a:solidFill>
                  <a:srgbClr val="03306E"/>
                </a:solidFill>
                <a:latin typeface="Calibri"/>
              </a:rPr>
              <a:t>AI that interprets images or video.</a:t>
            </a:r>
          </a:p>
        </p:txBody>
      </p:sp>
      <p:sp>
        <p:nvSpPr>
          <p:cNvPr id="8" name="Oval 7"/>
          <p:cNvSpPr/>
          <p:nvPr/>
        </p:nvSpPr>
        <p:spPr>
          <a:xfrm>
            <a:off x="548640" y="3212592"/>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3194304"/>
            <a:ext cx="10408615" cy="1429512"/>
          </a:xfrm>
          <a:prstGeom prst="rect">
            <a:avLst/>
          </a:prstGeom>
          <a:noFill/>
        </p:spPr>
        <p:txBody>
          <a:bodyPr wrap="square" anchor="t" lIns="0" rIns="0" tIns="0" bIns="0"/>
          <a:lstStyle/>
          <a:p>
            <a:pPr algn="l"/>
            <a:r>
              <a:rPr sz="1800" b="0" i="0">
                <a:solidFill>
                  <a:srgbClr val="54595D"/>
                </a:solidFill>
                <a:latin typeface="Calibri"/>
              </a:rPr>
              <a:t>Give two ways to close a skills gap.</a:t>
            </a:r>
          </a:p>
          <a:p>
            <a:r>
              <a:rPr sz="1800" b="1">
                <a:solidFill>
                  <a:srgbClr val="03306E"/>
                </a:solidFill>
                <a:latin typeface="Calibri"/>
              </a:rPr>
              <a:t>Any two of: coaching, on-the-job learning, self-study, online forums, online workshops.</a:t>
            </a:r>
          </a:p>
        </p:txBody>
      </p:sp>
      <p:sp>
        <p:nvSpPr>
          <p:cNvPr id="10" name="Oval 9"/>
          <p:cNvSpPr/>
          <p:nvPr/>
        </p:nvSpPr>
        <p:spPr>
          <a:xfrm>
            <a:off x="548640" y="4806695"/>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4788408"/>
            <a:ext cx="10408615" cy="1429512"/>
          </a:xfrm>
          <a:prstGeom prst="rect">
            <a:avLst/>
          </a:prstGeom>
          <a:noFill/>
        </p:spPr>
        <p:txBody>
          <a:bodyPr wrap="square" anchor="t" lIns="0" rIns="0" tIns="0" bIns="0"/>
          <a:lstStyle/>
          <a:p>
            <a:pPr algn="l"/>
            <a:r>
              <a:rPr sz="1800" b="0" i="0">
                <a:solidFill>
                  <a:srgbClr val="54595D"/>
                </a:solidFill>
                <a:latin typeface="Calibri"/>
              </a:rPr>
              <a:t>What is operational technology?</a:t>
            </a:r>
          </a:p>
          <a:p>
            <a:r>
              <a:rPr sz="1800" b="1">
                <a:solidFill>
                  <a:srgbClr val="03306E"/>
                </a:solidFill>
                <a:latin typeface="Calibri"/>
              </a:rPr>
              <a:t>Hardware and software that monitors and controls physical equipment.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Skills audit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Emerging Technologies and Developing Your Skills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Rounded Rectangle 5"/>
          <p:cNvSpPr/>
          <p:nvPr/>
        </p:nvSpPr>
        <p:spPr>
          <a:xfrm>
            <a:off x="548640" y="1508760"/>
            <a:ext cx="2011680" cy="457200"/>
          </a:xfrm>
          <a:prstGeom prst="roundRect">
            <a:avLst>
              <a:gd name="adj" fmla="val 50000"/>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Individual</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Pick a project: an IoT plant-watering app.</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List the skills it needs.</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Rate yourself on each from 1 to 5.</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Write a learning plan for your two weakest skills.</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Skills are specific</a:t>
            </a:r>
          </a:p>
          <a:p>
            <a:pPr marL="274320" indent="-274320">
              <a:spcAft>
                <a:spcPts val="810"/>
              </a:spcAft>
              <a:buClr>
                <a:srgbClr val="0645AD"/>
              </a:buClr>
              <a:buFont typeface="Arial"/>
              <a:buChar char="•"/>
            </a:pPr>
            <a:r>
              <a:rPr sz="1800" b="0">
                <a:solidFill>
                  <a:srgbClr val="202122"/>
                </a:solidFill>
                <a:latin typeface="Calibri"/>
              </a:rPr>
              <a:t>Honest self-assessment</a:t>
            </a:r>
          </a:p>
          <a:p>
            <a:pPr marL="274320" indent="-274320">
              <a:spcAft>
                <a:spcPts val="810"/>
              </a:spcAft>
              <a:buClr>
                <a:srgbClr val="0645AD"/>
              </a:buClr>
              <a:buFont typeface="Arial"/>
              <a:buChar char="•"/>
            </a:pPr>
            <a:r>
              <a:rPr sz="1800" b="0">
                <a:solidFill>
                  <a:srgbClr val="202122"/>
                </a:solidFill>
                <a:latin typeface="Calibri"/>
              </a:rPr>
              <a:t>Learning methods are realistic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OCCUPATIONAL SPECIALISM  ·  Specialism Content Area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Which emerging technology excites you most?</a:t>
            </a:r>
          </a:p>
        </p:txBody>
      </p:sp>
      <p:sp>
        <p:nvSpPr>
          <p:cNvPr id="6" name="Oval 5"/>
          <p:cNvSpPr/>
          <p:nvPr/>
        </p:nvSpPr>
        <p:spPr>
          <a:xfrm>
            <a:off x="548640" y="26974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What is one skill gap you have right now?</a:t>
            </a:r>
          </a:p>
        </p:txBody>
      </p:sp>
      <p:sp>
        <p:nvSpPr>
          <p:cNvPr id="8" name="Oval 7"/>
          <p:cNvSpPr/>
          <p:nvPr/>
        </p:nvSpPr>
        <p:spPr>
          <a:xfrm>
            <a:off x="548640" y="365760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How would you find out if you are ready for a task?</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Analyse a Problem</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https://lana6478.github.io/T-level-Digital-Software-Development/#/02-occupational-specialism/01-analyse-a-problem.md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Emerging Technologies and Developing Your Skills</dc:title>
  <dc:subject>Digital Software Development T Level: Specialism Content Area 1</dc:subject>
  <dc:creator>Samuel O'Connell</dc:creator>
  <cp:keywords>T Level; Digital Software Development; lesson slides; 1.5, 1.6</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