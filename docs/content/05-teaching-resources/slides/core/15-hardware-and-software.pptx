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RAM.</a:t>
            </a:r>
          </a:p>
          <a:p>
            <a:r>
              <a:t>2. Graphics and parallel processing.</a:t>
            </a:r>
          </a:p>
          <a:p>
            <a:r>
              <a:t>3. To run IDEs, emulators and VMs together.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compiler translates the whole program first; an interpreter translates line by line.</a:t>
            </a:r>
          </a:p>
          <a:p>
            <a:r>
              <a:t>2. E.g. editor, debugger, breakpoints, syntax highlighting.</a:t>
            </a:r>
          </a:p>
          <a:p>
            <a:r>
              <a:t>3.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Hardware and Software</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7.1, 7.2</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Software Development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4028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14400"/>
          </a:xfrm>
          <a:prstGeom prst="rect">
            <a:avLst/>
          </a:prstGeom>
          <a:noFill/>
        </p:spPr>
        <p:txBody>
          <a:bodyPr wrap="square" anchor="ctr" lIns="0" rIns="0" tIns="0" bIns="0"/>
          <a:lstStyle/>
          <a:p>
            <a:pPr algn="l"/>
            <a:r>
              <a:rPr sz="2000" b="0" i="0">
                <a:solidFill>
                  <a:srgbClr val="202122"/>
                </a:solidFill>
                <a:latin typeface="Calibri"/>
              </a:rPr>
              <a:t>Identify computer types and hardware components.</a:t>
            </a:r>
          </a:p>
        </p:txBody>
      </p:sp>
      <p:sp>
        <p:nvSpPr>
          <p:cNvPr id="9" name="Oval 8"/>
          <p:cNvSpPr/>
          <p:nvPr/>
        </p:nvSpPr>
        <p:spPr>
          <a:xfrm>
            <a:off x="548640" y="329184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63240"/>
            <a:ext cx="6035040" cy="914400"/>
          </a:xfrm>
          <a:prstGeom prst="rect">
            <a:avLst/>
          </a:prstGeom>
          <a:noFill/>
        </p:spPr>
        <p:txBody>
          <a:bodyPr wrap="square" anchor="ctr" lIns="0" rIns="0" tIns="0" bIns="0"/>
          <a:lstStyle/>
          <a:p>
            <a:pPr algn="l"/>
            <a:r>
              <a:rPr sz="2000" b="0" i="0">
                <a:solidFill>
                  <a:srgbClr val="202122"/>
                </a:solidFill>
                <a:latin typeface="Calibri"/>
              </a:rPr>
              <a:t>Describe operating system types and utilities.</a:t>
            </a:r>
          </a:p>
        </p:txBody>
      </p:sp>
      <p:sp>
        <p:nvSpPr>
          <p:cNvPr id="11" name="Oval 10"/>
          <p:cNvSpPr/>
          <p:nvPr/>
        </p:nvSpPr>
        <p:spPr>
          <a:xfrm>
            <a:off x="548640" y="43434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114800"/>
            <a:ext cx="6035040" cy="914400"/>
          </a:xfrm>
          <a:prstGeom prst="rect">
            <a:avLst/>
          </a:prstGeom>
          <a:noFill/>
        </p:spPr>
        <p:txBody>
          <a:bodyPr wrap="square" anchor="ctr" lIns="0" rIns="0" tIns="0" bIns="0"/>
          <a:lstStyle/>
          <a:p>
            <a:pPr algn="l"/>
            <a:r>
              <a:rPr sz="2000" b="0" i="0">
                <a:solidFill>
                  <a:srgbClr val="202122"/>
                </a:solidFill>
                <a:latin typeface="Calibri"/>
              </a:rPr>
              <a:t>Explain IDEs, compilers and interpreters.</a:t>
            </a:r>
          </a:p>
        </p:txBody>
      </p:sp>
      <p:sp>
        <p:nvSpPr>
          <p:cNvPr id="13" name="Rounded Rectangle 12"/>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5" name="TextBox 14"/>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Why does a game run faster on a gaming PC than on a school laptop? List every reason you can.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Hardware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1">
                <a:solidFill>
                  <a:srgbClr val="202122"/>
                </a:solidFill>
                <a:latin typeface="Calibri"/>
              </a:rPr>
              <a:t>The processor runs instructions:</a:t>
            </a:r>
            <a:r>
              <a:rPr sz="2200" b="0">
                <a:solidFill>
                  <a:srgbClr val="202122"/>
                </a:solidFill>
                <a:latin typeface="Calibri"/>
              </a:rPr>
              <a:t> more cores do more at once, a higher clock speed does each faster, and cache keeps data close. RAM holds running programs and data but is volatile. ROM holds start-up instructions. Storage can be magnetic, solid state or optical.</a:t>
            </a:r>
          </a:p>
          <a:p>
            <a:pPr>
              <a:spcAft>
                <a:spcPts val="1320"/>
              </a:spcAft>
            </a:pPr>
            <a:r>
              <a:rPr sz="2200" b="0">
                <a:solidFill>
                  <a:srgbClr val="202122"/>
                </a:solidFill>
                <a:latin typeface="Calibri"/>
              </a:rPr>
              <a:t>The motherboard connects everything, the GPU handles graphics and parallel work, network interfaces connect via PCI or USB, and cooling stops overheating.</a:t>
            </a:r>
          </a:p>
          <a:p>
            <a:pPr>
              <a:spcAft>
                <a:spcPts val="1320"/>
              </a:spcAft>
            </a:pPr>
            <a:r>
              <a:rPr sz="2200" b="0">
                <a:solidFill>
                  <a:srgbClr val="202122"/>
                </a:solidFill>
                <a:latin typeface="Calibri"/>
              </a:rPr>
              <a:t>Developers need enough RAM and CPU to run IDEs, emulators and virtual machines smoothly.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Running a phone emulator alongside an IDE needs 16 GB of RAM or more; with 8 GB, everything slows to a crawl.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Hardware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2838106"/>
                <a:gridCol w="8256308"/>
              </a:tblGrid>
              <a:tr h="754380">
                <a:tc>
                  <a:txBody>
                    <a:bodyPr wrap="square"/>
                    <a:lstStyle/>
                    <a:p>
                      <a:r>
                        <a:rPr sz="1600" b="1">
                          <a:solidFill>
                            <a:srgbClr val="FFFFFF"/>
                          </a:solidFill>
                          <a:latin typeface="Calibri"/>
                        </a:rPr>
                        <a:t>Component</a:t>
                      </a:r>
                    </a:p>
                  </a:txBody>
                  <a:tcPr marL="91440" marR="91440" anchor="ctr">
                    <a:solidFill>
                      <a:srgbClr val="03306E"/>
                    </a:solidFill>
                  </a:tcPr>
                </a:tc>
                <a:tc>
                  <a:txBody>
                    <a:bodyPr wrap="square"/>
                    <a:lstStyle/>
                    <a:p>
                      <a:r>
                        <a:rPr sz="1600" b="1">
                          <a:solidFill>
                            <a:srgbClr val="FFFFFF"/>
                          </a:solidFill>
                          <a:latin typeface="Calibri"/>
                        </a:rPr>
                        <a:t>Key points</a:t>
                      </a:r>
                    </a:p>
                  </a:txBody>
                  <a:tcPr marL="91440" marR="91440" anchor="ctr">
                    <a:solidFill>
                      <a:srgbClr val="03306E"/>
                    </a:solidFill>
                  </a:tcPr>
                </a:tc>
              </a:tr>
              <a:tr h="754380">
                <a:tc>
                  <a:txBody>
                    <a:bodyPr wrap="square"/>
                    <a:lstStyle/>
                    <a:p>
                      <a:r>
                        <a:rPr sz="1600" b="1">
                          <a:solidFill>
                            <a:srgbClr val="03306E"/>
                          </a:solidFill>
                          <a:latin typeface="Calibri"/>
                        </a:rPr>
                        <a:t>Computer types</a:t>
                      </a:r>
                    </a:p>
                  </a:txBody>
                  <a:tcPr marL="91440" marR="91440" anchor="ctr">
                    <a:solidFill>
                      <a:srgbClr val="FFFFFF"/>
                    </a:solidFill>
                  </a:tcPr>
                </a:tc>
                <a:tc>
                  <a:txBody>
                    <a:bodyPr wrap="square"/>
                    <a:lstStyle/>
                    <a:p>
                      <a:r>
                        <a:rPr sz="1600" b="0">
                          <a:solidFill>
                            <a:srgbClr val="202122"/>
                          </a:solidFill>
                          <a:latin typeface="Calibri"/>
                        </a:rPr>
                        <a:t>Personal computers, mobile devices, servers, embedded devices</a:t>
                      </a:r>
                    </a:p>
                  </a:txBody>
                  <a:tcPr marL="91440" marR="91440" anchor="ctr">
                    <a:solidFill>
                      <a:srgbClr val="FFFFFF"/>
                    </a:solidFill>
                  </a:tcPr>
                </a:tc>
              </a:tr>
              <a:tr h="754380">
                <a:tc>
                  <a:txBody>
                    <a:bodyPr wrap="square"/>
                    <a:lstStyle/>
                    <a:p>
                      <a:r>
                        <a:rPr sz="1600" b="1">
                          <a:solidFill>
                            <a:srgbClr val="03306E"/>
                          </a:solidFill>
                          <a:latin typeface="Calibri"/>
                        </a:rPr>
                        <a:t>Processor</a:t>
                      </a:r>
                    </a:p>
                  </a:txBody>
                  <a:tcPr marL="91440" marR="91440" anchor="ctr">
                    <a:solidFill>
                      <a:srgbClr val="EAF3FF"/>
                    </a:solidFill>
                  </a:tcPr>
                </a:tc>
                <a:tc>
                  <a:txBody>
                    <a:bodyPr wrap="square"/>
                    <a:lstStyle/>
                    <a:p>
                      <a:r>
                        <a:rPr sz="1600" b="0">
                          <a:solidFill>
                            <a:srgbClr val="202122"/>
                          </a:solidFill>
                          <a:latin typeface="Calibri"/>
                        </a:rPr>
                        <a:t>Cores, clock speed and cache; mobile processors save power</a:t>
                      </a:r>
                    </a:p>
                  </a:txBody>
                  <a:tcPr marL="91440" marR="91440" anchor="ctr">
                    <a:solidFill>
                      <a:srgbClr val="EAF3FF"/>
                    </a:solidFill>
                  </a:tcPr>
                </a:tc>
              </a:tr>
              <a:tr h="754380">
                <a:tc>
                  <a:txBody>
                    <a:bodyPr wrap="square"/>
                    <a:lstStyle/>
                    <a:p>
                      <a:r>
                        <a:rPr sz="1600" b="1">
                          <a:solidFill>
                            <a:srgbClr val="03306E"/>
                          </a:solidFill>
                          <a:latin typeface="Calibri"/>
                        </a:rPr>
                        <a:t>Memory</a:t>
                      </a:r>
                    </a:p>
                  </a:txBody>
                  <a:tcPr marL="91440" marR="91440" anchor="ctr">
                    <a:solidFill>
                      <a:srgbClr val="FFFFFF"/>
                    </a:solidFill>
                  </a:tcPr>
                </a:tc>
                <a:tc>
                  <a:txBody>
                    <a:bodyPr wrap="square"/>
                    <a:lstStyle/>
                    <a:p>
                      <a:r>
                        <a:rPr sz="1600" b="0">
                          <a:solidFill>
                            <a:srgbClr val="202122"/>
                          </a:solidFill>
                          <a:latin typeface="Calibri"/>
                        </a:rPr>
                        <a:t>RAM is volatile working memory; ROM holds start-up instructions</a:t>
                      </a:r>
                    </a:p>
                  </a:txBody>
                  <a:tcPr marL="91440" marR="91440" anchor="ctr">
                    <a:solidFill>
                      <a:srgbClr val="FFFFFF"/>
                    </a:solidFill>
                  </a:tcPr>
                </a:tc>
              </a:tr>
              <a:tr h="754380">
                <a:tc>
                  <a:txBody>
                    <a:bodyPr wrap="square"/>
                    <a:lstStyle/>
                    <a:p>
                      <a:r>
                        <a:rPr sz="1600" b="1">
                          <a:solidFill>
                            <a:srgbClr val="03306E"/>
                          </a:solidFill>
                          <a:latin typeface="Calibri"/>
                        </a:rPr>
                        <a:t>Storage</a:t>
                      </a:r>
                    </a:p>
                  </a:txBody>
                  <a:tcPr marL="91440" marR="91440" anchor="ctr">
                    <a:solidFill>
                      <a:srgbClr val="EAF3FF"/>
                    </a:solidFill>
                  </a:tcPr>
                </a:tc>
                <a:tc>
                  <a:txBody>
                    <a:bodyPr wrap="square"/>
                    <a:lstStyle/>
                    <a:p>
                      <a:r>
                        <a:rPr sz="1600" b="0">
                          <a:solidFill>
                            <a:srgbClr val="202122"/>
                          </a:solidFill>
                          <a:latin typeface="Calibri"/>
                        </a:rPr>
                        <a:t>Magnetic, solid state, optical</a:t>
                      </a:r>
                    </a:p>
                  </a:txBody>
                  <a:tcPr marL="91440" marR="91440" anchor="ctr">
                    <a:solidFill>
                      <a:srgbClr val="EAF3FF"/>
                    </a:solidFill>
                  </a:tcPr>
                </a:tc>
              </a:tr>
              <a:tr h="754380">
                <a:tc>
                  <a:txBody>
                    <a:bodyPr wrap="square"/>
                    <a:lstStyle/>
                    <a:p>
                      <a:r>
                        <a:rPr sz="1600" b="1">
                          <a:solidFill>
                            <a:srgbClr val="03306E"/>
                          </a:solidFill>
                          <a:latin typeface="Calibri"/>
                        </a:rPr>
                        <a:t>Other</a:t>
                      </a:r>
                    </a:p>
                  </a:txBody>
                  <a:tcPr marL="91440" marR="91440" anchor="ctr">
                    <a:solidFill>
                      <a:srgbClr val="FFFFFF"/>
                    </a:solidFill>
                  </a:tcPr>
                </a:tc>
                <a:tc>
                  <a:txBody>
                    <a:bodyPr wrap="square"/>
                    <a:lstStyle/>
                    <a:p>
                      <a:r>
                        <a:rPr sz="1600" b="0">
                          <a:solidFill>
                            <a:srgbClr val="202122"/>
                          </a:solidFill>
                          <a:latin typeface="Calibri"/>
                        </a:rPr>
                        <a:t>Motherboard, GPU, network interfaces (PCI, USB), cooling, sensors</a:t>
                      </a:r>
                    </a:p>
                  </a:txBody>
                  <a:tcPr marL="91440" marR="91440"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Hardware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memory is volatile?</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a GPU do?</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do developers need plenty of RAM?</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Operating system types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graphicFrame>
        <p:nvGraphicFramePr>
          <p:cNvPr id="6" name="Table 5"/>
          <p:cNvGraphicFramePr>
            <a:graphicFrameLocks noGrp="1"/>
          </p:cNvGraphicFramePr>
          <p:nvPr/>
        </p:nvGraphicFramePr>
        <p:xfrm>
          <a:off x="548640" y="1600200"/>
          <a:ext cx="11094414" cy="3977640"/>
        </p:xfrm>
        <a:graphic>
          <a:graphicData uri="http://schemas.openxmlformats.org/drawingml/2006/table">
            <a:tbl>
              <a:tblPr firstRow="1" bandRow="1">
                <a:tableStyleId>{5C22544A-7EE6-4342-B048-85BDC9FD1C3A}</a:tableStyleId>
              </a:tblPr>
              <a:tblGrid>
                <a:gridCol w="2322086"/>
                <a:gridCol w="8772328"/>
              </a:tblGrid>
              <a:tr h="662940">
                <a:tc>
                  <a:txBody>
                    <a:bodyPr wrap="square"/>
                    <a:lstStyle/>
                    <a:p>
                      <a:r>
                        <a:rPr sz="1600" b="1">
                          <a:solidFill>
                            <a:srgbClr val="FFFFFF"/>
                          </a:solidFill>
                          <a:latin typeface="Calibri"/>
                        </a:rPr>
                        <a:t>Type</a:t>
                      </a:r>
                    </a:p>
                  </a:txBody>
                  <a:tcPr marL="91440" marR="91440" anchor="ctr">
                    <a:solidFill>
                      <a:srgbClr val="03306E"/>
                    </a:solidFill>
                  </a:tcPr>
                </a:tc>
                <a:tc>
                  <a:txBody>
                    <a:bodyPr wrap="square"/>
                    <a:lstStyle/>
                    <a:p>
                      <a:r>
                        <a:rPr sz="1600" b="1">
                          <a:solidFill>
                            <a:srgbClr val="FFFFFF"/>
                          </a:solidFill>
                          <a:latin typeface="Calibri"/>
                        </a:rPr>
                        <a:t>Features</a:t>
                      </a:r>
                    </a:p>
                  </a:txBody>
                  <a:tcPr marL="91440" marR="91440" anchor="ctr">
                    <a:solidFill>
                      <a:srgbClr val="03306E"/>
                    </a:solidFill>
                  </a:tcPr>
                </a:tc>
              </a:tr>
              <a:tr h="662940">
                <a:tc>
                  <a:txBody>
                    <a:bodyPr wrap="square"/>
                    <a:lstStyle/>
                    <a:p>
                      <a:r>
                        <a:rPr sz="1600" b="1">
                          <a:solidFill>
                            <a:srgbClr val="03306E"/>
                          </a:solidFill>
                          <a:latin typeface="Calibri"/>
                        </a:rPr>
                        <a:t>Batch</a:t>
                      </a:r>
                    </a:p>
                  </a:txBody>
                  <a:tcPr marL="91440" marR="91440" anchor="ctr">
                    <a:solidFill>
                      <a:srgbClr val="FFFFFF"/>
                    </a:solidFill>
                  </a:tcPr>
                </a:tc>
                <a:tc>
                  <a:txBody>
                    <a:bodyPr wrap="square"/>
                    <a:lstStyle/>
                    <a:p>
                      <a:r>
                        <a:rPr sz="1600" b="0">
                          <a:solidFill>
                            <a:srgbClr val="202122"/>
                          </a:solidFill>
                          <a:latin typeface="Calibri"/>
                        </a:rPr>
                        <a:t>Non-interactive, high volume, scheduled jobs</a:t>
                      </a:r>
                    </a:p>
                  </a:txBody>
                  <a:tcPr marL="91440" marR="91440" anchor="ctr">
                    <a:solidFill>
                      <a:srgbClr val="FFFFFF"/>
                    </a:solidFill>
                  </a:tcPr>
                </a:tc>
              </a:tr>
              <a:tr h="662940">
                <a:tc>
                  <a:txBody>
                    <a:bodyPr wrap="square"/>
                    <a:lstStyle/>
                    <a:p>
                      <a:r>
                        <a:rPr sz="1600" b="1">
                          <a:solidFill>
                            <a:srgbClr val="03306E"/>
                          </a:solidFill>
                          <a:latin typeface="Calibri"/>
                        </a:rPr>
                        <a:t>Multitasking</a:t>
                      </a:r>
                    </a:p>
                  </a:txBody>
                  <a:tcPr marL="91440" marR="91440" anchor="ctr">
                    <a:solidFill>
                      <a:srgbClr val="EAF3FF"/>
                    </a:solidFill>
                  </a:tcPr>
                </a:tc>
                <a:tc>
                  <a:txBody>
                    <a:bodyPr wrap="square"/>
                    <a:lstStyle/>
                    <a:p>
                      <a:r>
                        <a:rPr sz="1600" b="0">
                          <a:solidFill>
                            <a:srgbClr val="202122"/>
                          </a:solidFill>
                          <a:latin typeface="Calibri"/>
                        </a:rPr>
                        <a:t>Runs tasks concurrently using time-slicing and interrupts</a:t>
                      </a:r>
                    </a:p>
                  </a:txBody>
                  <a:tcPr marL="91440" marR="91440" anchor="ctr">
                    <a:solidFill>
                      <a:srgbClr val="EAF3FF"/>
                    </a:solidFill>
                  </a:tcPr>
                </a:tc>
              </a:tr>
              <a:tr h="662940">
                <a:tc>
                  <a:txBody>
                    <a:bodyPr wrap="square"/>
                    <a:lstStyle/>
                    <a:p>
                      <a:r>
                        <a:rPr sz="1600" b="1">
                          <a:solidFill>
                            <a:srgbClr val="03306E"/>
                          </a:solidFill>
                          <a:latin typeface="Calibri"/>
                        </a:rPr>
                        <a:t>Real-time</a:t>
                      </a:r>
                    </a:p>
                  </a:txBody>
                  <a:tcPr marL="91440" marR="91440" anchor="ctr">
                    <a:solidFill>
                      <a:srgbClr val="FFFFFF"/>
                    </a:solidFill>
                  </a:tcPr>
                </a:tc>
                <a:tc>
                  <a:txBody>
                    <a:bodyPr wrap="square"/>
                    <a:lstStyle/>
                    <a:p>
                      <a:r>
                        <a:rPr sz="1600" b="0">
                          <a:solidFill>
                            <a:srgbClr val="202122"/>
                          </a:solidFill>
                          <a:latin typeface="Calibri"/>
                        </a:rPr>
                        <a:t>Responds instantly, for control and transactions</a:t>
                      </a:r>
                    </a:p>
                  </a:txBody>
                  <a:tcPr marL="91440" marR="91440" anchor="ctr">
                    <a:solidFill>
                      <a:srgbClr val="FFFFFF"/>
                    </a:solidFill>
                  </a:tcPr>
                </a:tc>
              </a:tr>
              <a:tr h="662940">
                <a:tc>
                  <a:txBody>
                    <a:bodyPr wrap="square"/>
                    <a:lstStyle/>
                    <a:p>
                      <a:r>
                        <a:rPr sz="1600" b="1">
                          <a:solidFill>
                            <a:srgbClr val="03306E"/>
                          </a:solidFill>
                          <a:latin typeface="Calibri"/>
                        </a:rPr>
                        <a:t>Network</a:t>
                      </a:r>
                    </a:p>
                  </a:txBody>
                  <a:tcPr marL="91440" marR="91440" anchor="ctr">
                    <a:solidFill>
                      <a:srgbClr val="EAF3FF"/>
                    </a:solidFill>
                  </a:tcPr>
                </a:tc>
                <a:tc>
                  <a:txBody>
                    <a:bodyPr wrap="square"/>
                    <a:lstStyle/>
                    <a:p>
                      <a:r>
                        <a:rPr sz="1600" b="0">
                          <a:solidFill>
                            <a:srgbClr val="202122"/>
                          </a:solidFill>
                          <a:latin typeface="Calibri"/>
                        </a:rPr>
                        <a:t>Shares resources and manages users</a:t>
                      </a:r>
                    </a:p>
                  </a:txBody>
                  <a:tcPr marL="91440" marR="91440" anchor="ctr">
                    <a:solidFill>
                      <a:srgbClr val="EAF3FF"/>
                    </a:solidFill>
                  </a:tcPr>
                </a:tc>
              </a:tr>
              <a:tr h="662940">
                <a:tc>
                  <a:txBody>
                    <a:bodyPr wrap="square"/>
                    <a:lstStyle/>
                    <a:p>
                      <a:r>
                        <a:rPr sz="1600" b="1">
                          <a:solidFill>
                            <a:srgbClr val="03306E"/>
                          </a:solidFill>
                          <a:latin typeface="Calibri"/>
                        </a:rPr>
                        <a:t>Mobile</a:t>
                      </a:r>
                    </a:p>
                  </a:txBody>
                  <a:tcPr marL="91440" marR="91440" anchor="ctr">
                    <a:solidFill>
                      <a:srgbClr val="FFFFFF"/>
                    </a:solidFill>
                  </a:tcPr>
                </a:tc>
                <a:tc>
                  <a:txBody>
                    <a:bodyPr wrap="square"/>
                    <a:lstStyle/>
                    <a:p>
                      <a:r>
                        <a:rPr sz="1600" b="0">
                          <a:solidFill>
                            <a:srgbClr val="202122"/>
                          </a:solidFill>
                          <a:latin typeface="Calibri"/>
                        </a:rPr>
                        <a:t>Low processing needs, long battery life</a:t>
                      </a:r>
                    </a:p>
                  </a:txBody>
                  <a:tcPr marL="91440" marR="91440" anchor="ctr">
                    <a:solidFill>
                      <a:srgbClr val="FFFFFF"/>
                    </a:solidFill>
                  </a:tcPr>
                </a:tc>
              </a:tr>
            </a:tbl>
          </a:graphicData>
        </a:graphic>
      </p:graphicFrame>
      <p:sp>
        <p:nvSpPr>
          <p:cNvPr id="7" name="TextBox 6"/>
          <p:cNvSpPr txBox="1"/>
          <p:nvPr/>
        </p:nvSpPr>
        <p:spPr>
          <a:xfrm>
            <a:off x="548640" y="5715000"/>
            <a:ext cx="11094415" cy="457200"/>
          </a:xfrm>
          <a:prstGeom prst="rect">
            <a:avLst/>
          </a:prstGeom>
          <a:noFill/>
        </p:spPr>
        <p:txBody>
          <a:bodyPr wrap="square" anchor="t" lIns="0" rIns="0" tIns="0" bIns="0"/>
          <a:lstStyle/>
          <a:p>
            <a:pPr algn="l"/>
            <a:r>
              <a:rPr sz="1300" b="0" i="1">
                <a:solidFill>
                  <a:srgbClr val="54595D"/>
                </a:solidFill>
                <a:latin typeface="Calibri"/>
              </a:rPr>
              <a:t>Utilities: file management, defragmenters, compression, package managers, protection and backup software.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Code development tools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An IDE (integrated development environment) puts everything a developer needs in one place: an editor with syntax highlighting and auto-complete, debugging tools such as breakpoints and variable watches, and often screen design tools.</a:t>
            </a:r>
          </a:p>
          <a:p>
            <a:pPr>
              <a:spcAft>
                <a:spcPts val="1320"/>
              </a:spcAft>
            </a:pPr>
            <a:r>
              <a:rPr sz="2200" b="0">
                <a:solidFill>
                  <a:srgbClr val="202122"/>
                </a:solidFill>
                <a:latin typeface="Calibri"/>
              </a:rPr>
              <a:t>Code must be translated into machine code. A compiler translates the whole program in advance into an executable file, which then runs fast. An interpreter translates and runs code line by line, which is slower but makes testing and debugging easier.</a:t>
            </a:r>
          </a:p>
          <a:p>
            <a:pPr>
              <a:spcAft>
                <a:spcPts val="1320"/>
              </a:spcAft>
            </a:pPr>
            <a:r>
              <a:rPr sz="2200" b="0">
                <a:solidFill>
                  <a:srgbClr val="202122"/>
                </a:solidFill>
                <a:latin typeface="Calibri"/>
              </a:rPr>
              <a:t>Python is usually interpreted; C# is compiled.</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Setting a breakpoint in an IDE pauses the program on a chosen line, so you can inspect every variable and step through the code.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Code development tools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IDE</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Editor with syntax highlighting</a:t>
            </a:r>
          </a:p>
          <a:p>
            <a:pPr marL="274320" indent="-274320">
              <a:spcAft>
                <a:spcPts val="990"/>
              </a:spcAft>
              <a:buClr>
                <a:srgbClr val="0645AD"/>
              </a:buClr>
              <a:buFont typeface="Arial"/>
              <a:buChar char="•"/>
            </a:pPr>
            <a:r>
              <a:rPr sz="2200" b="0">
                <a:solidFill>
                  <a:srgbClr val="202122"/>
                </a:solidFill>
                <a:latin typeface="Calibri"/>
              </a:rPr>
              <a:t>Debugging tools such as breakpoints</a:t>
            </a:r>
          </a:p>
          <a:p>
            <a:pPr marL="274320" indent="-274320">
              <a:spcAft>
                <a:spcPts val="990"/>
              </a:spcAft>
              <a:buClr>
                <a:srgbClr val="0645AD"/>
              </a:buClr>
              <a:buFont typeface="Arial"/>
              <a:buChar char="•"/>
            </a:pPr>
            <a:r>
              <a:rPr sz="2200" b="0">
                <a:solidFill>
                  <a:srgbClr val="202122"/>
                </a:solidFill>
                <a:latin typeface="Calibri"/>
              </a:rPr>
              <a:t>Screen design tools</a:t>
            </a:r>
          </a:p>
          <a:p>
            <a:pPr marL="274320" indent="-274320">
              <a:spcAft>
                <a:spcPts val="990"/>
              </a:spcAft>
              <a:buClr>
                <a:srgbClr val="0645AD"/>
              </a:buClr>
              <a:buFont typeface="Arial"/>
              <a:buChar char="•"/>
            </a:pPr>
            <a:r>
              <a:rPr sz="2200" b="0">
                <a:solidFill>
                  <a:srgbClr val="202122"/>
                </a:solidFill>
                <a:latin typeface="Calibri"/>
              </a:rPr>
              <a:t>Everything in one place</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Translators</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Compiler:</a:t>
            </a:r>
            <a:r>
              <a:rPr sz="2200" b="0">
                <a:solidFill>
                  <a:srgbClr val="202122"/>
                </a:solidFill>
                <a:latin typeface="Calibri"/>
              </a:rPr>
              <a:t> translates the whole program before it runs; fast to run</a:t>
            </a:r>
          </a:p>
          <a:p>
            <a:pPr marL="274320" indent="-274320">
              <a:spcAft>
                <a:spcPts val="990"/>
              </a:spcAft>
              <a:buClr>
                <a:srgbClr val="0645AD"/>
              </a:buClr>
              <a:buFont typeface="Arial"/>
              <a:buChar char="•"/>
            </a:pPr>
            <a:r>
              <a:rPr sz="2200" b="1">
                <a:solidFill>
                  <a:srgbClr val="202122"/>
                </a:solidFill>
                <a:latin typeface="Calibri"/>
              </a:rPr>
              <a:t>Interpreter:</a:t>
            </a:r>
            <a:r>
              <a:rPr sz="2200" b="0">
                <a:solidFill>
                  <a:srgbClr val="202122"/>
                </a:solidFill>
                <a:latin typeface="Calibri"/>
              </a:rPr>
              <a:t> translates and runs line by line; easier to debug</a:t>
            </a:r>
          </a:p>
          <a:p>
            <a:pPr marL="274320" indent="-274320">
              <a:spcAft>
                <a:spcPts val="990"/>
              </a:spcAft>
              <a:buClr>
                <a:srgbClr val="0645AD"/>
              </a:buClr>
              <a:buFont typeface="Arial"/>
              <a:buChar char="•"/>
            </a:pPr>
            <a:r>
              <a:rPr sz="2200" b="0">
                <a:solidFill>
                  <a:srgbClr val="202122"/>
                </a:solidFill>
                <a:latin typeface="Calibri"/>
              </a:rPr>
              <a:t>Python is usually interpreted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Code development tools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the difference between a compiler and an interpreter?</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Name two IDE features.</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Is Python usually compiled or interpreted?</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Which memory is volatile?</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Which OS type would control a pacemaker?</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What is the difference between a compiler and an interpreter?</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Name two features of an 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Which memory is volatile?</a:t>
            </a:r>
          </a:p>
          <a:p>
            <a:r>
              <a:rPr sz="1800" b="1">
                <a:solidFill>
                  <a:srgbClr val="03306E"/>
                </a:solidFill>
                <a:latin typeface="Calibri"/>
              </a:rPr>
              <a:t>RAM.</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Which OS type would control a pacemaker?</a:t>
            </a:r>
          </a:p>
          <a:p>
            <a:r>
              <a:rPr sz="1800" b="1">
                <a:solidFill>
                  <a:srgbClr val="03306E"/>
                </a:solidFill>
                <a:latin typeface="Calibri"/>
              </a:rPr>
              <a:t>Real-time.</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What is the difference between a compiler and an interpreter?</a:t>
            </a:r>
          </a:p>
          <a:p>
            <a:r>
              <a:rPr sz="1800" b="1">
                <a:solidFill>
                  <a:srgbClr val="03306E"/>
                </a:solidFill>
                <a:latin typeface="Calibri"/>
              </a:rPr>
              <a:t>A compiler translates the whole program first; an interpreter translates and runs line by line.</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Name two features of an IDE.</a:t>
            </a:r>
          </a:p>
          <a:p>
            <a:r>
              <a:rPr sz="1800" b="1">
                <a:solidFill>
                  <a:srgbClr val="03306E"/>
                </a:solidFill>
                <a:latin typeface="Calibri"/>
              </a:rPr>
              <a:t>Any two of: editor, debugger, screen design, syntax highlighting.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Choose a development setup</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Three projects: a mobile game, a data analysis script, and a system for a factory robot.</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Choose hardware, an OS type and a language approach for each.</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Choose development tools.</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Justify each choice.</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OS type matches the use</a:t>
            </a:r>
          </a:p>
          <a:p>
            <a:pPr marL="274320" indent="-274320">
              <a:spcAft>
                <a:spcPts val="810"/>
              </a:spcAft>
              <a:buClr>
                <a:srgbClr val="0645AD"/>
              </a:buClr>
              <a:buFont typeface="Arial"/>
              <a:buChar char="•"/>
            </a:pPr>
            <a:r>
              <a:rPr sz="1800" b="0">
                <a:solidFill>
                  <a:srgbClr val="202122"/>
                </a:solidFill>
                <a:latin typeface="Calibri"/>
              </a:rPr>
              <a:t>Compiled or interpreted choice justified</a:t>
            </a:r>
          </a:p>
          <a:p>
            <a:pPr marL="274320" indent="-274320">
              <a:spcAft>
                <a:spcPts val="810"/>
              </a:spcAft>
              <a:buClr>
                <a:srgbClr val="0645AD"/>
              </a:buClr>
              <a:buFont typeface="Arial"/>
              <a:buChar char="•"/>
            </a:pPr>
            <a:r>
              <a:rPr sz="1800" b="0">
                <a:solidFill>
                  <a:srgbClr val="202122"/>
                </a:solidFill>
                <a:latin typeface="Calibri"/>
              </a:rPr>
              <a:t>Hardware realistic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Why might a developer prefer an interpreter while testing?</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What does a package manager do?</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Name one embedded device you used today.</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2: Business Context, Data, Digital Environments and Security</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https://lana6478.github.io/T-level-Digital-Software-Development/#/01-core-component/02-core-paper-2.md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Hardware and Software</dc:title>
  <dc:subject>Digital Software Development T Level: Core Paper 2</dc:subject>
  <dc:creator>Samuel O'Connell</dc:creator>
  <cp:keywords>T Level; Digital Software Development; lesson slides; 7.1, 7.2</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