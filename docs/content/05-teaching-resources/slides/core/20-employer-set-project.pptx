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40%.</a:t>
            </a:r>
          </a:p>
          <a:p>
            <a:r>
              <a:t>2. No.</a:t>
            </a:r>
          </a:p>
          <a:p>
            <a:r>
              <a:t>3. It's externally marked.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Valid, valid extreme, invalid, invalid extreme, erroneous.</a:t>
            </a:r>
          </a:p>
          <a:p>
            <a:r>
              <a:t>2. A third party to build the solution.</a:t>
            </a:r>
          </a:p>
          <a:p>
            <a:r>
              <a:t>3. E.g. functions, meaningful names, comments, exception handling.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The Employer Set Project</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Component</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Employer Set Project</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Software Development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Component</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Employer Set Project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4028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14400"/>
          </a:xfrm>
          <a:prstGeom prst="rect">
            <a:avLst/>
          </a:prstGeom>
          <a:noFill/>
        </p:spPr>
        <p:txBody>
          <a:bodyPr wrap="square" anchor="ctr" lIns="0" rIns="0" tIns="0" bIns="0"/>
          <a:lstStyle/>
          <a:p>
            <a:pPr algn="l"/>
            <a:r>
              <a:rPr sz="2000" b="0" i="0">
                <a:solidFill>
                  <a:srgbClr val="202122"/>
                </a:solidFill>
                <a:latin typeface="Calibri"/>
              </a:rPr>
              <a:t>Explain the weighting and conditions of the Employer Set Project.</a:t>
            </a:r>
          </a:p>
        </p:txBody>
      </p:sp>
      <p:sp>
        <p:nvSpPr>
          <p:cNvPr id="9" name="Oval 8"/>
          <p:cNvSpPr/>
          <p:nvPr/>
        </p:nvSpPr>
        <p:spPr>
          <a:xfrm>
            <a:off x="548640" y="329184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63240"/>
            <a:ext cx="6035040" cy="914400"/>
          </a:xfrm>
          <a:prstGeom prst="rect">
            <a:avLst/>
          </a:prstGeom>
          <a:noFill/>
        </p:spPr>
        <p:txBody>
          <a:bodyPr wrap="square" anchor="ctr" lIns="0" rIns="0" tIns="0" bIns="0"/>
          <a:lstStyle/>
          <a:p>
            <a:pPr algn="l"/>
            <a:r>
              <a:rPr sz="2000" b="0" i="0">
                <a:solidFill>
                  <a:srgbClr val="202122"/>
                </a:solidFill>
                <a:latin typeface="Calibri"/>
              </a:rPr>
              <a:t>Describe what each task requires.</a:t>
            </a:r>
          </a:p>
        </p:txBody>
      </p:sp>
      <p:sp>
        <p:nvSpPr>
          <p:cNvPr id="11" name="Oval 10"/>
          <p:cNvSpPr/>
          <p:nvPr/>
        </p:nvSpPr>
        <p:spPr>
          <a:xfrm>
            <a:off x="548640" y="43434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114800"/>
            <a:ext cx="6035040" cy="914400"/>
          </a:xfrm>
          <a:prstGeom prst="rect">
            <a:avLst/>
          </a:prstGeom>
          <a:noFill/>
        </p:spPr>
        <p:txBody>
          <a:bodyPr wrap="square" anchor="ctr" lIns="0" rIns="0" tIns="0" bIns="0"/>
          <a:lstStyle/>
          <a:p>
            <a:pPr algn="l"/>
            <a:r>
              <a:rPr sz="2000" b="0" i="0">
                <a:solidFill>
                  <a:srgbClr val="202122"/>
                </a:solidFill>
                <a:latin typeface="Calibri"/>
              </a:rPr>
              <a:t>Plan how to prepare for each task.</a:t>
            </a:r>
          </a:p>
        </p:txBody>
      </p:sp>
      <p:sp>
        <p:nvSpPr>
          <p:cNvPr id="13" name="Rounded Rectangle 12"/>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5" name="TextBox 14"/>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In the ESP you cannot use the internet or AI tools. Which skills do you need to have practised beforehand?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Component</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What is the ESP?</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Employer Set Project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The Employer Set Project is worth 40% of the core assessments (100 marks) and takes up to 14 hours 30 minutes across several sessions.</a:t>
            </a:r>
          </a:p>
          <a:p>
            <a:pPr>
              <a:spcAft>
                <a:spcPts val="1320"/>
              </a:spcAft>
            </a:pPr>
            <a:r>
              <a:rPr sz="2200" b="0">
                <a:solidFill>
                  <a:srgbClr val="202122"/>
                </a:solidFill>
                <a:latin typeface="Calibri"/>
              </a:rPr>
              <a:t>It's set and marked externally and responds to a realistic vocational brief, drawing on everything in the core. You can't use the internet or AI tools during the assessed sessions, so the Python you need has to be in your head.</a:t>
            </a:r>
          </a:p>
          <a:p>
            <a:pPr>
              <a:spcAft>
                <a:spcPts val="1320"/>
              </a:spcAft>
            </a:pPr>
            <a:r>
              <a:rPr sz="2200" b="0">
                <a:solidFill>
                  <a:srgbClr val="202122"/>
                </a:solidFill>
                <a:latin typeface="Calibri"/>
              </a:rPr>
              <a:t>The order and detail of the tasks can change each series, but the number and focus stay the same.</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The specimen brief was set in the financial sector: planning, fixing and building software for a fictional finance company.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Component</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What is the ESP?</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Employer Set Project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TextBox 5"/>
          <p:cNvSpPr txBox="1"/>
          <p:nvPr/>
        </p:nvSpPr>
        <p:spPr>
          <a:xfrm>
            <a:off x="548640" y="1600200"/>
            <a:ext cx="6675120" cy="4572000"/>
          </a:xfrm>
          <a:prstGeom prst="rect">
            <a:avLst/>
          </a:prstGeom>
          <a:noFill/>
        </p:spPr>
        <p:txBody>
          <a:bodyPr wrap="square" lIns="0" rIns="0" tIns="0" bIns="0">
            <a:spAutoFit/>
          </a:bodyPr>
          <a:lstStyle/>
          <a:p>
            <a:pPr marL="274320" indent="-274320">
              <a:spcAft>
                <a:spcPts val="1080"/>
              </a:spcAft>
              <a:buClr>
                <a:srgbClr val="0645AD"/>
              </a:buClr>
              <a:buFont typeface="Arial"/>
              <a:buChar char="•"/>
            </a:pPr>
            <a:r>
              <a:rPr sz="2400" b="0">
                <a:solidFill>
                  <a:srgbClr val="202122"/>
                </a:solidFill>
                <a:latin typeface="Calibri"/>
              </a:rPr>
              <a:t>40% of the core assessments, 100 marks.</a:t>
            </a:r>
          </a:p>
          <a:p>
            <a:pPr marL="274320" indent="-274320">
              <a:spcAft>
                <a:spcPts val="1080"/>
              </a:spcAft>
              <a:buClr>
                <a:srgbClr val="0645AD"/>
              </a:buClr>
              <a:buFont typeface="Arial"/>
              <a:buChar char="•"/>
            </a:pPr>
            <a:r>
              <a:rPr sz="2400" b="0">
                <a:solidFill>
                  <a:srgbClr val="202122"/>
                </a:solidFill>
                <a:latin typeface="Calibri"/>
              </a:rPr>
              <a:t>Up to 14 hours 30 minutes across several sessions.</a:t>
            </a:r>
          </a:p>
          <a:p>
            <a:pPr marL="274320" indent="-274320">
              <a:spcAft>
                <a:spcPts val="1080"/>
              </a:spcAft>
              <a:buClr>
                <a:srgbClr val="0645AD"/>
              </a:buClr>
              <a:buFont typeface="Arial"/>
              <a:buChar char="•"/>
            </a:pPr>
            <a:r>
              <a:rPr sz="2400" b="0">
                <a:solidFill>
                  <a:srgbClr val="202122"/>
                </a:solidFill>
                <a:latin typeface="Calibri"/>
              </a:rPr>
              <a:t>A realistic vocational brief, externally set and marked.</a:t>
            </a:r>
          </a:p>
          <a:p>
            <a:pPr marL="274320" indent="-274320">
              <a:spcAft>
                <a:spcPts val="1080"/>
              </a:spcAft>
              <a:buClr>
                <a:srgbClr val="0645AD"/>
              </a:buClr>
              <a:buFont typeface="Arial"/>
              <a:buChar char="•"/>
            </a:pPr>
            <a:r>
              <a:rPr sz="2400" b="0">
                <a:solidFill>
                  <a:srgbClr val="202122"/>
                </a:solidFill>
                <a:latin typeface="Calibri"/>
              </a:rPr>
              <a:t>No internet access or AI tools during assessed sessions.</a:t>
            </a:r>
          </a:p>
        </p:txBody>
      </p:sp>
      <p:sp>
        <p:nvSpPr>
          <p:cNvPr id="7" name="Rounded Rectangle 6"/>
          <p:cNvSpPr/>
          <p:nvPr/>
        </p:nvSpPr>
        <p:spPr>
          <a:xfrm>
            <a:off x="7772400" y="1600200"/>
            <a:ext cx="3867912" cy="443484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74519"/>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a:t>
            </a:r>
          </a:p>
        </p:txBody>
      </p:sp>
      <p:sp>
        <p:nvSpPr>
          <p:cNvPr id="9" name="TextBox 8"/>
          <p:cNvSpPr txBox="1"/>
          <p:nvPr/>
        </p:nvSpPr>
        <p:spPr>
          <a:xfrm>
            <a:off x="8046720" y="2606040"/>
            <a:ext cx="3291840" cy="365760"/>
          </a:xfrm>
          <a:prstGeom prst="rect">
            <a:avLst/>
          </a:prstGeom>
          <a:noFill/>
        </p:spPr>
        <p:txBody>
          <a:bodyPr wrap="square" anchor="t" lIns="0" rIns="0" tIns="0" bIns="0"/>
          <a:lstStyle/>
          <a:p>
            <a:pPr algn="l"/>
            <a:r>
              <a:rPr sz="1300" b="1" i="0">
                <a:solidFill>
                  <a:srgbClr val="A9C8F0"/>
                </a:solidFill>
                <a:latin typeface="Calibri"/>
              </a:rPr>
              <a:t>KEY IDEA</a:t>
            </a:r>
          </a:p>
        </p:txBody>
      </p:sp>
      <p:sp>
        <p:nvSpPr>
          <p:cNvPr id="10" name="TextBox 9"/>
          <p:cNvSpPr txBox="1"/>
          <p:nvPr/>
        </p:nvSpPr>
        <p:spPr>
          <a:xfrm>
            <a:off x="8046720" y="3017520"/>
            <a:ext cx="3291840" cy="2926080"/>
          </a:xfrm>
          <a:prstGeom prst="rect">
            <a:avLst/>
          </a:prstGeom>
          <a:noFill/>
        </p:spPr>
        <p:txBody>
          <a:bodyPr wrap="square" anchor="t" lIns="0" rIns="0" tIns="0" bIns="0"/>
          <a:lstStyle/>
          <a:p>
            <a:pPr algn="l"/>
            <a:r>
              <a:rPr sz="2200" b="0" i="0">
                <a:solidFill>
                  <a:srgbClr val="FFFFFF"/>
                </a:solidFill>
                <a:latin typeface="Cambria"/>
              </a:rPr>
              <a:t>The order and detail of tasks can change each series, but the number and focus of tasks stay the same.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Component</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What is the ESP?</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Employer Set Project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percentage of the core assessments is the ESP?</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Can you use the internet during the ESP?</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Who marks the ESP?</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Component</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tasks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Employer Set Project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Rectangle 5"/>
          <p:cNvSpPr/>
          <p:nvPr/>
        </p:nvSpPr>
        <p:spPr>
          <a:xfrm>
            <a:off x="1416024" y="2656332"/>
            <a:ext cx="9359646"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95984" y="235458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3131820"/>
            <a:ext cx="1734769" cy="731520"/>
          </a:xfrm>
          <a:prstGeom prst="rect">
            <a:avLst/>
          </a:prstGeom>
          <a:noFill/>
        </p:spPr>
        <p:txBody>
          <a:bodyPr wrap="square" anchor="t" lIns="0" rIns="0" tIns="0" bIns="0"/>
          <a:lstStyle/>
          <a:p>
            <a:pPr algn="ctr"/>
            <a:r>
              <a:rPr sz="1700" b="1" i="0">
                <a:solidFill>
                  <a:srgbClr val="03306E"/>
                </a:solidFill>
                <a:latin typeface="Calibri"/>
              </a:rPr>
              <a:t>Pre-task</a:t>
            </a:r>
          </a:p>
        </p:txBody>
      </p:sp>
      <p:sp>
        <p:nvSpPr>
          <p:cNvPr id="9" name="Rounded Rectangle 8"/>
          <p:cNvSpPr/>
          <p:nvPr/>
        </p:nvSpPr>
        <p:spPr>
          <a:xfrm>
            <a:off x="548640" y="3909060"/>
            <a:ext cx="1734769"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046220"/>
            <a:ext cx="1460449" cy="1234439"/>
          </a:xfrm>
          <a:prstGeom prst="rect">
            <a:avLst/>
          </a:prstGeom>
          <a:noFill/>
        </p:spPr>
        <p:txBody>
          <a:bodyPr wrap="square" anchor="t" lIns="0" rIns="0" tIns="0" bIns="0"/>
          <a:lstStyle/>
          <a:p>
            <a:pPr algn="l"/>
            <a:r>
              <a:rPr sz="1800" b="0" i="0">
                <a:solidFill>
                  <a:srgbClr val="202122"/>
                </a:solidFill>
                <a:latin typeface="Calibri"/>
              </a:rPr>
              <a:t>Research the industry context. Not assessed.</a:t>
            </a:r>
          </a:p>
        </p:txBody>
      </p:sp>
      <p:sp>
        <p:nvSpPr>
          <p:cNvPr id="11" name="Oval 10"/>
          <p:cNvSpPr/>
          <p:nvPr/>
        </p:nvSpPr>
        <p:spPr>
          <a:xfrm>
            <a:off x="2967913" y="235458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2420569" y="3131820"/>
            <a:ext cx="1734769" cy="731520"/>
          </a:xfrm>
          <a:prstGeom prst="rect">
            <a:avLst/>
          </a:prstGeom>
          <a:noFill/>
        </p:spPr>
        <p:txBody>
          <a:bodyPr wrap="square" anchor="t" lIns="0" rIns="0" tIns="0" bIns="0"/>
          <a:lstStyle/>
          <a:p>
            <a:pPr algn="ctr"/>
            <a:r>
              <a:rPr sz="1700" b="1" i="0">
                <a:solidFill>
                  <a:srgbClr val="03306E"/>
                </a:solidFill>
                <a:latin typeface="Calibri"/>
              </a:rPr>
              <a:t>Task 1</a:t>
            </a:r>
          </a:p>
        </p:txBody>
      </p:sp>
      <p:sp>
        <p:nvSpPr>
          <p:cNvPr id="13" name="Rounded Rectangle 12"/>
          <p:cNvSpPr/>
          <p:nvPr/>
        </p:nvSpPr>
        <p:spPr>
          <a:xfrm>
            <a:off x="2420569" y="3909060"/>
            <a:ext cx="1734769"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557729" y="4046220"/>
            <a:ext cx="1460449" cy="1234439"/>
          </a:xfrm>
          <a:prstGeom prst="rect">
            <a:avLst/>
          </a:prstGeom>
          <a:noFill/>
        </p:spPr>
        <p:txBody>
          <a:bodyPr wrap="square" anchor="t" lIns="0" rIns="0" tIns="0" bIns="0"/>
          <a:lstStyle/>
          <a:p>
            <a:pPr algn="l"/>
            <a:r>
              <a:rPr sz="1800" b="0" i="0">
                <a:solidFill>
                  <a:srgbClr val="202122"/>
                </a:solidFill>
                <a:latin typeface="Calibri"/>
              </a:rPr>
              <a:t>Gantt chart, resource and cost plan, rationale.</a:t>
            </a:r>
          </a:p>
        </p:txBody>
      </p:sp>
      <p:sp>
        <p:nvSpPr>
          <p:cNvPr id="15" name="Oval 14"/>
          <p:cNvSpPr/>
          <p:nvPr/>
        </p:nvSpPr>
        <p:spPr>
          <a:xfrm>
            <a:off x="4839843" y="235458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4292498" y="3131820"/>
            <a:ext cx="1734769" cy="731520"/>
          </a:xfrm>
          <a:prstGeom prst="rect">
            <a:avLst/>
          </a:prstGeom>
          <a:noFill/>
        </p:spPr>
        <p:txBody>
          <a:bodyPr wrap="square" anchor="t" lIns="0" rIns="0" tIns="0" bIns="0"/>
          <a:lstStyle/>
          <a:p>
            <a:pPr algn="ctr"/>
            <a:r>
              <a:rPr sz="1700" b="1" i="0">
                <a:solidFill>
                  <a:srgbClr val="03306E"/>
                </a:solidFill>
                <a:latin typeface="Calibri"/>
              </a:rPr>
              <a:t>Task 2</a:t>
            </a:r>
          </a:p>
        </p:txBody>
      </p:sp>
      <p:sp>
        <p:nvSpPr>
          <p:cNvPr id="17" name="Rounded Rectangle 16"/>
          <p:cNvSpPr/>
          <p:nvPr/>
        </p:nvSpPr>
        <p:spPr>
          <a:xfrm>
            <a:off x="4292498" y="3909060"/>
            <a:ext cx="1734769"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29658" y="4046220"/>
            <a:ext cx="1460449" cy="1234439"/>
          </a:xfrm>
          <a:prstGeom prst="rect">
            <a:avLst/>
          </a:prstGeom>
          <a:noFill/>
        </p:spPr>
        <p:txBody>
          <a:bodyPr wrap="square" anchor="t" lIns="0" rIns="0" tIns="0" bIns="0"/>
          <a:lstStyle/>
          <a:p>
            <a:pPr algn="l"/>
            <a:r>
              <a:rPr sz="1800" b="0" i="0">
                <a:solidFill>
                  <a:srgbClr val="202122"/>
                </a:solidFill>
                <a:latin typeface="Calibri"/>
              </a:rPr>
              <a:t>Test and fix defects in existing code.</a:t>
            </a:r>
          </a:p>
        </p:txBody>
      </p:sp>
      <p:sp>
        <p:nvSpPr>
          <p:cNvPr id="19" name="Oval 18"/>
          <p:cNvSpPr/>
          <p:nvPr/>
        </p:nvSpPr>
        <p:spPr>
          <a:xfrm>
            <a:off x="6711772" y="235458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6164427" y="3131820"/>
            <a:ext cx="1734769" cy="731520"/>
          </a:xfrm>
          <a:prstGeom prst="rect">
            <a:avLst/>
          </a:prstGeom>
          <a:noFill/>
        </p:spPr>
        <p:txBody>
          <a:bodyPr wrap="square" anchor="t" lIns="0" rIns="0" tIns="0" bIns="0"/>
          <a:lstStyle/>
          <a:p>
            <a:pPr algn="ctr"/>
            <a:r>
              <a:rPr sz="1700" b="1" i="0">
                <a:solidFill>
                  <a:srgbClr val="03306E"/>
                </a:solidFill>
                <a:latin typeface="Calibri"/>
              </a:rPr>
              <a:t>Task 3</a:t>
            </a:r>
          </a:p>
        </p:txBody>
      </p:sp>
      <p:sp>
        <p:nvSpPr>
          <p:cNvPr id="21" name="Rounded Rectangle 20"/>
          <p:cNvSpPr/>
          <p:nvPr/>
        </p:nvSpPr>
        <p:spPr>
          <a:xfrm>
            <a:off x="6164427" y="3909060"/>
            <a:ext cx="1734769"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01587" y="4046220"/>
            <a:ext cx="1460449" cy="1234439"/>
          </a:xfrm>
          <a:prstGeom prst="rect">
            <a:avLst/>
          </a:prstGeom>
          <a:noFill/>
        </p:spPr>
        <p:txBody>
          <a:bodyPr wrap="square" anchor="t" lIns="0" rIns="0" tIns="0" bIns="0"/>
          <a:lstStyle/>
          <a:p>
            <a:pPr algn="l"/>
            <a:r>
              <a:rPr sz="1800" b="0" i="0">
                <a:solidFill>
                  <a:srgbClr val="202122"/>
                </a:solidFill>
                <a:latin typeface="Calibri"/>
              </a:rPr>
              <a:t>Decompose and design a solution.</a:t>
            </a:r>
          </a:p>
        </p:txBody>
      </p:sp>
      <p:sp>
        <p:nvSpPr>
          <p:cNvPr id="23" name="Oval 22"/>
          <p:cNvSpPr/>
          <p:nvPr/>
        </p:nvSpPr>
        <p:spPr>
          <a:xfrm>
            <a:off x="8583701" y="235458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5</a:t>
            </a:r>
          </a:p>
        </p:txBody>
      </p:sp>
      <p:sp>
        <p:nvSpPr>
          <p:cNvPr id="24" name="TextBox 23"/>
          <p:cNvSpPr txBox="1"/>
          <p:nvPr/>
        </p:nvSpPr>
        <p:spPr>
          <a:xfrm>
            <a:off x="8036356" y="3131820"/>
            <a:ext cx="1734769" cy="731520"/>
          </a:xfrm>
          <a:prstGeom prst="rect">
            <a:avLst/>
          </a:prstGeom>
          <a:noFill/>
        </p:spPr>
        <p:txBody>
          <a:bodyPr wrap="square" anchor="t" lIns="0" rIns="0" tIns="0" bIns="0"/>
          <a:lstStyle/>
          <a:p>
            <a:pPr algn="ctr"/>
            <a:r>
              <a:rPr sz="1700" b="1" i="0">
                <a:solidFill>
                  <a:srgbClr val="03306E"/>
                </a:solidFill>
                <a:latin typeface="Calibri"/>
              </a:rPr>
              <a:t>Task 4a</a:t>
            </a:r>
          </a:p>
        </p:txBody>
      </p:sp>
      <p:sp>
        <p:nvSpPr>
          <p:cNvPr id="25" name="Rounded Rectangle 24"/>
          <p:cNvSpPr/>
          <p:nvPr/>
        </p:nvSpPr>
        <p:spPr>
          <a:xfrm>
            <a:off x="8036356" y="3909060"/>
            <a:ext cx="1734769"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73516" y="4046220"/>
            <a:ext cx="1460449" cy="1234439"/>
          </a:xfrm>
          <a:prstGeom prst="rect">
            <a:avLst/>
          </a:prstGeom>
          <a:noFill/>
        </p:spPr>
        <p:txBody>
          <a:bodyPr wrap="square" anchor="t" lIns="0" rIns="0" tIns="0" bIns="0"/>
          <a:lstStyle/>
          <a:p>
            <a:pPr algn="l"/>
            <a:r>
              <a:rPr sz="1800" b="0" i="0">
                <a:solidFill>
                  <a:srgbClr val="202122"/>
                </a:solidFill>
                <a:latin typeface="Calibri"/>
              </a:rPr>
              <a:t>Develop the solution in Python.</a:t>
            </a:r>
          </a:p>
        </p:txBody>
      </p:sp>
      <p:sp>
        <p:nvSpPr>
          <p:cNvPr id="27" name="Oval 26"/>
          <p:cNvSpPr/>
          <p:nvPr/>
        </p:nvSpPr>
        <p:spPr>
          <a:xfrm>
            <a:off x="10455630" y="235458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6</a:t>
            </a:r>
          </a:p>
        </p:txBody>
      </p:sp>
      <p:sp>
        <p:nvSpPr>
          <p:cNvPr id="28" name="TextBox 27"/>
          <p:cNvSpPr txBox="1"/>
          <p:nvPr/>
        </p:nvSpPr>
        <p:spPr>
          <a:xfrm>
            <a:off x="9908286" y="3131820"/>
            <a:ext cx="1734769" cy="731520"/>
          </a:xfrm>
          <a:prstGeom prst="rect">
            <a:avLst/>
          </a:prstGeom>
          <a:noFill/>
        </p:spPr>
        <p:txBody>
          <a:bodyPr wrap="square" anchor="t" lIns="0" rIns="0" tIns="0" bIns="0"/>
          <a:lstStyle/>
          <a:p>
            <a:pPr algn="ctr"/>
            <a:r>
              <a:rPr sz="1700" b="1" i="0">
                <a:solidFill>
                  <a:srgbClr val="03306E"/>
                </a:solidFill>
                <a:latin typeface="Calibri"/>
              </a:rPr>
              <a:t>Task 4b</a:t>
            </a:r>
          </a:p>
        </p:txBody>
      </p:sp>
      <p:sp>
        <p:nvSpPr>
          <p:cNvPr id="29" name="Rounded Rectangle 28"/>
          <p:cNvSpPr/>
          <p:nvPr/>
        </p:nvSpPr>
        <p:spPr>
          <a:xfrm>
            <a:off x="9908286" y="3909060"/>
            <a:ext cx="1734769"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45446" y="4046220"/>
            <a:ext cx="1460449" cy="1234439"/>
          </a:xfrm>
          <a:prstGeom prst="rect">
            <a:avLst/>
          </a:prstGeom>
          <a:noFill/>
        </p:spPr>
        <p:txBody>
          <a:bodyPr wrap="square" anchor="t" lIns="0" rIns="0" tIns="0" bIns="0"/>
          <a:lstStyle/>
          <a:p>
            <a:pPr algn="l"/>
            <a:r>
              <a:rPr sz="1800" b="0" i="0">
                <a:solidFill>
                  <a:srgbClr val="202122"/>
                </a:solidFill>
                <a:latin typeface="Calibri"/>
              </a:rPr>
              <a:t>Reflective evaluation.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Component</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What earns marks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Employer Set Project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140"/>
              </a:spcAft>
            </a:pPr>
            <a:r>
              <a:rPr sz="1900" b="0">
                <a:solidFill>
                  <a:srgbClr val="202122"/>
                </a:solidFill>
                <a:latin typeface="Calibri"/>
              </a:rPr>
              <a:t>Each task rewards specific things.</a:t>
            </a:r>
          </a:p>
          <a:p>
            <a:pPr>
              <a:spcAft>
                <a:spcPts val="1140"/>
              </a:spcAft>
            </a:pPr>
            <a:r>
              <a:rPr sz="1900" b="1">
                <a:solidFill>
                  <a:srgbClr val="202122"/>
                </a:solidFill>
                <a:latin typeface="Calibri"/>
              </a:rPr>
              <a:t>Task 2 (fix defects):</a:t>
            </a:r>
            <a:r>
              <a:rPr sz="1900" b="0">
                <a:solidFill>
                  <a:srgbClr val="202122"/>
                </a:solidFill>
                <a:latin typeface="Calibri"/>
              </a:rPr>
              <a:t> a documented testing process covering each test, its purpose, the test data (valid, valid extreme, invalid, invalid extreme and erroneous), expected and actual results, and the fixes made.</a:t>
            </a:r>
          </a:p>
          <a:p>
            <a:pPr>
              <a:spcAft>
                <a:spcPts val="1140"/>
              </a:spcAft>
            </a:pPr>
            <a:r>
              <a:rPr sz="1900" b="1">
                <a:solidFill>
                  <a:srgbClr val="202122"/>
                </a:solidFill>
                <a:latin typeface="Calibri"/>
              </a:rPr>
              <a:t>Task 3 (design):</a:t>
            </a:r>
            <a:r>
              <a:rPr sz="1900" b="0">
                <a:solidFill>
                  <a:srgbClr val="202122"/>
                </a:solidFill>
                <a:latin typeface="Calibri"/>
              </a:rPr>
              <a:t> good decomposition, clear algorithms, correct flowchart symbols or code conventions, and a design detailed enough for a third party to build.</a:t>
            </a:r>
          </a:p>
          <a:p>
            <a:pPr>
              <a:spcAft>
                <a:spcPts val="1140"/>
              </a:spcAft>
            </a:pPr>
            <a:r>
              <a:rPr sz="1900" b="1">
                <a:solidFill>
                  <a:srgbClr val="202122"/>
                </a:solidFill>
                <a:latin typeface="Calibri"/>
              </a:rPr>
              <a:t>Task 4a (develop):</a:t>
            </a:r>
            <a:r>
              <a:rPr sz="1900" b="0">
                <a:solidFill>
                  <a:srgbClr val="202122"/>
                </a:solidFill>
                <a:latin typeface="Calibri"/>
              </a:rPr>
              <a:t> functions, meaningful names, comments, mostly local variables, constants, exception handling and a good user experience, including graphs with Matplotlib.</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Two programs that work equally well can score very differently: the one with functions, clear names, comments and error handling scores higher.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Component</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What earns marks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Employer Set Project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Task 2 testing</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Tests, purpose, valid, valid extreme, invalid, invalid extreme and erroneous data, expected and actual results.</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Task 3 design</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Good decomposition, clear algorithms, correct conventions, a design a third party could build.</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Task 4a code</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Functions, meaningful names, comments, local variables, constants, exception handling.</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User experience</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Simple input, meaningful messages, data visualisation with Matplotlib.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Component</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What earns marks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Employer Set Project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Name the five types of test data in Task 2.</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should a Task 3 design allow?</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Name three things markers look for in Task 4a code.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Component</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How to prepare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Employer Set Project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TextBox 5"/>
          <p:cNvSpPr txBox="1"/>
          <p:nvPr/>
        </p:nvSpPr>
        <p:spPr>
          <a:xfrm>
            <a:off x="548640" y="1600200"/>
            <a:ext cx="6675120" cy="4572000"/>
          </a:xfrm>
          <a:prstGeom prst="rect">
            <a:avLst/>
          </a:prstGeom>
          <a:noFill/>
        </p:spPr>
        <p:txBody>
          <a:bodyPr wrap="square" lIns="0" rIns="0" tIns="0" bIns="0">
            <a:spAutoFit/>
          </a:bodyPr>
          <a:lstStyle/>
          <a:p>
            <a:pPr marL="274320" indent="-274320">
              <a:spcAft>
                <a:spcPts val="1080"/>
              </a:spcAft>
              <a:buClr>
                <a:srgbClr val="0645AD"/>
              </a:buClr>
              <a:buFont typeface="Arial"/>
              <a:buChar char="•"/>
            </a:pPr>
            <a:r>
              <a:rPr sz="2400" b="0">
                <a:solidFill>
                  <a:srgbClr val="202122"/>
                </a:solidFill>
                <a:latin typeface="Calibri"/>
              </a:rPr>
              <a:t>Practise Gantt charts and cost plans against a deadline.</a:t>
            </a:r>
          </a:p>
          <a:p>
            <a:pPr marL="274320" indent="-274320">
              <a:spcAft>
                <a:spcPts val="1080"/>
              </a:spcAft>
              <a:buClr>
                <a:srgbClr val="0645AD"/>
              </a:buClr>
              <a:buFont typeface="Arial"/>
              <a:buChar char="•"/>
            </a:pPr>
            <a:r>
              <a:rPr sz="2400" b="0">
                <a:solidFill>
                  <a:srgbClr val="202122"/>
                </a:solidFill>
                <a:latin typeface="Calibri"/>
              </a:rPr>
              <a:t>Practise finding and fixing bugs in code you did not write.</a:t>
            </a:r>
          </a:p>
          <a:p>
            <a:pPr marL="274320" indent="-274320">
              <a:spcAft>
                <a:spcPts val="1080"/>
              </a:spcAft>
              <a:buClr>
                <a:srgbClr val="0645AD"/>
              </a:buClr>
              <a:buFont typeface="Arial"/>
              <a:buChar char="•"/>
            </a:pPr>
            <a:r>
              <a:rPr sz="2400" b="0">
                <a:solidFill>
                  <a:srgbClr val="202122"/>
                </a:solidFill>
                <a:latin typeface="Calibri"/>
              </a:rPr>
              <a:t>Get fluent with pandas and Matplotlib on CSV files.</a:t>
            </a:r>
          </a:p>
          <a:p>
            <a:pPr marL="274320" indent="-274320">
              <a:spcAft>
                <a:spcPts val="1080"/>
              </a:spcAft>
              <a:buClr>
                <a:srgbClr val="0645AD"/>
              </a:buClr>
              <a:buFont typeface="Arial"/>
              <a:buChar char="•"/>
            </a:pPr>
            <a:r>
              <a:rPr sz="2400" b="0">
                <a:solidFill>
                  <a:srgbClr val="202122"/>
                </a:solidFill>
                <a:latin typeface="Calibri"/>
              </a:rPr>
              <a:t>Practise flowcharts with correct symbols.</a:t>
            </a:r>
          </a:p>
          <a:p>
            <a:pPr marL="274320" indent="-274320">
              <a:spcAft>
                <a:spcPts val="1080"/>
              </a:spcAft>
              <a:buClr>
                <a:srgbClr val="0645AD"/>
              </a:buClr>
              <a:buFont typeface="Arial"/>
              <a:buChar char="•"/>
            </a:pPr>
            <a:r>
              <a:rPr sz="2400" b="0">
                <a:solidFill>
                  <a:srgbClr val="202122"/>
                </a:solidFill>
                <a:latin typeface="Calibri"/>
              </a:rPr>
              <a:t>Write reflections against success criteria.</a:t>
            </a:r>
          </a:p>
        </p:txBody>
      </p:sp>
      <p:sp>
        <p:nvSpPr>
          <p:cNvPr id="7" name="Rounded Rectangle 6"/>
          <p:cNvSpPr/>
          <p:nvPr/>
        </p:nvSpPr>
        <p:spPr>
          <a:xfrm>
            <a:off x="7772400" y="1600200"/>
            <a:ext cx="3867912" cy="443484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74519"/>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a:t>
            </a:r>
          </a:p>
        </p:txBody>
      </p:sp>
      <p:sp>
        <p:nvSpPr>
          <p:cNvPr id="9" name="TextBox 8"/>
          <p:cNvSpPr txBox="1"/>
          <p:nvPr/>
        </p:nvSpPr>
        <p:spPr>
          <a:xfrm>
            <a:off x="8046720" y="2606040"/>
            <a:ext cx="3291840" cy="365760"/>
          </a:xfrm>
          <a:prstGeom prst="rect">
            <a:avLst/>
          </a:prstGeom>
          <a:noFill/>
        </p:spPr>
        <p:txBody>
          <a:bodyPr wrap="square" anchor="t" lIns="0" rIns="0" tIns="0" bIns="0"/>
          <a:lstStyle/>
          <a:p>
            <a:pPr algn="l"/>
            <a:r>
              <a:rPr sz="1300" b="1" i="0">
                <a:solidFill>
                  <a:srgbClr val="A9C8F0"/>
                </a:solidFill>
                <a:latin typeface="Calibri"/>
              </a:rPr>
              <a:t>KEY IDEA</a:t>
            </a:r>
          </a:p>
        </p:txBody>
      </p:sp>
      <p:sp>
        <p:nvSpPr>
          <p:cNvPr id="10" name="TextBox 9"/>
          <p:cNvSpPr txBox="1"/>
          <p:nvPr/>
        </p:nvSpPr>
        <p:spPr>
          <a:xfrm>
            <a:off x="8046720" y="3017520"/>
            <a:ext cx="3291840" cy="2926080"/>
          </a:xfrm>
          <a:prstGeom prst="rect">
            <a:avLst/>
          </a:prstGeom>
          <a:noFill/>
        </p:spPr>
        <p:txBody>
          <a:bodyPr wrap="square" anchor="t" lIns="0" rIns="0" tIns="0" bIns="0"/>
          <a:lstStyle/>
          <a:p>
            <a:pPr algn="l"/>
            <a:r>
              <a:rPr sz="2200" b="0" i="0">
                <a:solidFill>
                  <a:srgbClr val="FFFFFF"/>
                </a:solidFill>
                <a:latin typeface="Cambria"/>
              </a:rPr>
              <a:t>With no internet, you need the Python reference in your head. Practise without looking things up.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Component</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Employer Set Project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What percentage of the core assessments is the ESP?</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Name the five types of test data in Task 2.</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Which library is suggested for graphs?</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What must a Task 3 design allow a third party to 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Component</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Employer Set Project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What percentage of the core assessments is the ESP?</a:t>
            </a:r>
          </a:p>
          <a:p>
            <a:r>
              <a:rPr sz="1800" b="1">
                <a:solidFill>
                  <a:srgbClr val="03306E"/>
                </a:solidFill>
                <a:latin typeface="Calibri"/>
              </a:rPr>
              <a:t>40%.</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Name the five types of test data in Task 2.</a:t>
            </a:r>
          </a:p>
          <a:p>
            <a:r>
              <a:rPr sz="1800" b="1">
                <a:solidFill>
                  <a:srgbClr val="03306E"/>
                </a:solidFill>
                <a:latin typeface="Calibri"/>
              </a:rPr>
              <a:t>Valid, valid extreme, invalid, invalid extreme, erroneous.</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Which library is suggested for graphs?</a:t>
            </a:r>
          </a:p>
          <a:p>
            <a:r>
              <a:rPr sz="1800" b="1">
                <a:solidFill>
                  <a:srgbClr val="03306E"/>
                </a:solidFill>
                <a:latin typeface="Calibri"/>
              </a:rPr>
              <a:t>Matplotlib.</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What must a Task 3 design allow a third party to do?</a:t>
            </a:r>
          </a:p>
          <a:p>
            <a:r>
              <a:rPr sz="1800" b="1">
                <a:solidFill>
                  <a:srgbClr val="03306E"/>
                </a:solidFill>
                <a:latin typeface="Calibri"/>
              </a:rPr>
              <a:t>Build the proposed solution from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Component</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Mini Task 2</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The Employer Set Project</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40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Individual</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Your teacher gives you a short program with four defects.</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Write a test table before changing anything.</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Fix each defect and retest.</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Justify each fix in one sentence.</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All five test data types used</a:t>
            </a:r>
          </a:p>
          <a:p>
            <a:pPr marL="274320" indent="-274320">
              <a:spcAft>
                <a:spcPts val="810"/>
              </a:spcAft>
              <a:buClr>
                <a:srgbClr val="0645AD"/>
              </a:buClr>
              <a:buFont typeface="Arial"/>
              <a:buChar char="•"/>
            </a:pPr>
            <a:r>
              <a:rPr sz="1800" b="0">
                <a:solidFill>
                  <a:srgbClr val="202122"/>
                </a:solidFill>
                <a:latin typeface="Calibri"/>
              </a:rPr>
              <a:t>Every defect fixed</a:t>
            </a:r>
          </a:p>
          <a:p>
            <a:pPr marL="274320" indent="-274320">
              <a:spcAft>
                <a:spcPts val="810"/>
              </a:spcAft>
              <a:buClr>
                <a:srgbClr val="0645AD"/>
              </a:buClr>
              <a:buFont typeface="Arial"/>
              <a:buChar char="•"/>
            </a:pPr>
            <a:r>
              <a:rPr sz="1800" b="0">
                <a:solidFill>
                  <a:srgbClr val="202122"/>
                </a:solidFill>
                <a:latin typeface="Calibri"/>
              </a:rPr>
              <a:t>Expected and actual results compared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Component</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Which ESP task are you most worried about?</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What makes code well organised?</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What goes in a reflective evaluation?</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Employer Set Project</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https://lana6478.github.io/T-level-Digital-Software-Development/#/01-core-component/03-employer-set-project.md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Employer Set Project</dc:title>
  <dc:subject>Digital Software Development T Level: Core Component</dc:subject>
  <dc:creator>Samuel O'Connell</dc:creator>
  <cp:keywords>T Level; Digital Software Development; lesson slides; Employer Set Project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