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Inserting database commands through input so the code runs them.</a:t>
            </a:r>
          </a:p>
          <a:p>
            <a:r>
              <a:t>2. Missing authentication or input validation.</a:t>
            </a:r>
          </a:p>
          <a:p>
            <a:r>
              <a:t>3. Intercepting communication between two parties.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Parameterised queries.</a:t>
            </a:r>
          </a:p>
          <a:p>
            <a:r>
              <a:t>2. As salted hashes.</a:t>
            </a:r>
          </a:p>
          <a:p>
            <a:r>
              <a:t>3. E.g. authentication, API keys, rate limits,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flaw exploited before a patch exists.</a:t>
            </a:r>
          </a:p>
          <a:p>
            <a:r>
              <a:t>2. E.g. confirmation boxes, training.</a:t>
            </a:r>
          </a:p>
          <a:p>
            <a:r>
              <a:t>3. Anyone who can see the repository can use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small SQLite example so students can see the injection working before fixing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Security Threats and Vulnerabilities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8.1, 8.2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Explain why confidential information must be protected.</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technical threats, including SQL injection and insecure APIs.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human and physical threats and vulnerabilities.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Suggest prevention and mitigation for each.</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login form sends whatever the user types straight into a database query. What could an attacker type?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Why confidentiality matters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What organisations hold</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HR data:</a:t>
            </a:r>
            <a:r>
              <a:rPr sz="2200" b="0">
                <a:solidFill>
                  <a:srgbClr val="202122"/>
                </a:solidFill>
                <a:latin typeface="Calibri"/>
              </a:rPr>
              <a:t> salaries, personal details</a:t>
            </a:r>
          </a:p>
          <a:p>
            <a:pPr marL="274320" indent="-274320">
              <a:spcAft>
                <a:spcPts val="990"/>
              </a:spcAft>
              <a:buClr>
                <a:srgbClr val="0645AD"/>
              </a:buClr>
              <a:buFont typeface="Arial"/>
              <a:buChar char="•"/>
            </a:pPr>
            <a:r>
              <a:rPr sz="2200" b="1">
                <a:solidFill>
                  <a:srgbClr val="202122"/>
                </a:solidFill>
                <a:latin typeface="Calibri"/>
              </a:rPr>
              <a:t>Commercial data:</a:t>
            </a:r>
            <a:r>
              <a:rPr sz="2200" b="0">
                <a:solidFill>
                  <a:srgbClr val="202122"/>
                </a:solidFill>
                <a:latin typeface="Calibri"/>
              </a:rPr>
              <a:t> clients, IP, sales, contracts</a:t>
            </a:r>
          </a:p>
          <a:p>
            <a:pPr marL="274320" indent="-274320">
              <a:spcAft>
                <a:spcPts val="990"/>
              </a:spcAft>
              <a:buClr>
                <a:srgbClr val="0645AD"/>
              </a:buClr>
              <a:buFont typeface="Arial"/>
              <a:buChar char="•"/>
            </a:pPr>
            <a:r>
              <a:rPr sz="2200" b="1">
                <a:solidFill>
                  <a:srgbClr val="202122"/>
                </a:solidFill>
                <a:latin typeface="Calibri"/>
              </a:rPr>
              <a:t>Access data:</a:t>
            </a:r>
            <a:r>
              <a:rPr sz="2200" b="0">
                <a:solidFill>
                  <a:srgbClr val="202122"/>
                </a:solidFill>
                <a:latin typeface="Calibri"/>
              </a:rPr>
              <a:t> passwords, MFA, PINs, biometrics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If it leaks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Non-compliance and loss of licence</a:t>
            </a:r>
          </a:p>
          <a:p>
            <a:pPr marL="274320" indent="-274320">
              <a:spcAft>
                <a:spcPts val="990"/>
              </a:spcAft>
              <a:buClr>
                <a:srgbClr val="0645AD"/>
              </a:buClr>
              <a:buFont typeface="Arial"/>
              <a:buChar char="•"/>
            </a:pPr>
            <a:r>
              <a:rPr sz="2200" b="0">
                <a:solidFill>
                  <a:srgbClr val="202122"/>
                </a:solidFill>
                <a:latin typeface="Calibri"/>
              </a:rPr>
              <a:t>Lost trust and reputational damage</a:t>
            </a:r>
          </a:p>
          <a:p>
            <a:pPr marL="274320" indent="-274320">
              <a:spcAft>
                <a:spcPts val="990"/>
              </a:spcAft>
              <a:buClr>
                <a:srgbClr val="0645AD"/>
              </a:buClr>
              <a:buFont typeface="Arial"/>
              <a:buChar char="•"/>
            </a:pPr>
            <a:r>
              <a:rPr sz="2200" b="0">
                <a:solidFill>
                  <a:srgbClr val="202122"/>
                </a:solidFill>
                <a:latin typeface="Calibri"/>
              </a:rPr>
              <a:t>Fines, refunds, lost earnings</a:t>
            </a:r>
          </a:p>
          <a:p>
            <a:pPr marL="274320" indent="-274320">
              <a:spcAft>
                <a:spcPts val="990"/>
              </a:spcAft>
              <a:buClr>
                <a:srgbClr val="0645AD"/>
              </a:buClr>
              <a:buFont typeface="Arial"/>
              <a:buChar char="•"/>
            </a:pPr>
            <a:r>
              <a:rPr sz="2200" b="0">
                <a:solidFill>
                  <a:srgbClr val="202122"/>
                </a:solidFill>
                <a:latin typeface="Calibri"/>
              </a:rPr>
              <a:t>Legal action and reduced security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Technical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Many attacks target software directly.</a:t>
            </a:r>
          </a:p>
          <a:p>
            <a:pPr>
              <a:spcAft>
                <a:spcPts val="1320"/>
              </a:spcAft>
            </a:pPr>
            <a:r>
              <a:rPr sz="2200" b="1">
                <a:solidFill>
                  <a:srgbClr val="202122"/>
                </a:solidFill>
                <a:latin typeface="Calibri"/>
              </a:rPr>
              <a:t>SQL injection:</a:t>
            </a:r>
            <a:r>
              <a:rPr sz="2200" b="0">
                <a:solidFill>
                  <a:srgbClr val="202122"/>
                </a:solidFill>
                <a:latin typeface="Calibri"/>
              </a:rPr>
              <a:t> an attacker types database commands into an input box, and badly written code runs them. Cross-site scripting: malicious scripts are injected into web pages other users see. Buffer overflow: input longer than expected overwrites memory. Brute force: trying every password.</a:t>
            </a:r>
          </a:p>
          <a:p>
            <a:pPr>
              <a:spcAft>
                <a:spcPts val="1320"/>
              </a:spcAft>
            </a:pPr>
            <a:r>
              <a:rPr sz="2200" b="0">
                <a:solidFill>
                  <a:srgbClr val="202122"/>
                </a:solidFill>
                <a:latin typeface="Calibri"/>
              </a:rPr>
              <a:t>Insecure APIs lack proper authentication or input checks. Man-in-the-middle attacks intercept traffic. Malware, DDoS attacks from botnets, and social engineering such as phishing are also common.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Typing ' OR '1'='1 into a login box can log an attacker in if the code builds the SQL query by joining strings together.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Technical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Botnets and DoS / DDoS</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Floods of traffic that take services down.</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Hacking techniques</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Brute force, cross-site scripting, SQL injection, buffer overflow.</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Malware</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Viruses, worms, keyloggers, ransomware, spyware, remote access trojans.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Social engineering</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1800" b="0" i="0">
                <a:solidFill>
                  <a:srgbClr val="202122"/>
                </a:solidFill>
                <a:latin typeface="Calibri"/>
              </a:rPr>
              <a:t>Phishing, spear phishing, smishing, vishing, pharming, watering holes, USB baiting.</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Insecure APIs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APIs without proper authentication or input checks.</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Interception</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DNS attacks, man-in-the-middle attacks, open Wi-Fi.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Technical threats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SQL injection?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makes an API insecure?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man-in-the-middle attack?</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Developer defences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Developers can prevent many attacks in their code.</a:t>
            </a:r>
          </a:p>
          <a:p>
            <a:pPr>
              <a:spcAft>
                <a:spcPts val="1320"/>
              </a:spcAft>
            </a:pPr>
            <a:r>
              <a:rPr sz="2200" b="0">
                <a:solidFill>
                  <a:srgbClr val="202122"/>
                </a:solidFill>
                <a:latin typeface="Calibri"/>
              </a:rPr>
              <a:t>Use parameterised queries so user input is never treated as SQL. Escape output and validate input to stop cross-site scripting. Check input lengths to prevent buffer overflows. Secure APIs with authentication, API keys, rate limits and input validation. Prevent brute force with account lockout, MFA and strong password rules.</a:t>
            </a:r>
          </a:p>
          <a:p>
            <a:pPr>
              <a:spcAft>
                <a:spcPts val="1320"/>
              </a:spcAft>
            </a:pPr>
            <a:r>
              <a:rPr sz="2200" b="0">
                <a:solidFill>
                  <a:srgbClr val="202122"/>
                </a:solidFill>
                <a:latin typeface="Calibri"/>
              </a:rPr>
              <a:t>Store passwords only as salted hashes, never in plain text.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cursor.execute('SELECT * FROM users WHERE name = ?', (name,)) keeps the input as data, so injection fails.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Developer defences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3354125"/>
                <a:gridCol w="7740289"/>
              </a:tblGrid>
              <a:tr h="754380">
                <a:tc>
                  <a:txBody>
                    <a:bodyPr wrap="square"/>
                    <a:lstStyle/>
                    <a:p>
                      <a:r>
                        <a:rPr sz="1600" b="1">
                          <a:solidFill>
                            <a:srgbClr val="FFFFFF"/>
                          </a:solidFill>
                          <a:latin typeface="Calibri"/>
                        </a:rPr>
                        <a:t>Threat</a:t>
                      </a:r>
                    </a:p>
                  </a:txBody>
                  <a:tcPr marL="91440" marR="91440" anchor="ctr">
                    <a:solidFill>
                      <a:srgbClr val="03306E"/>
                    </a:solidFill>
                  </a:tcPr>
                </a:tc>
                <a:tc>
                  <a:txBody>
                    <a:bodyPr wrap="square"/>
                    <a:lstStyle/>
                    <a:p>
                      <a:r>
                        <a:rPr sz="1600" b="1">
                          <a:solidFill>
                            <a:srgbClr val="FFFFFF"/>
                          </a:solidFill>
                          <a:latin typeface="Calibri"/>
                        </a:rPr>
                        <a:t>Prevention in code</a:t>
                      </a:r>
                    </a:p>
                  </a:txBody>
                  <a:tcPr marL="91440" marR="91440" anchor="ctr">
                    <a:solidFill>
                      <a:srgbClr val="03306E"/>
                    </a:solidFill>
                  </a:tcPr>
                </a:tc>
              </a:tr>
              <a:tr h="754380">
                <a:tc>
                  <a:txBody>
                    <a:bodyPr wrap="square"/>
                    <a:lstStyle/>
                    <a:p>
                      <a:r>
                        <a:rPr sz="1600" b="1">
                          <a:solidFill>
                            <a:srgbClr val="03306E"/>
                          </a:solidFill>
                          <a:latin typeface="Calibri"/>
                        </a:rPr>
                        <a:t>SQL injection</a:t>
                      </a:r>
                    </a:p>
                  </a:txBody>
                  <a:tcPr marL="91440" marR="91440" anchor="ctr">
                    <a:solidFill>
                      <a:srgbClr val="FFFFFF"/>
                    </a:solidFill>
                  </a:tcPr>
                </a:tc>
                <a:tc>
                  <a:txBody>
                    <a:bodyPr wrap="square"/>
                    <a:lstStyle/>
                    <a:p>
                      <a:r>
                        <a:rPr sz="1600" b="0">
                          <a:solidFill>
                            <a:srgbClr val="202122"/>
                          </a:solidFill>
                          <a:latin typeface="Calibri"/>
                        </a:rPr>
                        <a:t>Parameterised queries; never build SQL from raw input</a:t>
                      </a:r>
                    </a:p>
                  </a:txBody>
                  <a:tcPr marL="91440" marR="91440" anchor="ctr">
                    <a:solidFill>
                      <a:srgbClr val="FFFFFF"/>
                    </a:solidFill>
                  </a:tcPr>
                </a:tc>
              </a:tr>
              <a:tr h="754380">
                <a:tc>
                  <a:txBody>
                    <a:bodyPr wrap="square"/>
                    <a:lstStyle/>
                    <a:p>
                      <a:r>
                        <a:rPr sz="1600" b="1">
                          <a:solidFill>
                            <a:srgbClr val="03306E"/>
                          </a:solidFill>
                          <a:latin typeface="Calibri"/>
                        </a:rPr>
                        <a:t>Cross-site scripting</a:t>
                      </a:r>
                    </a:p>
                  </a:txBody>
                  <a:tcPr marL="91440" marR="91440" anchor="ctr">
                    <a:solidFill>
                      <a:srgbClr val="EAF3FF"/>
                    </a:solidFill>
                  </a:tcPr>
                </a:tc>
                <a:tc>
                  <a:txBody>
                    <a:bodyPr wrap="square"/>
                    <a:lstStyle/>
                    <a:p>
                      <a:r>
                        <a:rPr sz="1600" b="0">
                          <a:solidFill>
                            <a:srgbClr val="202122"/>
                          </a:solidFill>
                          <a:latin typeface="Calibri"/>
                        </a:rPr>
                        <a:t>Escape output and validate input</a:t>
                      </a:r>
                    </a:p>
                  </a:txBody>
                  <a:tcPr marL="91440" marR="91440" anchor="ctr">
                    <a:solidFill>
                      <a:srgbClr val="EAF3FF"/>
                    </a:solidFill>
                  </a:tcPr>
                </a:tc>
              </a:tr>
              <a:tr h="754380">
                <a:tc>
                  <a:txBody>
                    <a:bodyPr wrap="square"/>
                    <a:lstStyle/>
                    <a:p>
                      <a:r>
                        <a:rPr sz="1600" b="1">
                          <a:solidFill>
                            <a:srgbClr val="03306E"/>
                          </a:solidFill>
                          <a:latin typeface="Calibri"/>
                        </a:rPr>
                        <a:t>Buffer overflow</a:t>
                      </a:r>
                    </a:p>
                  </a:txBody>
                  <a:tcPr marL="91440" marR="91440" anchor="ctr">
                    <a:solidFill>
                      <a:srgbClr val="FFFFFF"/>
                    </a:solidFill>
                  </a:tcPr>
                </a:tc>
                <a:tc>
                  <a:txBody>
                    <a:bodyPr wrap="square"/>
                    <a:lstStyle/>
                    <a:p>
                      <a:r>
                        <a:rPr sz="1600" b="0">
                          <a:solidFill>
                            <a:srgbClr val="202122"/>
                          </a:solidFill>
                          <a:latin typeface="Calibri"/>
                        </a:rPr>
                        <a:t>Check lengths and use safe functions</a:t>
                      </a:r>
                    </a:p>
                  </a:txBody>
                  <a:tcPr marL="91440" marR="91440" anchor="ctr">
                    <a:solidFill>
                      <a:srgbClr val="FFFFFF"/>
                    </a:solidFill>
                  </a:tcPr>
                </a:tc>
              </a:tr>
              <a:tr h="754380">
                <a:tc>
                  <a:txBody>
                    <a:bodyPr wrap="square"/>
                    <a:lstStyle/>
                    <a:p>
                      <a:r>
                        <a:rPr sz="1600" b="1">
                          <a:solidFill>
                            <a:srgbClr val="03306E"/>
                          </a:solidFill>
                          <a:latin typeface="Calibri"/>
                        </a:rPr>
                        <a:t>Insecure APIs</a:t>
                      </a:r>
                    </a:p>
                  </a:txBody>
                  <a:tcPr marL="91440" marR="91440" anchor="ctr">
                    <a:solidFill>
                      <a:srgbClr val="EAF3FF"/>
                    </a:solidFill>
                  </a:tcPr>
                </a:tc>
                <a:tc>
                  <a:txBody>
                    <a:bodyPr wrap="square"/>
                    <a:lstStyle/>
                    <a:p>
                      <a:r>
                        <a:rPr sz="1600" b="0">
                          <a:solidFill>
                            <a:srgbClr val="202122"/>
                          </a:solidFill>
                          <a:latin typeface="Calibri"/>
                        </a:rPr>
                        <a:t>Authentication, API keys, rate limits, input validation</a:t>
                      </a:r>
                    </a:p>
                  </a:txBody>
                  <a:tcPr marL="91440" marR="91440" anchor="ctr">
                    <a:solidFill>
                      <a:srgbClr val="EAF3FF"/>
                    </a:solidFill>
                  </a:tcPr>
                </a:tc>
              </a:tr>
              <a:tr h="754380">
                <a:tc>
                  <a:txBody>
                    <a:bodyPr wrap="square"/>
                    <a:lstStyle/>
                    <a:p>
                      <a:r>
                        <a:rPr sz="1600" b="1">
                          <a:solidFill>
                            <a:srgbClr val="03306E"/>
                          </a:solidFill>
                          <a:latin typeface="Calibri"/>
                        </a:rPr>
                        <a:t>Brute force</a:t>
                      </a:r>
                    </a:p>
                  </a:txBody>
                  <a:tcPr marL="91440" marR="91440" anchor="ctr">
                    <a:solidFill>
                      <a:srgbClr val="FFFFFF"/>
                    </a:solidFill>
                  </a:tcPr>
                </a:tc>
                <a:tc>
                  <a:txBody>
                    <a:bodyPr wrap="square"/>
                    <a:lstStyle/>
                    <a:p>
                      <a:r>
                        <a:rPr sz="1600" b="0">
                          <a:solidFill>
                            <a:srgbClr val="202122"/>
                          </a:solidFill>
                          <a:latin typeface="Calibri"/>
                        </a:rPr>
                        <a:t>Account lockout, MFA, strong password rules</a:t>
                      </a:r>
                    </a:p>
                  </a:txBody>
                  <a:tcPr marL="91440" marR="91440"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Developer defences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How do you prevent SQL injection?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should passwords be stored?</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two ways to secure an API.</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Human and physical risks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People and places create risk too.</a:t>
            </a:r>
          </a:p>
          <a:p>
            <a:pPr>
              <a:spcAft>
                <a:spcPts val="1320"/>
              </a:spcAft>
            </a:pPr>
            <a:r>
              <a:rPr sz="2200" b="0">
                <a:solidFill>
                  <a:srgbClr val="202122"/>
                </a:solidFill>
                <a:latin typeface="Calibri"/>
              </a:rPr>
              <a:t>Human error, such as deleting the wrong data, is reduced by confirmation boxes and training. Malicious employees are dealt with by removing access quickly. Disguised criminals are stopped by ID checks. Poor cyber hygiene, such as unlocked screens or reused passwords, is fixed with training and password managers.</a:t>
            </a:r>
          </a:p>
          <a:p>
            <a:pPr>
              <a:spcAft>
                <a:spcPts val="1320"/>
              </a:spcAft>
            </a:pPr>
            <a:r>
              <a:rPr sz="2200" b="0">
                <a:solidFill>
                  <a:srgbClr val="202122"/>
                </a:solidFill>
                <a:latin typeface="Calibri"/>
              </a:rPr>
              <a:t>Vulnerabilities include weak encryption, poor password policy, no MFA, out-of-date software with known or zero-day flaws, poor physical access control, shoulder surfing and natural disasters.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developer who commits an API key to a public code repository has made a human error that attackers can exploit within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Human and physical risks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Human threats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Human error:</a:t>
            </a:r>
            <a:r>
              <a:rPr sz="2200" b="0">
                <a:solidFill>
                  <a:srgbClr val="202122"/>
                </a:solidFill>
                <a:latin typeface="Calibri"/>
              </a:rPr>
              <a:t> confirmation boxes, training</a:t>
            </a:r>
          </a:p>
          <a:p>
            <a:pPr marL="274320" indent="-274320">
              <a:spcAft>
                <a:spcPts val="990"/>
              </a:spcAft>
              <a:buClr>
                <a:srgbClr val="0645AD"/>
              </a:buClr>
              <a:buFont typeface="Arial"/>
              <a:buChar char="•"/>
            </a:pPr>
            <a:r>
              <a:rPr sz="2200" b="1">
                <a:solidFill>
                  <a:srgbClr val="202122"/>
                </a:solidFill>
                <a:latin typeface="Calibri"/>
              </a:rPr>
              <a:t>Malicious employees:</a:t>
            </a:r>
            <a:r>
              <a:rPr sz="2200" b="0">
                <a:solidFill>
                  <a:srgbClr val="202122"/>
                </a:solidFill>
                <a:latin typeface="Calibri"/>
              </a:rPr>
              <a:t> remove access fast</a:t>
            </a:r>
          </a:p>
          <a:p>
            <a:pPr marL="274320" indent="-274320">
              <a:spcAft>
                <a:spcPts val="990"/>
              </a:spcAft>
              <a:buClr>
                <a:srgbClr val="0645AD"/>
              </a:buClr>
              <a:buFont typeface="Arial"/>
              <a:buChar char="•"/>
            </a:pPr>
            <a:r>
              <a:rPr sz="2200" b="1">
                <a:solidFill>
                  <a:srgbClr val="202122"/>
                </a:solidFill>
                <a:latin typeface="Calibri"/>
              </a:rPr>
              <a:t>Disguised criminals:</a:t>
            </a:r>
            <a:r>
              <a:rPr sz="2200" b="0">
                <a:solidFill>
                  <a:srgbClr val="202122"/>
                </a:solidFill>
                <a:latin typeface="Calibri"/>
              </a:rPr>
              <a:t> ID checks, escorts</a:t>
            </a:r>
          </a:p>
          <a:p>
            <a:pPr marL="274320" indent="-274320">
              <a:spcAft>
                <a:spcPts val="990"/>
              </a:spcAft>
              <a:buClr>
                <a:srgbClr val="0645AD"/>
              </a:buClr>
              <a:buFont typeface="Arial"/>
              <a:buChar char="•"/>
            </a:pPr>
            <a:r>
              <a:rPr sz="2200" b="1">
                <a:solidFill>
                  <a:srgbClr val="202122"/>
                </a:solidFill>
                <a:latin typeface="Calibri"/>
              </a:rPr>
              <a:t>Poor cyber hygiene:</a:t>
            </a:r>
            <a:r>
              <a:rPr sz="2200" b="0">
                <a:solidFill>
                  <a:srgbClr val="202122"/>
                </a:solidFill>
                <a:latin typeface="Calibri"/>
              </a:rPr>
              <a:t> lock screens, password managers</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Vulnerabilities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Weak encryption, poor password policy, no MFA</a:t>
            </a:r>
          </a:p>
          <a:p>
            <a:pPr marL="274320" indent="-274320">
              <a:spcAft>
                <a:spcPts val="990"/>
              </a:spcAft>
              <a:buClr>
                <a:srgbClr val="0645AD"/>
              </a:buClr>
              <a:buFont typeface="Arial"/>
              <a:buChar char="•"/>
            </a:pPr>
            <a:r>
              <a:rPr sz="2200" b="0">
                <a:solidFill>
                  <a:srgbClr val="202122"/>
                </a:solidFill>
                <a:latin typeface="Calibri"/>
              </a:rPr>
              <a:t>Out-of-date software and firmware, zero-days</a:t>
            </a:r>
          </a:p>
          <a:p>
            <a:pPr marL="274320" indent="-274320">
              <a:spcAft>
                <a:spcPts val="990"/>
              </a:spcAft>
              <a:buClr>
                <a:srgbClr val="0645AD"/>
              </a:buClr>
              <a:buFont typeface="Arial"/>
              <a:buChar char="•"/>
            </a:pPr>
            <a:r>
              <a:rPr sz="2200" b="0">
                <a:solidFill>
                  <a:srgbClr val="202122"/>
                </a:solidFill>
                <a:latin typeface="Calibri"/>
              </a:rPr>
              <a:t>Poor physical access control, shoulder surfing</a:t>
            </a:r>
          </a:p>
          <a:p>
            <a:pPr marL="274320" indent="-274320">
              <a:spcAft>
                <a:spcPts val="990"/>
              </a:spcAft>
              <a:buClr>
                <a:srgbClr val="0645AD"/>
              </a:buClr>
              <a:buFont typeface="Arial"/>
              <a:buChar char="•"/>
            </a:pPr>
            <a:r>
              <a:rPr sz="2200" b="0">
                <a:solidFill>
                  <a:srgbClr val="202122"/>
                </a:solidFill>
                <a:latin typeface="Calibri"/>
              </a:rPr>
              <a:t>Natural disasters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Human and physical risks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zero-day?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can human error be reduced?</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shouldn't secrets be committed to repositories?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How do you prevent SQL injection?</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spear phishing?</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makes an API insecure?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is a zero-day?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How do you prevent SQL injection?</a:t>
            </a:r>
          </a:p>
          <a:p>
            <a:r>
              <a:rPr sz="1800" b="1">
                <a:solidFill>
                  <a:srgbClr val="03306E"/>
                </a:solidFill>
                <a:latin typeface="Calibri"/>
              </a:rPr>
              <a:t>Use parameterised queries instead of building SQL from user input.</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spear phishing?</a:t>
            </a:r>
          </a:p>
          <a:p>
            <a:r>
              <a:rPr sz="1800" b="1">
                <a:solidFill>
                  <a:srgbClr val="03306E"/>
                </a:solidFill>
                <a:latin typeface="Calibri"/>
              </a:rPr>
              <a:t>A phishing attack targeted at a specific person or organisation.</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makes an API insecure?</a:t>
            </a:r>
          </a:p>
          <a:p>
            <a:r>
              <a:rPr sz="1800" b="1">
                <a:solidFill>
                  <a:srgbClr val="03306E"/>
                </a:solidFill>
                <a:latin typeface="Calibri"/>
              </a:rPr>
              <a:t>Weak or no authentication or input validation.</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is a zero-day?</a:t>
            </a:r>
          </a:p>
          <a:p>
            <a:r>
              <a:rPr sz="1800" b="1">
                <a:solidFill>
                  <a:srgbClr val="03306E"/>
                </a:solidFill>
                <a:latin typeface="Calibri"/>
              </a:rPr>
              <a:t>A flaw exploited before a patch exists.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Secure the login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Security Threats and Vulnerabilities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Review the vulnerable login code from your teacher.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every security weakness.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Rewrite it using parameterised queries, hashing and lockout.</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Explain each fix in one sentence.</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SQL injection fixed</a:t>
            </a:r>
          </a:p>
          <a:p>
            <a:pPr marL="274320" indent="-274320">
              <a:spcAft>
                <a:spcPts val="810"/>
              </a:spcAft>
              <a:buClr>
                <a:srgbClr val="0645AD"/>
              </a:buClr>
              <a:buFont typeface="Arial"/>
              <a:buChar char="•"/>
            </a:pPr>
            <a:r>
              <a:rPr sz="1800" b="0">
                <a:solidFill>
                  <a:srgbClr val="202122"/>
                </a:solidFill>
                <a:latin typeface="Calibri"/>
              </a:rPr>
              <a:t>Passwords never stored in plain text</a:t>
            </a:r>
          </a:p>
          <a:p>
            <a:pPr marL="274320" indent="-274320">
              <a:spcAft>
                <a:spcPts val="810"/>
              </a:spcAft>
              <a:buClr>
                <a:srgbClr val="0645AD"/>
              </a:buClr>
              <a:buFont typeface="Arial"/>
              <a:buChar char="•"/>
            </a:pPr>
            <a:r>
              <a:rPr sz="1800" b="0">
                <a:solidFill>
                  <a:srgbClr val="202122"/>
                </a:solidFill>
                <a:latin typeface="Calibri"/>
              </a:rPr>
              <a:t>Lockout after repeated failures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threat can a developer prevent most directly?</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is open Wi-Fi risky?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is a man-in-the-middle attack?</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Business Context, Data, Digital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Threats and Vulnerabilities</dc:title>
  <dc:subject>Digital Software Development T Level: Core Paper 2</dc:subject>
  <dc:creator>Samuel O'Connell</dc:creator>
  <cp:keywords>T Level; Digital Software Development; lesson slides; 8.1, 8.2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