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the starter: the steps students grouped were decomposition; the details they skipped were abstraction.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Removing unnecessary detail to focus on what matters.</a:t>
            </a:r>
          </a:p>
          <a:p>
            <a:r>
              <a:t>2. It lets you reuse solutions to similar problems.</a:t>
            </a:r>
          </a:p>
          <a:p>
            <a:r>
              <a:t>3. E.g. enter details, check details, grant or refuse access.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Flowchart symbols: terminator, process, sub-process, decision, input/output, arrows and labels. The full list is on the Flowchart and Python notation page.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parallelogram.</a:t>
            </a:r>
          </a:p>
          <a:p>
            <a:r>
              <a:t>2. It can be ambiguous.</a:t>
            </a:r>
          </a:p>
          <a:p>
            <a:r>
              <a:t>3. Code can actually be 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for.</a:t>
            </a:r>
          </a:p>
          <a:p>
            <a:r>
              <a:t>2. if, elif, else, and match case.</a:t>
            </a:r>
          </a:p>
          <a:p>
            <a:r>
              <a:t>3. An infinite loop if the condition never becomes false.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table recording each variable's value at every step.</a:t>
            </a:r>
          </a:p>
          <a:p>
            <a:r>
              <a:t>2. 1, 2, 3, 4.</a:t>
            </a:r>
          </a:p>
          <a:p>
            <a:r>
              <a:t>3. With the inputs and required outputs.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CORE COMPONENT</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Computational Thinking and Algorithms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Paper 1</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1.1, 1.2</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Software Development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the four components of computational thinking and when to use each.</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Express an algorithm as a flowchart, a written description and code.</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Determine an algorithm's purpose and output, and correct errors in it.</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Translate an algorithm between notations.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Write instructions for making a cup of tea for someone who has never been in a kitchen. What did you have to break down? What did you leave out?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four components of computational thinking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Computational thinking is the thinking you do before you write code.</a:t>
            </a:r>
          </a:p>
          <a:p>
            <a:pPr>
              <a:spcAft>
                <a:spcPts val="1260"/>
              </a:spcAft>
            </a:pPr>
            <a:r>
              <a:rPr sz="2100" b="1">
                <a:solidFill>
                  <a:srgbClr val="202122"/>
                </a:solidFill>
                <a:latin typeface="Calibri"/>
              </a:rPr>
              <a:t>Decomposition:</a:t>
            </a:r>
            <a:r>
              <a:rPr sz="2100" b="0">
                <a:solidFill>
                  <a:srgbClr val="202122"/>
                </a:solidFill>
                <a:latin typeface="Calibri"/>
              </a:rPr>
              <a:t> break a problem into smaller parts you can solve one at a time. A game becomes menus, player movement, scoring and saving.</a:t>
            </a:r>
          </a:p>
          <a:p>
            <a:pPr>
              <a:spcAft>
                <a:spcPts val="1260"/>
              </a:spcAft>
            </a:pPr>
            <a:r>
              <a:rPr sz="2100" b="1">
                <a:solidFill>
                  <a:srgbClr val="202122"/>
                </a:solidFill>
                <a:latin typeface="Calibri"/>
              </a:rPr>
              <a:t>Pattern recognition:</a:t>
            </a:r>
            <a:r>
              <a:rPr sz="2100" b="0">
                <a:solidFill>
                  <a:srgbClr val="202122"/>
                </a:solidFill>
                <a:latin typeface="Calibri"/>
              </a:rPr>
              <a:t> spot what's similar to problems you've already solved, so you can reuse code.</a:t>
            </a:r>
          </a:p>
          <a:p>
            <a:pPr>
              <a:spcAft>
                <a:spcPts val="1260"/>
              </a:spcAft>
            </a:pPr>
            <a:r>
              <a:rPr sz="2100" b="1">
                <a:solidFill>
                  <a:srgbClr val="202122"/>
                </a:solidFill>
                <a:latin typeface="Calibri"/>
              </a:rPr>
              <a:t>Abstraction:</a:t>
            </a:r>
            <a:r>
              <a:rPr sz="2100" b="0">
                <a:solidFill>
                  <a:srgbClr val="202122"/>
                </a:solidFill>
                <a:latin typeface="Calibri"/>
              </a:rPr>
              <a:t> ignore detail that doesn't matter and focus on the inputs, the outputs, what varies and what stays the same.</a:t>
            </a:r>
          </a:p>
          <a:p>
            <a:pPr>
              <a:spcAft>
                <a:spcPts val="1260"/>
              </a:spcAft>
            </a:pPr>
            <a:r>
              <a:rPr sz="2100" b="1">
                <a:solidFill>
                  <a:srgbClr val="202122"/>
                </a:solidFill>
                <a:latin typeface="Calibri"/>
              </a:rPr>
              <a:t>Algorithmic design:</a:t>
            </a:r>
            <a:r>
              <a:rPr sz="2100" b="0">
                <a:solidFill>
                  <a:srgbClr val="202122"/>
                </a:solidFill>
                <a:latin typeface="Calibri"/>
              </a:rPr>
              <a:t> write the solution as precise, ordered steps a computer can follow.</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cinema booking system: decompose (choose film, pick seats, pay), recognise a pattern (seat choosing is like any grid), abstract (a seat is just row, number, taken or free), then design the algorithm.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four components of computational thinking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Decomposition</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1800" b="0" i="0">
                <a:solidFill>
                  <a:srgbClr val="202122"/>
                </a:solidFill>
                <a:latin typeface="Calibri"/>
              </a:rPr>
              <a:t>Break a problem or solution into smaller, manageable parts. Show it with block diagrams, flowcharts, code or written descriptions.</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Pattern recognition</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Spot similarities within and between problems, and reuse solutions that worked before.</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Abstraction</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Keep only what matters: the inputs, outputs, what varies, what stays constant and the key repeated actions.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Algorithmic design</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Express the solution as clear, ordered steps a computer can follow.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2800" b="1" i="0">
                <a:solidFill>
                  <a:srgbClr val="03306E"/>
                </a:solidFill>
                <a:latin typeface="Cambria"/>
              </a:rPr>
              <a:t>Quick check: The four components of computational thinking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abstraction?</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How does pattern recognition save time?</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Decompose a login system into three parts.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Weighing up computational thinking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Benefits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Large problems become manageable pieces</a:t>
            </a:r>
          </a:p>
          <a:p>
            <a:pPr marL="274320" indent="-274320">
              <a:spcAft>
                <a:spcPts val="990"/>
              </a:spcAft>
              <a:buClr>
                <a:srgbClr val="0645AD"/>
              </a:buClr>
              <a:buFont typeface="Arial"/>
              <a:buChar char="•"/>
            </a:pPr>
            <a:r>
              <a:rPr sz="2200" b="0">
                <a:solidFill>
                  <a:srgbClr val="202122"/>
                </a:solidFill>
                <a:latin typeface="Calibri"/>
              </a:rPr>
              <a:t>Parts can be built and tested separately</a:t>
            </a:r>
          </a:p>
          <a:p>
            <a:pPr marL="274320" indent="-274320">
              <a:spcAft>
                <a:spcPts val="990"/>
              </a:spcAft>
              <a:buClr>
                <a:srgbClr val="0645AD"/>
              </a:buClr>
              <a:buFont typeface="Arial"/>
              <a:buChar char="•"/>
            </a:pPr>
            <a:r>
              <a:rPr sz="2200" b="0">
                <a:solidFill>
                  <a:srgbClr val="202122"/>
                </a:solidFill>
                <a:latin typeface="Calibri"/>
              </a:rPr>
              <a:t>Reusing patterns saves development time</a:t>
            </a:r>
          </a:p>
          <a:p>
            <a:pPr marL="274320" indent="-274320">
              <a:spcAft>
                <a:spcPts val="990"/>
              </a:spcAft>
              <a:buClr>
                <a:srgbClr val="0645AD"/>
              </a:buClr>
              <a:buFont typeface="Arial"/>
              <a:buChar char="•"/>
            </a:pPr>
            <a:r>
              <a:rPr sz="2200" b="0">
                <a:solidFill>
                  <a:srgbClr val="202122"/>
                </a:solidFill>
                <a:latin typeface="Calibri"/>
              </a:rPr>
              <a:t>Abstraction focuses effort on what matters</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Drawbacks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Decomposing takes time up front</a:t>
            </a:r>
          </a:p>
          <a:p>
            <a:pPr marL="274320" indent="-274320">
              <a:spcAft>
                <a:spcPts val="990"/>
              </a:spcAft>
              <a:buClr>
                <a:srgbClr val="0645AD"/>
              </a:buClr>
              <a:buFont typeface="Arial"/>
              <a:buChar char="•"/>
            </a:pPr>
            <a:r>
              <a:rPr sz="2200" b="0">
                <a:solidFill>
                  <a:srgbClr val="202122"/>
                </a:solidFill>
                <a:latin typeface="Calibri"/>
              </a:rPr>
              <a:t>Over-abstraction can hide an important detail</a:t>
            </a:r>
          </a:p>
          <a:p>
            <a:pPr marL="274320" indent="-274320">
              <a:spcAft>
                <a:spcPts val="990"/>
              </a:spcAft>
              <a:buClr>
                <a:srgbClr val="0645AD"/>
              </a:buClr>
              <a:buFont typeface="Arial"/>
              <a:buChar char="•"/>
            </a:pPr>
            <a:r>
              <a:rPr sz="2200" b="0">
                <a:solidFill>
                  <a:srgbClr val="202122"/>
                </a:solidFill>
                <a:latin typeface="Calibri"/>
              </a:rPr>
              <a:t>A false pattern leads to the wrong solution</a:t>
            </a:r>
          </a:p>
          <a:p>
            <a:pPr marL="274320" indent="-274320">
              <a:spcAft>
                <a:spcPts val="990"/>
              </a:spcAft>
              <a:buClr>
                <a:srgbClr val="0645AD"/>
              </a:buClr>
              <a:buFont typeface="Arial"/>
              <a:buChar char="•"/>
            </a:pPr>
            <a:r>
              <a:rPr sz="2200" b="0">
                <a:solidFill>
                  <a:srgbClr val="202122"/>
                </a:solidFill>
                <a:latin typeface="Calibri"/>
              </a:rPr>
              <a:t>Parts still have to be integrated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Three ways to express an algorithm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The same algorithm can be written in three ways.</a:t>
            </a:r>
          </a:p>
          <a:p>
            <a:pPr>
              <a:spcAft>
                <a:spcPts val="1260"/>
              </a:spcAft>
            </a:pPr>
            <a:r>
              <a:rPr sz="2100" b="1">
                <a:solidFill>
                  <a:srgbClr val="202122"/>
                </a:solidFill>
                <a:latin typeface="Calibri"/>
              </a:rPr>
              <a:t>A flowchart uses standard symbols:</a:t>
            </a:r>
            <a:r>
              <a:rPr sz="2100" b="0">
                <a:solidFill>
                  <a:srgbClr val="202122"/>
                </a:solidFill>
                <a:latin typeface="Calibri"/>
              </a:rPr>
              <a:t> terminators for start and end, rectangles for processes, diamonds for decisions, parallelograms for input and output, joined by arrows. It shows the flow visually but is slow to draw for big problems.</a:t>
            </a:r>
          </a:p>
          <a:p>
            <a:pPr>
              <a:spcAft>
                <a:spcPts val="1260"/>
              </a:spcAft>
            </a:pPr>
            <a:r>
              <a:rPr sz="2100" b="0">
                <a:solidFill>
                  <a:srgbClr val="202122"/>
                </a:solidFill>
                <a:latin typeface="Calibri"/>
              </a:rPr>
              <a:t>A written description lists the steps in order, using numbered or hierarchical markers (1, 1.1, 1.2). It's quick to write but can be ambiguous.</a:t>
            </a:r>
          </a:p>
          <a:p>
            <a:pPr>
              <a:spcAft>
                <a:spcPts val="1260"/>
              </a:spcAft>
            </a:pPr>
            <a:r>
              <a:rPr sz="2100" b="0">
                <a:solidFill>
                  <a:srgbClr val="202122"/>
                </a:solidFill>
                <a:latin typeface="Calibri"/>
              </a:rPr>
              <a:t>Code is precise and can actually be run and tested, but you need to know the language to read it. You must be able to translate between all three.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'Ask for a number; if it's even, print Even, otherwise print Odd' becomes a flowchart with one diamond, or Python using if n % 2 ==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Three ways to express an algorithm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graphicFrame>
        <p:nvGraphicFramePr>
          <p:cNvPr id="6" name="Table 5"/>
          <p:cNvGraphicFramePr>
            <a:graphicFrameLocks noGrp="1"/>
          </p:cNvGraphicFramePr>
          <p:nvPr/>
        </p:nvGraphicFramePr>
        <p:xfrm>
          <a:off x="548640" y="1600200"/>
          <a:ext cx="11094413" cy="4526280"/>
        </p:xfrm>
        <a:graphic>
          <a:graphicData uri="http://schemas.openxmlformats.org/drawingml/2006/table">
            <a:tbl>
              <a:tblPr firstRow="1" bandRow="1">
                <a:tableStyleId>{5C22544A-7EE6-4342-B048-85BDC9FD1C3A}</a:tableStyleId>
              </a:tblPr>
              <a:tblGrid>
                <a:gridCol w="2465425"/>
                <a:gridCol w="4314494"/>
                <a:gridCol w="4314494"/>
              </a:tblGrid>
              <a:tr h="1131570">
                <a:tc>
                  <a:txBody>
                    <a:bodyPr wrap="square"/>
                    <a:lstStyle/>
                    <a:p>
                      <a:r>
                        <a:rPr sz="1600" b="1">
                          <a:solidFill>
                            <a:srgbClr val="FFFFFF"/>
                          </a:solidFill>
                          <a:latin typeface="Calibri"/>
                        </a:rPr>
                        <a:t>Notation</a:t>
                      </a:r>
                    </a:p>
                  </a:txBody>
                  <a:tcPr marL="91440" marR="91440" anchor="ctr">
                    <a:solidFill>
                      <a:srgbClr val="03306E"/>
                    </a:solidFill>
                  </a:tcPr>
                </a:tc>
                <a:tc>
                  <a:txBody>
                    <a:bodyPr wrap="square"/>
                    <a:lstStyle/>
                    <a:p>
                      <a:r>
                        <a:rPr sz="1600" b="1">
                          <a:solidFill>
                            <a:srgbClr val="FFFFFF"/>
                          </a:solidFill>
                          <a:latin typeface="Calibri"/>
                        </a:rPr>
                        <a:t>Benefit</a:t>
                      </a:r>
                    </a:p>
                  </a:txBody>
                  <a:tcPr marL="91440" marR="91440" anchor="ctr">
                    <a:solidFill>
                      <a:srgbClr val="03306E"/>
                    </a:solidFill>
                  </a:tcPr>
                </a:tc>
                <a:tc>
                  <a:txBody>
                    <a:bodyPr wrap="square"/>
                    <a:lstStyle/>
                    <a:p>
                      <a:r>
                        <a:rPr sz="1600" b="1">
                          <a:solidFill>
                            <a:srgbClr val="FFFFFF"/>
                          </a:solidFill>
                          <a:latin typeface="Calibri"/>
                        </a:rPr>
                        <a:t>Drawback</a:t>
                      </a:r>
                    </a:p>
                  </a:txBody>
                  <a:tcPr marL="91440" marR="91440" anchor="ctr">
                    <a:solidFill>
                      <a:srgbClr val="03306E"/>
                    </a:solidFill>
                  </a:tcPr>
                </a:tc>
              </a:tr>
              <a:tr h="1131570">
                <a:tc>
                  <a:txBody>
                    <a:bodyPr wrap="square"/>
                    <a:lstStyle/>
                    <a:p>
                      <a:r>
                        <a:rPr sz="1600" b="1">
                          <a:solidFill>
                            <a:srgbClr val="03306E"/>
                          </a:solidFill>
                          <a:latin typeface="Calibri"/>
                        </a:rPr>
                        <a:t>Flowchart</a:t>
                      </a:r>
                    </a:p>
                  </a:txBody>
                  <a:tcPr marL="91440" marR="91440" anchor="ctr">
                    <a:solidFill>
                      <a:srgbClr val="FFFFFF"/>
                    </a:solidFill>
                  </a:tcPr>
                </a:tc>
                <a:tc>
                  <a:txBody>
                    <a:bodyPr wrap="square"/>
                    <a:lstStyle/>
                    <a:p>
                      <a:r>
                        <a:rPr sz="1600" b="0">
                          <a:solidFill>
                            <a:srgbClr val="202122"/>
                          </a:solidFill>
                          <a:latin typeface="Calibri"/>
                        </a:rPr>
                        <a:t>Visual; easy to follow the flow and decisions</a:t>
                      </a:r>
                    </a:p>
                  </a:txBody>
                  <a:tcPr marL="91440" marR="91440" anchor="ctr">
                    <a:solidFill>
                      <a:srgbClr val="FFFFFF"/>
                    </a:solidFill>
                  </a:tcPr>
                </a:tc>
                <a:tc>
                  <a:txBody>
                    <a:bodyPr wrap="square"/>
                    <a:lstStyle/>
                    <a:p>
                      <a:r>
                        <a:rPr sz="1600" b="0">
                          <a:solidFill>
                            <a:srgbClr val="202122"/>
                          </a:solidFill>
                          <a:latin typeface="Calibri"/>
                        </a:rPr>
                        <a:t>Slow to draw and edit for big problems</a:t>
                      </a:r>
                    </a:p>
                  </a:txBody>
                  <a:tcPr marL="91440" marR="91440" anchor="ctr">
                    <a:solidFill>
                      <a:srgbClr val="FFFFFF"/>
                    </a:solidFill>
                  </a:tcPr>
                </a:tc>
              </a:tr>
              <a:tr h="1131570">
                <a:tc>
                  <a:txBody>
                    <a:bodyPr wrap="square"/>
                    <a:lstStyle/>
                    <a:p>
                      <a:r>
                        <a:rPr sz="1600" b="1">
                          <a:solidFill>
                            <a:srgbClr val="03306E"/>
                          </a:solidFill>
                          <a:latin typeface="Calibri"/>
                        </a:rPr>
                        <a:t>Written description</a:t>
                      </a:r>
                    </a:p>
                  </a:txBody>
                  <a:tcPr marL="91440" marR="91440" anchor="ctr">
                    <a:solidFill>
                      <a:srgbClr val="EAF3FF"/>
                    </a:solidFill>
                  </a:tcPr>
                </a:tc>
                <a:tc>
                  <a:txBody>
                    <a:bodyPr wrap="square"/>
                    <a:lstStyle/>
                    <a:p>
                      <a:r>
                        <a:rPr sz="1600" b="0">
                          <a:solidFill>
                            <a:srgbClr val="202122"/>
                          </a:solidFill>
                          <a:latin typeface="Calibri"/>
                        </a:rPr>
                        <a:t>Quick to write; hierarchical markers show order</a:t>
                      </a:r>
                    </a:p>
                  </a:txBody>
                  <a:tcPr marL="91440" marR="91440" anchor="ctr">
                    <a:solidFill>
                      <a:srgbClr val="EAF3FF"/>
                    </a:solidFill>
                  </a:tcPr>
                </a:tc>
                <a:tc>
                  <a:txBody>
                    <a:bodyPr wrap="square"/>
                    <a:lstStyle/>
                    <a:p>
                      <a:r>
                        <a:rPr sz="1600" b="0">
                          <a:solidFill>
                            <a:srgbClr val="202122"/>
                          </a:solidFill>
                          <a:latin typeface="Calibri"/>
                        </a:rPr>
                        <a:t>Can be ambiguous</a:t>
                      </a:r>
                    </a:p>
                  </a:txBody>
                  <a:tcPr marL="91440" marR="91440" anchor="ctr">
                    <a:solidFill>
                      <a:srgbClr val="EAF3FF"/>
                    </a:solidFill>
                  </a:tcPr>
                </a:tc>
              </a:tr>
              <a:tr h="1131570">
                <a:tc>
                  <a:txBody>
                    <a:bodyPr wrap="square"/>
                    <a:lstStyle/>
                    <a:p>
                      <a:r>
                        <a:rPr sz="1600" b="1">
                          <a:solidFill>
                            <a:srgbClr val="03306E"/>
                          </a:solidFill>
                          <a:latin typeface="Calibri"/>
                        </a:rPr>
                        <a:t>Code</a:t>
                      </a:r>
                    </a:p>
                  </a:txBody>
                  <a:tcPr marL="91440" marR="91440" anchor="ctr">
                    <a:solidFill>
                      <a:srgbClr val="FFFFFF"/>
                    </a:solidFill>
                  </a:tcPr>
                </a:tc>
                <a:tc>
                  <a:txBody>
                    <a:bodyPr wrap="square"/>
                    <a:lstStyle/>
                    <a:p>
                      <a:r>
                        <a:rPr sz="1600" b="0">
                          <a:solidFill>
                            <a:srgbClr val="202122"/>
                          </a:solidFill>
                          <a:latin typeface="Calibri"/>
                        </a:rPr>
                        <a:t>Precise and can be run and tested</a:t>
                      </a:r>
                    </a:p>
                  </a:txBody>
                  <a:tcPr marL="91440" marR="91440" anchor="ctr">
                    <a:solidFill>
                      <a:srgbClr val="FFFFFF"/>
                    </a:solidFill>
                  </a:tcPr>
                </a:tc>
                <a:tc>
                  <a:txBody>
                    <a:bodyPr wrap="square"/>
                    <a:lstStyle/>
                    <a:p>
                      <a:r>
                        <a:rPr sz="1600" b="0">
                          <a:solidFill>
                            <a:srgbClr val="202122"/>
                          </a:solidFill>
                          <a:latin typeface="Calibri"/>
                        </a:rPr>
                        <a:t>Needs programming knowledge to read</a:t>
                      </a:r>
                    </a:p>
                  </a:txBody>
                  <a:tcPr marL="91440" marR="9144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Three ways to express an algorithm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flowchart symbol is used for input or output?</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one drawback of a written description.</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can code be tested when a flowchart can't?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Actions that control the order of steps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Every algorithm uses three actions to control the order of its steps.</a:t>
            </a:r>
          </a:p>
          <a:p>
            <a:pPr>
              <a:spcAft>
                <a:spcPts val="1320"/>
              </a:spcAft>
            </a:pPr>
            <a:r>
              <a:rPr sz="2200" b="1">
                <a:solidFill>
                  <a:srgbClr val="202122"/>
                </a:solidFill>
                <a:latin typeface="Calibri"/>
              </a:rPr>
              <a:t>Sequence:</a:t>
            </a:r>
            <a:r>
              <a:rPr sz="2200" b="0">
                <a:solidFill>
                  <a:srgbClr val="202122"/>
                </a:solidFill>
                <a:latin typeface="Calibri"/>
              </a:rPr>
              <a:t> steps run one after another, top to bottom.</a:t>
            </a:r>
          </a:p>
          <a:p>
            <a:pPr>
              <a:spcAft>
                <a:spcPts val="1320"/>
              </a:spcAft>
            </a:pPr>
            <a:r>
              <a:rPr sz="2200" b="1">
                <a:solidFill>
                  <a:srgbClr val="202122"/>
                </a:solidFill>
                <a:latin typeface="Calibri"/>
              </a:rPr>
              <a:t>Selection:</a:t>
            </a:r>
            <a:r>
              <a:rPr sz="2200" b="0">
                <a:solidFill>
                  <a:srgbClr val="202122"/>
                </a:solidFill>
                <a:latin typeface="Calibri"/>
              </a:rPr>
              <a:t> a condition decides which steps run. Python uses if, elif and else, or match case to compare one value against several options.</a:t>
            </a:r>
          </a:p>
          <a:p>
            <a:pPr>
              <a:spcAft>
                <a:spcPts val="1320"/>
              </a:spcAft>
            </a:pPr>
            <a:r>
              <a:rPr sz="2200" b="1">
                <a:solidFill>
                  <a:srgbClr val="202122"/>
                </a:solidFill>
                <a:latin typeface="Calibri"/>
              </a:rPr>
              <a:t>Iteration:</a:t>
            </a:r>
            <a:r>
              <a:rPr sz="2200" b="0">
                <a:solidFill>
                  <a:srgbClr val="202122"/>
                </a:solidFill>
                <a:latin typeface="Calibri"/>
              </a:rPr>
              <a:t> steps repeat. A for loop repeats a set number of times or once for each item in a list (count-controlled). A while loop repeats as long as a condition is true (condition-controlled), so the condition must eventually become false.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guessing game: generate a number (sequence), while the guess is wrong keep asking (iteration), if the guess is too high say 'lower' (selection).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Actions that control the order of steps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Rounded Rectangle 5"/>
          <p:cNvSpPr/>
          <p:nvPr/>
        </p:nvSpPr>
        <p:spPr>
          <a:xfrm>
            <a:off x="548640"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Sequence</a:t>
            </a:r>
          </a:p>
        </p:txBody>
      </p:sp>
      <p:sp>
        <p:nvSpPr>
          <p:cNvPr id="9" name="TextBox 8"/>
          <p:cNvSpPr txBox="1"/>
          <p:nvPr/>
        </p:nvSpPr>
        <p:spPr>
          <a:xfrm>
            <a:off x="777240" y="2468880"/>
            <a:ext cx="3058058" cy="3566160"/>
          </a:xfrm>
          <a:prstGeom prst="rect">
            <a:avLst/>
          </a:prstGeom>
          <a:noFill/>
        </p:spPr>
        <p:txBody>
          <a:bodyPr wrap="square" anchor="t" lIns="0" rIns="0" tIns="0" bIns="0"/>
          <a:lstStyle/>
          <a:p>
            <a:pPr algn="l"/>
            <a:r>
              <a:rPr sz="2000" b="0" i="0">
                <a:solidFill>
                  <a:srgbClr val="202122"/>
                </a:solidFill>
                <a:latin typeface="Calibri"/>
              </a:rPr>
              <a:t>Steps run one after another, in order.</a:t>
            </a:r>
          </a:p>
        </p:txBody>
      </p:sp>
      <p:sp>
        <p:nvSpPr>
          <p:cNvPr id="10" name="Rounded Rectangle 9"/>
          <p:cNvSpPr/>
          <p:nvPr/>
        </p:nvSpPr>
        <p:spPr>
          <a:xfrm>
            <a:off x="4338218"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Selection</a:t>
            </a:r>
          </a:p>
        </p:txBody>
      </p:sp>
      <p:sp>
        <p:nvSpPr>
          <p:cNvPr id="13" name="TextBox 12"/>
          <p:cNvSpPr txBox="1"/>
          <p:nvPr/>
        </p:nvSpPr>
        <p:spPr>
          <a:xfrm>
            <a:off x="4566818" y="2468880"/>
            <a:ext cx="3058058" cy="3566160"/>
          </a:xfrm>
          <a:prstGeom prst="rect">
            <a:avLst/>
          </a:prstGeom>
          <a:noFill/>
        </p:spPr>
        <p:txBody>
          <a:bodyPr wrap="square" anchor="t" lIns="0" rIns="0" tIns="0" bIns="0"/>
          <a:lstStyle/>
          <a:p>
            <a:pPr algn="l"/>
            <a:r>
              <a:rPr sz="2000" b="0" i="0">
                <a:solidFill>
                  <a:srgbClr val="202122"/>
                </a:solidFill>
                <a:latin typeface="Calibri"/>
              </a:rPr>
              <a:t>A condition chooses which path to take: if, elif, else, match case.</a:t>
            </a:r>
          </a:p>
        </p:txBody>
      </p:sp>
      <p:sp>
        <p:nvSpPr>
          <p:cNvPr id="14" name="Rounded Rectangle 13"/>
          <p:cNvSpPr/>
          <p:nvPr/>
        </p:nvSpPr>
        <p:spPr>
          <a:xfrm>
            <a:off x="8127796"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Iteration</a:t>
            </a:r>
          </a:p>
        </p:txBody>
      </p:sp>
      <p:sp>
        <p:nvSpPr>
          <p:cNvPr id="17" name="TextBox 16"/>
          <p:cNvSpPr txBox="1"/>
          <p:nvPr/>
        </p:nvSpPr>
        <p:spPr>
          <a:xfrm>
            <a:off x="8356396" y="2468880"/>
            <a:ext cx="3058058" cy="3566160"/>
          </a:xfrm>
          <a:prstGeom prst="rect">
            <a:avLst/>
          </a:prstGeom>
          <a:noFill/>
        </p:spPr>
        <p:txBody>
          <a:bodyPr wrap="square" anchor="t" lIns="0" rIns="0" tIns="0" bIns="0"/>
          <a:lstStyle/>
          <a:p>
            <a:pPr algn="l"/>
            <a:r>
              <a:rPr sz="2000" b="0" i="0">
                <a:solidFill>
                  <a:srgbClr val="202122"/>
                </a:solidFill>
                <a:latin typeface="Calibri"/>
              </a:rPr>
              <a:t>Steps repeat: a for loop a set number of times, a while loop until a condition changes.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Actions that control the order of steps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Python loop is count-controlled?</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keywords does Python use for selection?</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the risk with a while loop?</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Working with algorithms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You'll need to work with algorithms in four ways.</a:t>
            </a:r>
          </a:p>
          <a:p>
            <a:pPr>
              <a:spcAft>
                <a:spcPts val="1260"/>
              </a:spcAft>
            </a:pPr>
            <a:r>
              <a:rPr sz="2100" b="1">
                <a:solidFill>
                  <a:srgbClr val="202122"/>
                </a:solidFill>
                <a:latin typeface="Calibri"/>
              </a:rPr>
              <a:t>Find the purpose and output:</a:t>
            </a:r>
            <a:r>
              <a:rPr sz="2100" b="0">
                <a:solidFill>
                  <a:srgbClr val="202122"/>
                </a:solidFill>
                <a:latin typeface="Calibri"/>
              </a:rPr>
              <a:t> trace the algorithm with sample inputs, recording every variable in a trace table, to see what it does.</a:t>
            </a:r>
          </a:p>
          <a:p>
            <a:pPr>
              <a:spcAft>
                <a:spcPts val="1260"/>
              </a:spcAft>
            </a:pPr>
            <a:r>
              <a:rPr sz="2100" b="1">
                <a:solidFill>
                  <a:srgbClr val="202122"/>
                </a:solidFill>
                <a:latin typeface="Calibri"/>
              </a:rPr>
              <a:t>Find and correct errors:</a:t>
            </a:r>
            <a:r>
              <a:rPr sz="2100" b="0">
                <a:solidFill>
                  <a:srgbClr val="202122"/>
                </a:solidFill>
                <a:latin typeface="Calibri"/>
              </a:rPr>
              <a:t> look for logic errors such as a wrong comparison, a loop that stops one step early, or a variable that's never updated.</a:t>
            </a:r>
          </a:p>
          <a:p>
            <a:pPr>
              <a:spcAft>
                <a:spcPts val="1260"/>
              </a:spcAft>
            </a:pPr>
            <a:r>
              <a:rPr sz="2100" b="1">
                <a:solidFill>
                  <a:srgbClr val="202122"/>
                </a:solidFill>
                <a:latin typeface="Calibri"/>
              </a:rPr>
              <a:t>Translate:</a:t>
            </a:r>
            <a:r>
              <a:rPr sz="2100" b="0">
                <a:solidFill>
                  <a:srgbClr val="202122"/>
                </a:solidFill>
                <a:latin typeface="Calibri"/>
              </a:rPr>
              <a:t> turn a flowchart into code, or code into a written description.</a:t>
            </a:r>
          </a:p>
          <a:p>
            <a:pPr>
              <a:spcAft>
                <a:spcPts val="1260"/>
              </a:spcAft>
            </a:pPr>
            <a:r>
              <a:rPr sz="2100" b="1">
                <a:solidFill>
                  <a:srgbClr val="202122"/>
                </a:solidFill>
                <a:latin typeface="Calibri"/>
              </a:rPr>
              <a:t>Design:</a:t>
            </a:r>
            <a:r>
              <a:rPr sz="2100" b="0">
                <a:solidFill>
                  <a:srgbClr val="202122"/>
                </a:solidFill>
                <a:latin typeface="Calibri"/>
              </a:rPr>
              <a:t> build your own algorithm from sequence, selection and iteration, starting from the inputs and outputs.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total = 0; for i in range(1, 5): total = total + i gives 10, not 15, because range(1, 5) stops at 4. The fix is range(1, 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Working with algorithms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1">
                <a:solidFill>
                  <a:srgbClr val="202122"/>
                </a:solidFill>
                <a:latin typeface="Calibri"/>
              </a:rPr>
              <a:t>Purpose:</a:t>
            </a:r>
            <a:r>
              <a:rPr sz="2200" b="0">
                <a:solidFill>
                  <a:srgbClr val="202122"/>
                </a:solidFill>
                <a:latin typeface="Calibri"/>
              </a:rPr>
              <a:t> work out what an algorithm is for by tracing it with sample inputs.</a:t>
            </a:r>
          </a:p>
          <a:p>
            <a:pPr marL="274320" indent="-274320">
              <a:spcAft>
                <a:spcPts val="990"/>
              </a:spcAft>
              <a:buClr>
                <a:srgbClr val="0645AD"/>
              </a:buClr>
              <a:buFont typeface="Arial"/>
              <a:buChar char="•"/>
            </a:pPr>
            <a:r>
              <a:rPr sz="2200" b="1">
                <a:solidFill>
                  <a:srgbClr val="202122"/>
                </a:solidFill>
                <a:latin typeface="Calibri"/>
              </a:rPr>
              <a:t>Output:</a:t>
            </a:r>
            <a:r>
              <a:rPr sz="2200" b="0">
                <a:solidFill>
                  <a:srgbClr val="202122"/>
                </a:solidFill>
                <a:latin typeface="Calibri"/>
              </a:rPr>
              <a:t> predict exactly what it will output for a given input.</a:t>
            </a:r>
          </a:p>
          <a:p>
            <a:pPr marL="274320" indent="-274320">
              <a:spcAft>
                <a:spcPts val="990"/>
              </a:spcAft>
              <a:buClr>
                <a:srgbClr val="0645AD"/>
              </a:buClr>
              <a:buFont typeface="Arial"/>
              <a:buChar char="•"/>
            </a:pPr>
            <a:r>
              <a:rPr sz="2200" b="1">
                <a:solidFill>
                  <a:srgbClr val="202122"/>
                </a:solidFill>
                <a:latin typeface="Calibri"/>
              </a:rPr>
              <a:t>Errors:</a:t>
            </a:r>
            <a:r>
              <a:rPr sz="2200" b="0">
                <a:solidFill>
                  <a:srgbClr val="202122"/>
                </a:solidFill>
                <a:latin typeface="Calibri"/>
              </a:rPr>
              <a:t> find and correct logic errors, e.g. a wrong comparison or a loop that never ends.</a:t>
            </a:r>
          </a:p>
          <a:p>
            <a:pPr marL="274320" indent="-274320">
              <a:spcAft>
                <a:spcPts val="990"/>
              </a:spcAft>
              <a:buClr>
                <a:srgbClr val="0645AD"/>
              </a:buClr>
              <a:buFont typeface="Arial"/>
              <a:buChar char="•"/>
            </a:pPr>
            <a:r>
              <a:rPr sz="2200" b="1">
                <a:solidFill>
                  <a:srgbClr val="202122"/>
                </a:solidFill>
                <a:latin typeface="Calibri"/>
              </a:rPr>
              <a:t>Translate:</a:t>
            </a:r>
            <a:r>
              <a:rPr sz="2200" b="0">
                <a:solidFill>
                  <a:srgbClr val="202122"/>
                </a:solidFill>
                <a:latin typeface="Calibri"/>
              </a:rPr>
              <a:t> turn a flowchart into code, or code into a written description.</a:t>
            </a:r>
          </a:p>
          <a:p>
            <a:pPr marL="274320" indent="-274320">
              <a:spcAft>
                <a:spcPts val="990"/>
              </a:spcAft>
              <a:buClr>
                <a:srgbClr val="0645AD"/>
              </a:buClr>
              <a:buFont typeface="Arial"/>
              <a:buChar char="•"/>
            </a:pPr>
            <a:r>
              <a:rPr sz="2200" b="1">
                <a:solidFill>
                  <a:srgbClr val="202122"/>
                </a:solidFill>
                <a:latin typeface="Calibri"/>
              </a:rPr>
              <a:t>Design:</a:t>
            </a:r>
            <a:r>
              <a:rPr sz="2200" b="0">
                <a:solidFill>
                  <a:srgbClr val="202122"/>
                </a:solidFill>
                <a:latin typeface="Calibri"/>
              </a:rPr>
              <a:t> build your own algorithm using sequence, selection and iteration.</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Use a trace table: one column per variable, one row per step. It shows exactly where an algorithm goes wrong.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Working with algorithms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trace table?</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range(1, 5) produce?</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Where should you start when designing an algorithm?</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Name the four components of computational thinking.</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Which flowchart symbol shows a decision?</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Which Python keyword gives condition-controlled iteration?</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Give one benefit of expressing an algorithm as code.</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What is a trace table used for?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17</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Name the four components of computational thinking.</a:t>
            </a:r>
          </a:p>
          <a:p>
            <a:r>
              <a:rPr sz="1800" b="1">
                <a:solidFill>
                  <a:srgbClr val="03306E"/>
                </a:solidFill>
                <a:latin typeface="Calibri"/>
              </a:rPr>
              <a:t>Decomposition, pattern recognition, abstraction, algorithmic design.</a:t>
            </a:r>
          </a:p>
        </p:txBody>
      </p:sp>
      <p:sp>
        <p:nvSpPr>
          <p:cNvPr id="8" name="Oval 7"/>
          <p:cNvSpPr/>
          <p:nvPr/>
        </p:nvSpPr>
        <p:spPr>
          <a:xfrm>
            <a:off x="548640" y="2574950"/>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Which flowchart symbol shows a decision?</a:t>
            </a:r>
          </a:p>
          <a:p>
            <a:r>
              <a:rPr sz="1800" b="1">
                <a:solidFill>
                  <a:srgbClr val="03306E"/>
                </a:solidFill>
                <a:latin typeface="Calibri"/>
              </a:rPr>
              <a:t>A diamond.</a:t>
            </a:r>
          </a:p>
        </p:txBody>
      </p:sp>
      <p:sp>
        <p:nvSpPr>
          <p:cNvPr id="10" name="Oval 9"/>
          <p:cNvSpPr/>
          <p:nvPr/>
        </p:nvSpPr>
        <p:spPr>
          <a:xfrm>
            <a:off x="548640" y="3531412"/>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Which Python keyword gives condition-controlled iteration?</a:t>
            </a:r>
          </a:p>
          <a:p>
            <a:r>
              <a:rPr sz="1800" b="1">
                <a:solidFill>
                  <a:srgbClr val="03306E"/>
                </a:solidFill>
                <a:latin typeface="Calibri"/>
              </a:rPr>
              <a:t>while.</a:t>
            </a:r>
          </a:p>
        </p:txBody>
      </p:sp>
      <p:sp>
        <p:nvSpPr>
          <p:cNvPr id="12" name="Oval 11"/>
          <p:cNvSpPr/>
          <p:nvPr/>
        </p:nvSpPr>
        <p:spPr>
          <a:xfrm>
            <a:off x="548640" y="4487875"/>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Give one benefit of expressing an algorithm as code.</a:t>
            </a:r>
          </a:p>
          <a:p>
            <a:r>
              <a:rPr sz="1800" b="1">
                <a:solidFill>
                  <a:srgbClr val="03306E"/>
                </a:solidFill>
                <a:latin typeface="Calibri"/>
              </a:rPr>
              <a:t>It is precise and can be run and tested.</a:t>
            </a:r>
          </a:p>
        </p:txBody>
      </p:sp>
      <p:sp>
        <p:nvSpPr>
          <p:cNvPr id="14" name="Oval 13"/>
          <p:cNvSpPr/>
          <p:nvPr/>
        </p:nvSpPr>
        <p:spPr>
          <a:xfrm>
            <a:off x="548640" y="5444337"/>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What is a trace table used for?</a:t>
            </a:r>
          </a:p>
          <a:p>
            <a:r>
              <a:rPr sz="1800" b="1">
                <a:solidFill>
                  <a:srgbClr val="03306E"/>
                </a:solidFill>
                <a:latin typeface="Calibri"/>
              </a:rPr>
              <a:t>Recording variable values step by step to check or debug an algorithm.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Flowchart to Python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Computational Thinking and Algorithms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18</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Draw a flowchart that asks for exam marks until the user enters -1, then outputs the average.</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Trace it with the inputs 60, 80, -1.</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Translate the flowchart into Python.</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Swap code with another pair and find one improvement.</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Correct flowchart symbols</a:t>
            </a:r>
          </a:p>
          <a:p>
            <a:pPr marL="274320" indent="-274320">
              <a:spcAft>
                <a:spcPts val="810"/>
              </a:spcAft>
              <a:buClr>
                <a:srgbClr val="0645AD"/>
              </a:buClr>
              <a:buFont typeface="Arial"/>
              <a:buChar char="•"/>
            </a:pPr>
            <a:r>
              <a:rPr sz="1800" b="0">
                <a:solidFill>
                  <a:srgbClr val="202122"/>
                </a:solidFill>
                <a:latin typeface="Calibri"/>
              </a:rPr>
              <a:t>Loop ends on -1 without counting it</a:t>
            </a:r>
          </a:p>
          <a:p>
            <a:pPr marL="274320" indent="-274320">
              <a:spcAft>
                <a:spcPts val="810"/>
              </a:spcAft>
              <a:buClr>
                <a:srgbClr val="0645AD"/>
              </a:buClr>
              <a:buFont typeface="Arial"/>
              <a:buChar char="•"/>
            </a:pPr>
            <a:r>
              <a:rPr sz="1800" b="0">
                <a:solidFill>
                  <a:srgbClr val="202122"/>
                </a:solidFill>
                <a:latin typeface="Calibri"/>
              </a:rPr>
              <a:t>Code matches the flowchart</a:t>
            </a:r>
          </a:p>
          <a:p>
            <a:pPr marL="274320" indent="-274320">
              <a:spcAft>
                <a:spcPts val="810"/>
              </a:spcAft>
              <a:buClr>
                <a:srgbClr val="0645AD"/>
              </a:buClr>
              <a:buFont typeface="Arial"/>
              <a:buChar char="•"/>
            </a:pPr>
            <a:r>
              <a:rPr sz="1800" b="0">
                <a:solidFill>
                  <a:srgbClr val="202122"/>
                </a:solidFill>
                <a:latin typeface="Calibri"/>
              </a:rPr>
              <a:t>Trace gives an average of 70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CORE COMPONENT  ·  Core Paper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Which component of computational thinking helps most when a problem is huge?</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When would a flowchart be better than code?</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What is the difference between a for loop and a while loop?</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Core Paper 1: Problem Solving, Programming, Emerging Issues and Legislation</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https://lana6478.github.io/T-level-Digital-Software-Development/#/01-core-component/01-core-paper-1.md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Computational Thinking and Algorithms</dc:title>
  <dc:subject>Digital Software Development T Level: Core Paper 1</dc:subject>
  <dc:creator>Samuel O'Connell</dc:creator>
  <cp:keywords>T Level; Digital Software Development; lesson slides; 1.1, 1.2</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