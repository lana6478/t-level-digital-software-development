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SQL.</a:t>
            </a:r>
          </a:p>
          <a:p>
            <a:r>
              <a:t>2. At least two.</a:t>
            </a:r>
          </a:p>
          <a:p>
            <a:r>
              <a:t>3. Makes pages interactive (front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Packaging: organise front and back end into one product, e.g. HTML, CSS and frameworks, or a single executable.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Source control, build, unit test, deploy, monitor.</a:t>
            </a:r>
          </a:p>
          <a:p>
            <a:r>
              <a:t>2. To catch bugs immediately.</a:t>
            </a:r>
          </a:p>
          <a:p>
            <a:r>
              <a:t>3. Each change is small and easy to fix or roll 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five: backing services as attached resources, port binding, scale via processes, fast startup and graceful shutdown, admin tasks as one-off processes.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In the environment.</a:t>
            </a:r>
          </a:p>
          <a:p>
            <a:r>
              <a:t>2. So code behaves the same in both.</a:t>
            </a:r>
          </a:p>
          <a:p>
            <a:r>
              <a:t>3. One that keeps no data between requests.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33C17A"/>
                </a:solidFill>
                <a:latin typeface="Calibri"/>
              </a:rPr>
              <a:t>OCCUPATIONAL SPECIALISM</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Languages, CI/CD and Good Practice</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Specialism Content Area 6</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6.1</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Select at least two languages for front-end and back-end work.</a:t>
            </a:r>
          </a:p>
        </p:txBody>
      </p:sp>
      <p:sp>
        <p:nvSpPr>
          <p:cNvPr id="9" name="Oval 8"/>
          <p:cNvSpPr/>
          <p:nvPr/>
        </p:nvSpPr>
        <p:spPr>
          <a:xfrm>
            <a:off x="548640" y="327469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Use tools, APIs, packages and libraries to add functionality.</a:t>
            </a:r>
          </a:p>
        </p:txBody>
      </p:sp>
      <p:sp>
        <p:nvSpPr>
          <p:cNvPr id="11" name="Oval 10"/>
          <p:cNvSpPr/>
          <p:nvPr/>
        </p:nvSpPr>
        <p:spPr>
          <a:xfrm>
            <a:off x="548640" y="431482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Describe the stages of a CI/CD pipeline.</a:t>
            </a:r>
          </a:p>
        </p:txBody>
      </p:sp>
      <p:sp>
        <p:nvSpPr>
          <p:cNvPr id="13" name="Oval 12"/>
          <p:cNvSpPr/>
          <p:nvPr/>
        </p:nvSpPr>
        <p:spPr>
          <a:xfrm>
            <a:off x="548640" y="5354954"/>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Apply coding conventions and the 12-factor principles.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website has a page you see and a database you don't. Which languages might build each part?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Languages in the specification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You must use at least two languages, for front-end and back-end work.</a:t>
            </a:r>
          </a:p>
          <a:p>
            <a:pPr>
              <a:spcAft>
                <a:spcPts val="1260"/>
              </a:spcAft>
            </a:pPr>
            <a:r>
              <a:rPr sz="2100" b="0">
                <a:solidFill>
                  <a:srgbClr val="202122"/>
                </a:solidFill>
                <a:latin typeface="Calibri"/>
              </a:rPr>
              <a:t>Python 3.10+ suits back-end logic, data processing and scripting. C# builds desktop apps, games and services. SQL queries and changes databases. JavaScript makes web pages interactive, and can run back ends too. PHP builds server-side web pages.</a:t>
            </a:r>
          </a:p>
          <a:p>
            <a:pPr>
              <a:spcAft>
                <a:spcPts val="1260"/>
              </a:spcAft>
            </a:pPr>
            <a:r>
              <a:rPr sz="2100" b="0">
                <a:solidFill>
                  <a:srgbClr val="202122"/>
                </a:solidFill>
                <a:latin typeface="Calibri"/>
              </a:rPr>
              <a:t>Tools, APIs, packages and libraries add functionality: dynamic content, form handling, files, cookies, responsive layouts, networking, containerisation, infrastructure as code and security features such as access control and encryption.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booking site: JavaScript for the interactive calendar (front end), Python for the booking logic (back end), SQL for the database.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Languages in the specification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graphicFrame>
        <p:nvGraphicFramePr>
          <p:cNvPr id="6" name="Table 5"/>
          <p:cNvGraphicFramePr>
            <a:graphicFrameLocks noGrp="1"/>
          </p:cNvGraphicFramePr>
          <p:nvPr/>
        </p:nvGraphicFramePr>
        <p:xfrm>
          <a:off x="548640" y="1600200"/>
          <a:ext cx="11094414" cy="3977640"/>
        </p:xfrm>
        <a:graphic>
          <a:graphicData uri="http://schemas.openxmlformats.org/drawingml/2006/table">
            <a:tbl>
              <a:tblPr firstRow="1" bandRow="1">
                <a:tableStyleId>{5C22544A-7EE6-4342-B048-85BDC9FD1C3A}</a:tableStyleId>
              </a:tblPr>
              <a:tblGrid>
                <a:gridCol w="2580096"/>
                <a:gridCol w="8514318"/>
              </a:tblGrid>
              <a:tr h="662940">
                <a:tc>
                  <a:txBody>
                    <a:bodyPr wrap="square"/>
                    <a:lstStyle/>
                    <a:p>
                      <a:r>
                        <a:rPr sz="1600" b="1">
                          <a:solidFill>
                            <a:srgbClr val="FFFFFF"/>
                          </a:solidFill>
                          <a:latin typeface="Calibri"/>
                        </a:rPr>
                        <a:t>Language</a:t>
                      </a:r>
                    </a:p>
                  </a:txBody>
                  <a:tcPr marL="91440" marR="91440" anchor="ctr">
                    <a:solidFill>
                      <a:srgbClr val="03306E"/>
                    </a:solidFill>
                  </a:tcPr>
                </a:tc>
                <a:tc>
                  <a:txBody>
                    <a:bodyPr wrap="square"/>
                    <a:lstStyle/>
                    <a:p>
                      <a:r>
                        <a:rPr sz="1600" b="1">
                          <a:solidFill>
                            <a:srgbClr val="FFFFFF"/>
                          </a:solidFill>
                          <a:latin typeface="Calibri"/>
                        </a:rPr>
                        <a:t>Typical use</a:t>
                      </a:r>
                    </a:p>
                  </a:txBody>
                  <a:tcPr marL="91440" marR="91440" anchor="ctr">
                    <a:solidFill>
                      <a:srgbClr val="03306E"/>
                    </a:solidFill>
                  </a:tcPr>
                </a:tc>
              </a:tr>
              <a:tr h="662940">
                <a:tc>
                  <a:txBody>
                    <a:bodyPr wrap="square"/>
                    <a:lstStyle/>
                    <a:p>
                      <a:r>
                        <a:rPr sz="1600" b="1">
                          <a:solidFill>
                            <a:srgbClr val="03306E"/>
                          </a:solidFill>
                          <a:latin typeface="Calibri"/>
                        </a:rPr>
                        <a:t>Python 3.10+</a:t>
                      </a:r>
                    </a:p>
                  </a:txBody>
                  <a:tcPr marL="91440" marR="91440" anchor="ctr">
                    <a:solidFill>
                      <a:srgbClr val="FFFFFF"/>
                    </a:solidFill>
                  </a:tcPr>
                </a:tc>
                <a:tc>
                  <a:txBody>
                    <a:bodyPr wrap="square"/>
                    <a:lstStyle/>
                    <a:p>
                      <a:r>
                        <a:rPr sz="1600" b="0">
                          <a:solidFill>
                            <a:srgbClr val="202122"/>
                          </a:solidFill>
                          <a:latin typeface="Calibri"/>
                        </a:rPr>
                        <a:t>Back-end logic, data processing, scripting</a:t>
                      </a:r>
                    </a:p>
                  </a:txBody>
                  <a:tcPr marL="91440" marR="91440" anchor="ctr">
                    <a:solidFill>
                      <a:srgbClr val="FFFFFF"/>
                    </a:solidFill>
                  </a:tcPr>
                </a:tc>
              </a:tr>
              <a:tr h="662940">
                <a:tc>
                  <a:txBody>
                    <a:bodyPr wrap="square"/>
                    <a:lstStyle/>
                    <a:p>
                      <a:r>
                        <a:rPr sz="1600" b="1">
                          <a:solidFill>
                            <a:srgbClr val="03306E"/>
                          </a:solidFill>
                          <a:latin typeface="Calibri"/>
                        </a:rPr>
                        <a:t>C#</a:t>
                      </a:r>
                    </a:p>
                  </a:txBody>
                  <a:tcPr marL="91440" marR="91440" anchor="ctr">
                    <a:solidFill>
                      <a:srgbClr val="EAF3FF"/>
                    </a:solidFill>
                  </a:tcPr>
                </a:tc>
                <a:tc>
                  <a:txBody>
                    <a:bodyPr wrap="square"/>
                    <a:lstStyle/>
                    <a:p>
                      <a:r>
                        <a:rPr sz="1600" b="0">
                          <a:solidFill>
                            <a:srgbClr val="202122"/>
                          </a:solidFill>
                          <a:latin typeface="Calibri"/>
                        </a:rPr>
                        <a:t>Desktop, games and back-end services</a:t>
                      </a:r>
                    </a:p>
                  </a:txBody>
                  <a:tcPr marL="91440" marR="91440" anchor="ctr">
                    <a:solidFill>
                      <a:srgbClr val="EAF3FF"/>
                    </a:solidFill>
                  </a:tcPr>
                </a:tc>
              </a:tr>
              <a:tr h="662940">
                <a:tc>
                  <a:txBody>
                    <a:bodyPr wrap="square"/>
                    <a:lstStyle/>
                    <a:p>
                      <a:r>
                        <a:rPr sz="1600" b="1">
                          <a:solidFill>
                            <a:srgbClr val="03306E"/>
                          </a:solidFill>
                          <a:latin typeface="Calibri"/>
                        </a:rPr>
                        <a:t>SQL</a:t>
                      </a:r>
                    </a:p>
                  </a:txBody>
                  <a:tcPr marL="91440" marR="91440" anchor="ctr">
                    <a:solidFill>
                      <a:srgbClr val="FFFFFF"/>
                    </a:solidFill>
                  </a:tcPr>
                </a:tc>
                <a:tc>
                  <a:txBody>
                    <a:bodyPr wrap="square"/>
                    <a:lstStyle/>
                    <a:p>
                      <a:r>
                        <a:rPr sz="1600" b="0">
                          <a:solidFill>
                            <a:srgbClr val="202122"/>
                          </a:solidFill>
                          <a:latin typeface="Calibri"/>
                        </a:rPr>
                        <a:t>Querying and changing databases</a:t>
                      </a:r>
                    </a:p>
                  </a:txBody>
                  <a:tcPr marL="91440" marR="91440" anchor="ctr">
                    <a:solidFill>
                      <a:srgbClr val="FFFFFF"/>
                    </a:solidFill>
                  </a:tcPr>
                </a:tc>
              </a:tr>
              <a:tr h="662940">
                <a:tc>
                  <a:txBody>
                    <a:bodyPr wrap="square"/>
                    <a:lstStyle/>
                    <a:p>
                      <a:r>
                        <a:rPr sz="1600" b="1">
                          <a:solidFill>
                            <a:srgbClr val="03306E"/>
                          </a:solidFill>
                          <a:latin typeface="Calibri"/>
                        </a:rPr>
                        <a:t>JavaScript</a:t>
                      </a:r>
                    </a:p>
                  </a:txBody>
                  <a:tcPr marL="91440" marR="91440" anchor="ctr">
                    <a:solidFill>
                      <a:srgbClr val="EAF3FF"/>
                    </a:solidFill>
                  </a:tcPr>
                </a:tc>
                <a:tc>
                  <a:txBody>
                    <a:bodyPr wrap="square"/>
                    <a:lstStyle/>
                    <a:p>
                      <a:r>
                        <a:rPr sz="1600" b="0">
                          <a:solidFill>
                            <a:srgbClr val="202122"/>
                          </a:solidFill>
                          <a:latin typeface="Calibri"/>
                        </a:rPr>
                        <a:t>Interactive front ends, and back ends with Node</a:t>
                      </a:r>
                    </a:p>
                  </a:txBody>
                  <a:tcPr marL="91440" marR="91440" anchor="ctr">
                    <a:solidFill>
                      <a:srgbClr val="EAF3FF"/>
                    </a:solidFill>
                  </a:tcPr>
                </a:tc>
              </a:tr>
              <a:tr h="662940">
                <a:tc>
                  <a:txBody>
                    <a:bodyPr wrap="square"/>
                    <a:lstStyle/>
                    <a:p>
                      <a:r>
                        <a:rPr sz="1600" b="1">
                          <a:solidFill>
                            <a:srgbClr val="03306E"/>
                          </a:solidFill>
                          <a:latin typeface="Calibri"/>
                        </a:rPr>
                        <a:t>PHP</a:t>
                      </a:r>
                    </a:p>
                  </a:txBody>
                  <a:tcPr marL="91440" marR="91440" anchor="ctr">
                    <a:solidFill>
                      <a:srgbClr val="FFFFFF"/>
                    </a:solidFill>
                  </a:tcPr>
                </a:tc>
                <a:tc>
                  <a:txBody>
                    <a:bodyPr wrap="square"/>
                    <a:lstStyle/>
                    <a:p>
                      <a:r>
                        <a:rPr sz="1600" b="0">
                          <a:solidFill>
                            <a:srgbClr val="202122"/>
                          </a:solidFill>
                          <a:latin typeface="Calibri"/>
                        </a:rPr>
                        <a:t>Server-side web pages</a:t>
                      </a:r>
                    </a:p>
                  </a:txBody>
                  <a:tcPr marL="91440" marR="91440" anchor="ctr">
                    <a:solidFill>
                      <a:srgbClr val="FFFFFF"/>
                    </a:solidFill>
                  </a:tcPr>
                </a:tc>
              </a:tr>
            </a:tbl>
          </a:graphicData>
        </a:graphic>
      </p:graphicFrame>
      <p:sp>
        <p:nvSpPr>
          <p:cNvPr id="7" name="TextBox 6"/>
          <p:cNvSpPr txBox="1"/>
          <p:nvPr/>
        </p:nvSpPr>
        <p:spPr>
          <a:xfrm>
            <a:off x="548640" y="5715000"/>
            <a:ext cx="11094415" cy="457200"/>
          </a:xfrm>
          <a:prstGeom prst="rect">
            <a:avLst/>
          </a:prstGeom>
          <a:noFill/>
        </p:spPr>
        <p:txBody>
          <a:bodyPr wrap="square" anchor="t" lIns="0" rIns="0" tIns="0" bIns="0"/>
          <a:lstStyle/>
          <a:p>
            <a:pPr algn="l"/>
            <a:r>
              <a:rPr sz="1300" b="0" i="1">
                <a:solidFill>
                  <a:srgbClr val="54595D"/>
                </a:solidFill>
                <a:latin typeface="Calibri"/>
              </a:rPr>
              <a:t>Tools and libraries add features: dynamic content, forms, files, cookies, layouts, networking, security, containers.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Languages in the specification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language queries databases?</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How many languages must your project use?</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JavaScript usually do on a website?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CI/CD pipeline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Continuous integration and continuous deployment (CI/CD) automates the path from code to users.</a:t>
            </a:r>
          </a:p>
          <a:p>
            <a:pPr>
              <a:spcAft>
                <a:spcPts val="1320"/>
              </a:spcAft>
            </a:pPr>
            <a:r>
              <a:rPr sz="2200" b="1">
                <a:solidFill>
                  <a:srgbClr val="202122"/>
                </a:solidFill>
                <a:latin typeface="Calibri"/>
              </a:rPr>
              <a:t>Source code control:</a:t>
            </a:r>
            <a:r>
              <a:rPr sz="2200" b="0">
                <a:solidFill>
                  <a:srgbClr val="202122"/>
                </a:solidFill>
                <a:latin typeface="Calibri"/>
              </a:rPr>
              <a:t> all code lives in a repository. Build automation: every change is built automatically. Unit test automation: tests run on every change, so bugs are caught immediately. Deployment automation: code that passes is released automatically. Monitoring: the live system is watched for problems.</a:t>
            </a:r>
          </a:p>
          <a:p>
            <a:pPr>
              <a:spcAft>
                <a:spcPts val="1320"/>
              </a:spcAft>
            </a:pPr>
            <a:r>
              <a:rPr sz="2200" b="0">
                <a:solidFill>
                  <a:srgbClr val="202122"/>
                </a:solidFill>
                <a:latin typeface="Calibri"/>
              </a:rPr>
              <a:t>The result is small, frequent, reliable releases instead of big, risky ones.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developer pushes a fix. Within ten minutes it's built, 200 tests pass, and it's live, with no manual steps.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CI/CD pipeline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ectangle 5"/>
          <p:cNvSpPr/>
          <p:nvPr/>
        </p:nvSpPr>
        <p:spPr>
          <a:xfrm>
            <a:off x="1603217" y="2930652"/>
            <a:ext cx="8985260"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83177" y="262890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406140"/>
            <a:ext cx="2109155" cy="731520"/>
          </a:xfrm>
          <a:prstGeom prst="rect">
            <a:avLst/>
          </a:prstGeom>
          <a:noFill/>
        </p:spPr>
        <p:txBody>
          <a:bodyPr wrap="square" anchor="t" lIns="0" rIns="0" tIns="0" bIns="0"/>
          <a:lstStyle/>
          <a:p>
            <a:pPr algn="ctr"/>
            <a:r>
              <a:rPr sz="1700" b="1" i="0">
                <a:solidFill>
                  <a:srgbClr val="03306E"/>
                </a:solidFill>
                <a:latin typeface="Calibri"/>
              </a:rPr>
              <a:t>Source control</a:t>
            </a:r>
          </a:p>
        </p:txBody>
      </p:sp>
      <p:sp>
        <p:nvSpPr>
          <p:cNvPr id="9" name="Rounded Rectangle 8"/>
          <p:cNvSpPr/>
          <p:nvPr/>
        </p:nvSpPr>
        <p:spPr>
          <a:xfrm>
            <a:off x="548640" y="418338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320540"/>
            <a:ext cx="1834835" cy="685800"/>
          </a:xfrm>
          <a:prstGeom prst="rect">
            <a:avLst/>
          </a:prstGeom>
          <a:noFill/>
        </p:spPr>
        <p:txBody>
          <a:bodyPr wrap="square" anchor="t" lIns="0" rIns="0" tIns="0" bIns="0"/>
          <a:lstStyle/>
          <a:p>
            <a:pPr algn="l"/>
            <a:r>
              <a:rPr sz="1800" b="0" i="0">
                <a:solidFill>
                  <a:srgbClr val="202122"/>
                </a:solidFill>
                <a:latin typeface="Calibri"/>
              </a:rPr>
              <a:t>Code in a repository.</a:t>
            </a:r>
          </a:p>
        </p:txBody>
      </p:sp>
      <p:sp>
        <p:nvSpPr>
          <p:cNvPr id="11" name="Oval 10"/>
          <p:cNvSpPr/>
          <p:nvPr/>
        </p:nvSpPr>
        <p:spPr>
          <a:xfrm>
            <a:off x="3529492" y="262890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794955" y="3406140"/>
            <a:ext cx="2109155" cy="731520"/>
          </a:xfrm>
          <a:prstGeom prst="rect">
            <a:avLst/>
          </a:prstGeom>
          <a:noFill/>
        </p:spPr>
        <p:txBody>
          <a:bodyPr wrap="square" anchor="t" lIns="0" rIns="0" tIns="0" bIns="0"/>
          <a:lstStyle/>
          <a:p>
            <a:pPr algn="ctr"/>
            <a:r>
              <a:rPr sz="1700" b="1" i="0">
                <a:solidFill>
                  <a:srgbClr val="03306E"/>
                </a:solidFill>
                <a:latin typeface="Calibri"/>
              </a:rPr>
              <a:t>Build</a:t>
            </a:r>
          </a:p>
        </p:txBody>
      </p:sp>
      <p:sp>
        <p:nvSpPr>
          <p:cNvPr id="13" name="Rounded Rectangle 12"/>
          <p:cNvSpPr/>
          <p:nvPr/>
        </p:nvSpPr>
        <p:spPr>
          <a:xfrm>
            <a:off x="2794955" y="418338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32115" y="4320540"/>
            <a:ext cx="1834835" cy="685800"/>
          </a:xfrm>
          <a:prstGeom prst="rect">
            <a:avLst/>
          </a:prstGeom>
          <a:noFill/>
        </p:spPr>
        <p:txBody>
          <a:bodyPr wrap="square" anchor="t" lIns="0" rIns="0" tIns="0" bIns="0"/>
          <a:lstStyle/>
          <a:p>
            <a:pPr algn="l"/>
            <a:r>
              <a:rPr sz="1800" b="0" i="0">
                <a:solidFill>
                  <a:srgbClr val="202122"/>
                </a:solidFill>
                <a:latin typeface="Calibri"/>
              </a:rPr>
              <a:t>Automated builds.</a:t>
            </a:r>
          </a:p>
        </p:txBody>
      </p:sp>
      <p:sp>
        <p:nvSpPr>
          <p:cNvPr id="15" name="Oval 14"/>
          <p:cNvSpPr/>
          <p:nvPr/>
        </p:nvSpPr>
        <p:spPr>
          <a:xfrm>
            <a:off x="5775807" y="262890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5041270" y="3406140"/>
            <a:ext cx="2109155" cy="731520"/>
          </a:xfrm>
          <a:prstGeom prst="rect">
            <a:avLst/>
          </a:prstGeom>
          <a:noFill/>
        </p:spPr>
        <p:txBody>
          <a:bodyPr wrap="square" anchor="t" lIns="0" rIns="0" tIns="0" bIns="0"/>
          <a:lstStyle/>
          <a:p>
            <a:pPr algn="ctr"/>
            <a:r>
              <a:rPr sz="1700" b="1" i="0">
                <a:solidFill>
                  <a:srgbClr val="03306E"/>
                </a:solidFill>
                <a:latin typeface="Calibri"/>
              </a:rPr>
              <a:t>Unit tests</a:t>
            </a:r>
          </a:p>
        </p:txBody>
      </p:sp>
      <p:sp>
        <p:nvSpPr>
          <p:cNvPr id="17" name="Rounded Rectangle 16"/>
          <p:cNvSpPr/>
          <p:nvPr/>
        </p:nvSpPr>
        <p:spPr>
          <a:xfrm>
            <a:off x="5041270" y="418338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78430" y="4320540"/>
            <a:ext cx="1834835" cy="685800"/>
          </a:xfrm>
          <a:prstGeom prst="rect">
            <a:avLst/>
          </a:prstGeom>
          <a:noFill/>
        </p:spPr>
        <p:txBody>
          <a:bodyPr wrap="square" anchor="t" lIns="0" rIns="0" tIns="0" bIns="0"/>
          <a:lstStyle/>
          <a:p>
            <a:pPr algn="l"/>
            <a:r>
              <a:rPr sz="1800" b="0" i="0">
                <a:solidFill>
                  <a:srgbClr val="202122"/>
                </a:solidFill>
                <a:latin typeface="Calibri"/>
              </a:rPr>
              <a:t>Automated testing.</a:t>
            </a:r>
          </a:p>
        </p:txBody>
      </p:sp>
      <p:sp>
        <p:nvSpPr>
          <p:cNvPr id="19" name="Oval 18"/>
          <p:cNvSpPr/>
          <p:nvPr/>
        </p:nvSpPr>
        <p:spPr>
          <a:xfrm>
            <a:off x="8022122" y="262890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7287585" y="3406140"/>
            <a:ext cx="2109155" cy="731520"/>
          </a:xfrm>
          <a:prstGeom prst="rect">
            <a:avLst/>
          </a:prstGeom>
          <a:noFill/>
        </p:spPr>
        <p:txBody>
          <a:bodyPr wrap="square" anchor="t" lIns="0" rIns="0" tIns="0" bIns="0"/>
          <a:lstStyle/>
          <a:p>
            <a:pPr algn="ctr"/>
            <a:r>
              <a:rPr sz="1700" b="1" i="0">
                <a:solidFill>
                  <a:srgbClr val="03306E"/>
                </a:solidFill>
                <a:latin typeface="Calibri"/>
              </a:rPr>
              <a:t>Deploy</a:t>
            </a:r>
          </a:p>
        </p:txBody>
      </p:sp>
      <p:sp>
        <p:nvSpPr>
          <p:cNvPr id="21" name="Rounded Rectangle 20"/>
          <p:cNvSpPr/>
          <p:nvPr/>
        </p:nvSpPr>
        <p:spPr>
          <a:xfrm>
            <a:off x="7287585" y="418338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24745" y="4320540"/>
            <a:ext cx="1834835" cy="685800"/>
          </a:xfrm>
          <a:prstGeom prst="rect">
            <a:avLst/>
          </a:prstGeom>
          <a:noFill/>
        </p:spPr>
        <p:txBody>
          <a:bodyPr wrap="square" anchor="t" lIns="0" rIns="0" tIns="0" bIns="0"/>
          <a:lstStyle/>
          <a:p>
            <a:pPr algn="l"/>
            <a:r>
              <a:rPr sz="1800" b="0" i="0">
                <a:solidFill>
                  <a:srgbClr val="202122"/>
                </a:solidFill>
                <a:latin typeface="Calibri"/>
              </a:rPr>
              <a:t>Automated deployment.</a:t>
            </a:r>
          </a:p>
        </p:txBody>
      </p:sp>
      <p:sp>
        <p:nvSpPr>
          <p:cNvPr id="23" name="Oval 22"/>
          <p:cNvSpPr/>
          <p:nvPr/>
        </p:nvSpPr>
        <p:spPr>
          <a:xfrm>
            <a:off x="10268437" y="262890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9533900" y="3406140"/>
            <a:ext cx="2109155" cy="731520"/>
          </a:xfrm>
          <a:prstGeom prst="rect">
            <a:avLst/>
          </a:prstGeom>
          <a:noFill/>
        </p:spPr>
        <p:txBody>
          <a:bodyPr wrap="square" anchor="t" lIns="0" rIns="0" tIns="0" bIns="0"/>
          <a:lstStyle/>
          <a:p>
            <a:pPr algn="ctr"/>
            <a:r>
              <a:rPr sz="1700" b="1" i="0">
                <a:solidFill>
                  <a:srgbClr val="03306E"/>
                </a:solidFill>
                <a:latin typeface="Calibri"/>
              </a:rPr>
              <a:t>Monitor</a:t>
            </a:r>
          </a:p>
        </p:txBody>
      </p:sp>
      <p:sp>
        <p:nvSpPr>
          <p:cNvPr id="25" name="Rounded Rectangle 24"/>
          <p:cNvSpPr/>
          <p:nvPr/>
        </p:nvSpPr>
        <p:spPr>
          <a:xfrm>
            <a:off x="9533900" y="418338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71060" y="4320540"/>
            <a:ext cx="1834835" cy="685800"/>
          </a:xfrm>
          <a:prstGeom prst="rect">
            <a:avLst/>
          </a:prstGeom>
          <a:noFill/>
        </p:spPr>
        <p:txBody>
          <a:bodyPr wrap="square" anchor="t" lIns="0" rIns="0" tIns="0" bIns="0"/>
          <a:lstStyle/>
          <a:p>
            <a:pPr algn="l"/>
            <a:r>
              <a:rPr sz="1800" b="0" i="0">
                <a:solidFill>
                  <a:srgbClr val="202122"/>
                </a:solidFill>
                <a:latin typeface="Calibri"/>
              </a:rPr>
              <a:t>Watch it in production.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CI/CD pipeline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the five CI/CD stages.</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run tests automatically on every change?</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are small frequent releases safer?</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Coding conventions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Naming</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Consistent, meaningful names.</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Comments</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Annotations that explain why.</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Modularisation</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Small, focused functions and modules.</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Structure</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Consistent indentation.</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Version control</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Commit early and often.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12-factor app (highlights)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The 12-factor app is a set of good practices for building apps that deploy and scale reliably.</a:t>
            </a:r>
          </a:p>
          <a:p>
            <a:pPr>
              <a:spcAft>
                <a:spcPts val="1320"/>
              </a:spcAft>
            </a:pPr>
            <a:r>
              <a:rPr sz="2200" b="0">
                <a:solidFill>
                  <a:srgbClr val="202122"/>
                </a:solidFill>
                <a:latin typeface="Calibri"/>
              </a:rPr>
              <a:t>Keep one codebase in version control. Declare and isolate dependencies. Store configuration, such as passwords and URLs, in the environment, not the code. Treat databases and other backing services as attachable resources. Keep build, release and run separate. Run the app as stateless processes, export services by port binding and scale by adding processes. Start fast and shut down gracefully. Keep development and production alike. Treat logs as event streams, and run admin tasks as one-off processes.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Storing the database password in an environment variable, not the code, means it never ends up in the repository and can differ between test and live.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12-factor app (highlights)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3354125"/>
                <a:gridCol w="7740289"/>
              </a:tblGrid>
              <a:tr h="565785">
                <a:tc>
                  <a:txBody>
                    <a:bodyPr wrap="square"/>
                    <a:lstStyle/>
                    <a:p>
                      <a:r>
                        <a:rPr sz="1600" b="1">
                          <a:solidFill>
                            <a:srgbClr val="FFFFFF"/>
                          </a:solidFill>
                          <a:latin typeface="Calibri"/>
                        </a:rPr>
                        <a:t>Factor</a:t>
                      </a:r>
                    </a:p>
                  </a:txBody>
                  <a:tcPr marL="91440" marR="91440" anchor="ctr">
                    <a:solidFill>
                      <a:srgbClr val="03306E"/>
                    </a:solidFill>
                  </a:tcPr>
                </a:tc>
                <a:tc>
                  <a:txBody>
                    <a:bodyPr wrap="square"/>
                    <a:lstStyle/>
                    <a:p>
                      <a:r>
                        <a:rPr sz="1600" b="1">
                          <a:solidFill>
                            <a:srgbClr val="FFFFFF"/>
                          </a:solidFill>
                          <a:latin typeface="Calibri"/>
                        </a:rPr>
                        <a:t>Meaning</a:t>
                      </a:r>
                    </a:p>
                  </a:txBody>
                  <a:tcPr marL="91440" marR="91440" anchor="ctr">
                    <a:solidFill>
                      <a:srgbClr val="03306E"/>
                    </a:solidFill>
                  </a:tcPr>
                </a:tc>
              </a:tr>
              <a:tr h="565785">
                <a:tc>
                  <a:txBody>
                    <a:bodyPr wrap="square"/>
                    <a:lstStyle/>
                    <a:p>
                      <a:r>
                        <a:rPr sz="1600" b="1">
                          <a:solidFill>
                            <a:srgbClr val="03306E"/>
                          </a:solidFill>
                          <a:latin typeface="Calibri"/>
                        </a:rPr>
                        <a:t>Codebase</a:t>
                      </a:r>
                    </a:p>
                  </a:txBody>
                  <a:tcPr marL="91440" marR="91440" anchor="ctr">
                    <a:solidFill>
                      <a:srgbClr val="FFFFFF"/>
                    </a:solidFill>
                  </a:tcPr>
                </a:tc>
                <a:tc>
                  <a:txBody>
                    <a:bodyPr wrap="square"/>
                    <a:lstStyle/>
                    <a:p>
                      <a:r>
                        <a:rPr sz="1600" b="0">
                          <a:solidFill>
                            <a:srgbClr val="202122"/>
                          </a:solidFill>
                          <a:latin typeface="Calibri"/>
                        </a:rPr>
                        <a:t>One codebase in revision control, many deploys</a:t>
                      </a:r>
                    </a:p>
                  </a:txBody>
                  <a:tcPr marL="91440" marR="91440" anchor="ctr">
                    <a:solidFill>
                      <a:srgbClr val="FFFFFF"/>
                    </a:solidFill>
                  </a:tcPr>
                </a:tc>
              </a:tr>
              <a:tr h="565785">
                <a:tc>
                  <a:txBody>
                    <a:bodyPr wrap="square"/>
                    <a:lstStyle/>
                    <a:p>
                      <a:r>
                        <a:rPr sz="1600" b="1">
                          <a:solidFill>
                            <a:srgbClr val="03306E"/>
                          </a:solidFill>
                          <a:latin typeface="Calibri"/>
                        </a:rPr>
                        <a:t>Dependencies</a:t>
                      </a:r>
                    </a:p>
                  </a:txBody>
                  <a:tcPr marL="91440" marR="91440" anchor="ctr">
                    <a:solidFill>
                      <a:srgbClr val="EAF3FF"/>
                    </a:solidFill>
                  </a:tcPr>
                </a:tc>
                <a:tc>
                  <a:txBody>
                    <a:bodyPr wrap="square"/>
                    <a:lstStyle/>
                    <a:p>
                      <a:r>
                        <a:rPr sz="1600" b="0">
                          <a:solidFill>
                            <a:srgbClr val="202122"/>
                          </a:solidFill>
                          <a:latin typeface="Calibri"/>
                        </a:rPr>
                        <a:t>Declare and isolate them explicitly</a:t>
                      </a:r>
                    </a:p>
                  </a:txBody>
                  <a:tcPr marL="91440" marR="91440" anchor="ctr">
                    <a:solidFill>
                      <a:srgbClr val="EAF3FF"/>
                    </a:solidFill>
                  </a:tcPr>
                </a:tc>
              </a:tr>
              <a:tr h="565785">
                <a:tc>
                  <a:txBody>
                    <a:bodyPr wrap="square"/>
                    <a:lstStyle/>
                    <a:p>
                      <a:r>
                        <a:rPr sz="1600" b="1">
                          <a:solidFill>
                            <a:srgbClr val="03306E"/>
                          </a:solidFill>
                          <a:latin typeface="Calibri"/>
                        </a:rPr>
                        <a:t>Config</a:t>
                      </a:r>
                    </a:p>
                  </a:txBody>
                  <a:tcPr marL="91440" marR="91440" anchor="ctr">
                    <a:solidFill>
                      <a:srgbClr val="FFFFFF"/>
                    </a:solidFill>
                  </a:tcPr>
                </a:tc>
                <a:tc>
                  <a:txBody>
                    <a:bodyPr wrap="square"/>
                    <a:lstStyle/>
                    <a:p>
                      <a:r>
                        <a:rPr sz="1600" b="0">
                          <a:solidFill>
                            <a:srgbClr val="202122"/>
                          </a:solidFill>
                          <a:latin typeface="Calibri"/>
                        </a:rPr>
                        <a:t>Store configuration in the environment</a:t>
                      </a:r>
                    </a:p>
                  </a:txBody>
                  <a:tcPr marL="91440" marR="91440" anchor="ctr">
                    <a:solidFill>
                      <a:srgbClr val="FFFFFF"/>
                    </a:solidFill>
                  </a:tcPr>
                </a:tc>
              </a:tr>
              <a:tr h="565785">
                <a:tc>
                  <a:txBody>
                    <a:bodyPr wrap="square"/>
                    <a:lstStyle/>
                    <a:p>
                      <a:r>
                        <a:rPr sz="1600" b="1">
                          <a:solidFill>
                            <a:srgbClr val="03306E"/>
                          </a:solidFill>
                          <a:latin typeface="Calibri"/>
                        </a:rPr>
                        <a:t>Build, release, run</a:t>
                      </a:r>
                    </a:p>
                  </a:txBody>
                  <a:tcPr marL="91440" marR="91440" anchor="ctr">
                    <a:solidFill>
                      <a:srgbClr val="EAF3FF"/>
                    </a:solidFill>
                  </a:tcPr>
                </a:tc>
                <a:tc>
                  <a:txBody>
                    <a:bodyPr wrap="square"/>
                    <a:lstStyle/>
                    <a:p>
                      <a:r>
                        <a:rPr sz="1600" b="0">
                          <a:solidFill>
                            <a:srgbClr val="202122"/>
                          </a:solidFill>
                          <a:latin typeface="Calibri"/>
                        </a:rPr>
                        <a:t>Keep the stages strictly separate</a:t>
                      </a:r>
                    </a:p>
                  </a:txBody>
                  <a:tcPr marL="91440" marR="91440" anchor="ctr">
                    <a:solidFill>
                      <a:srgbClr val="EAF3FF"/>
                    </a:solidFill>
                  </a:tcPr>
                </a:tc>
              </a:tr>
              <a:tr h="565785">
                <a:tc>
                  <a:txBody>
                    <a:bodyPr wrap="square"/>
                    <a:lstStyle/>
                    <a:p>
                      <a:r>
                        <a:rPr sz="1600" b="1">
                          <a:solidFill>
                            <a:srgbClr val="03306E"/>
                          </a:solidFill>
                          <a:latin typeface="Calibri"/>
                        </a:rPr>
                        <a:t>Processes</a:t>
                      </a:r>
                    </a:p>
                  </a:txBody>
                  <a:tcPr marL="91440" marR="91440" anchor="ctr">
                    <a:solidFill>
                      <a:srgbClr val="FFFFFF"/>
                    </a:solidFill>
                  </a:tcPr>
                </a:tc>
                <a:tc>
                  <a:txBody>
                    <a:bodyPr wrap="square"/>
                    <a:lstStyle/>
                    <a:p>
                      <a:r>
                        <a:rPr sz="1600" b="0">
                          <a:solidFill>
                            <a:srgbClr val="202122"/>
                          </a:solidFill>
                          <a:latin typeface="Calibri"/>
                        </a:rPr>
                        <a:t>Run as stateless processes</a:t>
                      </a:r>
                    </a:p>
                  </a:txBody>
                  <a:tcPr marL="91440" marR="91440" anchor="ctr">
                    <a:solidFill>
                      <a:srgbClr val="FFFFFF"/>
                    </a:solidFill>
                  </a:tcPr>
                </a:tc>
              </a:tr>
              <a:tr h="565785">
                <a:tc>
                  <a:txBody>
                    <a:bodyPr wrap="square"/>
                    <a:lstStyle/>
                    <a:p>
                      <a:r>
                        <a:rPr sz="1600" b="1">
                          <a:solidFill>
                            <a:srgbClr val="03306E"/>
                          </a:solidFill>
                          <a:latin typeface="Calibri"/>
                        </a:rPr>
                        <a:t>Dev/prod parity</a:t>
                      </a:r>
                    </a:p>
                  </a:txBody>
                  <a:tcPr marL="91440" marR="91440" anchor="ctr">
                    <a:solidFill>
                      <a:srgbClr val="EAF3FF"/>
                    </a:solidFill>
                  </a:tcPr>
                </a:tc>
                <a:tc>
                  <a:txBody>
                    <a:bodyPr wrap="square"/>
                    <a:lstStyle/>
                    <a:p>
                      <a:r>
                        <a:rPr sz="1600" b="0">
                          <a:solidFill>
                            <a:srgbClr val="202122"/>
                          </a:solidFill>
                          <a:latin typeface="Calibri"/>
                        </a:rPr>
                        <a:t>Keep development and production alike</a:t>
                      </a:r>
                    </a:p>
                  </a:txBody>
                  <a:tcPr marL="91440" marR="91440" anchor="ctr">
                    <a:solidFill>
                      <a:srgbClr val="EAF3FF"/>
                    </a:solidFill>
                  </a:tcPr>
                </a:tc>
              </a:tr>
              <a:tr h="565785">
                <a:tc>
                  <a:txBody>
                    <a:bodyPr wrap="square"/>
                    <a:lstStyle/>
                    <a:p>
                      <a:r>
                        <a:rPr sz="1600" b="1">
                          <a:solidFill>
                            <a:srgbClr val="03306E"/>
                          </a:solidFill>
                          <a:latin typeface="Calibri"/>
                        </a:rPr>
                        <a:t>Logs</a:t>
                      </a:r>
                    </a:p>
                  </a:txBody>
                  <a:tcPr marL="91440" marR="91440" anchor="ctr">
                    <a:solidFill>
                      <a:srgbClr val="FFFFFF"/>
                    </a:solidFill>
                  </a:tcPr>
                </a:tc>
                <a:tc>
                  <a:txBody>
                    <a:bodyPr wrap="square"/>
                    <a:lstStyle/>
                    <a:p>
                      <a:r>
                        <a:rPr sz="1600" b="0">
                          <a:solidFill>
                            <a:srgbClr val="202122"/>
                          </a:solidFill>
                          <a:latin typeface="Calibri"/>
                        </a:rPr>
                        <a:t>Treat logs as event streams</a:t>
                      </a:r>
                    </a:p>
                  </a:txBody>
                  <a:tcPr marL="91440" marR="91440"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The 12-factor app (highlights)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Where should configuration be stored?</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keep development and production alike?</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a stateless process?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Which language is used to query databases?</a:t>
            </a:r>
          </a:p>
        </p:txBody>
      </p:sp>
      <p:sp>
        <p:nvSpPr>
          <p:cNvPr id="8" name="Oval 7"/>
          <p:cNvSpPr/>
          <p:nvPr/>
        </p:nvSpPr>
        <p:spPr>
          <a:xfrm>
            <a:off x="548640" y="2814066"/>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Name the five CI/CD stages.</a:t>
            </a:r>
          </a:p>
        </p:txBody>
      </p:sp>
      <p:sp>
        <p:nvSpPr>
          <p:cNvPr id="10" name="Oval 9"/>
          <p:cNvSpPr/>
          <p:nvPr/>
        </p:nvSpPr>
        <p:spPr>
          <a:xfrm>
            <a:off x="548640" y="4009644"/>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Where should configuration be stored in a 12-factor app?</a:t>
            </a:r>
          </a:p>
        </p:txBody>
      </p:sp>
      <p:sp>
        <p:nvSpPr>
          <p:cNvPr id="12" name="Oval 11"/>
          <p:cNvSpPr/>
          <p:nvPr/>
        </p:nvSpPr>
        <p:spPr>
          <a:xfrm>
            <a:off x="548640" y="5205221"/>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Why keep development and production similar?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Which language is used to query databases?</a:t>
            </a:r>
          </a:p>
          <a:p>
            <a:r>
              <a:rPr sz="1800" b="1">
                <a:solidFill>
                  <a:srgbClr val="03306E"/>
                </a:solidFill>
                <a:latin typeface="Calibri"/>
              </a:rPr>
              <a:t>SQL.</a:t>
            </a:r>
          </a:p>
        </p:txBody>
      </p:sp>
      <p:sp>
        <p:nvSpPr>
          <p:cNvPr id="8" name="Oval 7"/>
          <p:cNvSpPr/>
          <p:nvPr/>
        </p:nvSpPr>
        <p:spPr>
          <a:xfrm>
            <a:off x="548640" y="2814066"/>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Name the five CI/CD stages.</a:t>
            </a:r>
          </a:p>
          <a:p>
            <a:r>
              <a:rPr sz="1800" b="1">
                <a:solidFill>
                  <a:srgbClr val="03306E"/>
                </a:solidFill>
                <a:latin typeface="Calibri"/>
              </a:rPr>
              <a:t>Source control, build automation, unit test automation, deployment automation, monitoring.</a:t>
            </a:r>
          </a:p>
        </p:txBody>
      </p:sp>
      <p:sp>
        <p:nvSpPr>
          <p:cNvPr id="10" name="Oval 9"/>
          <p:cNvSpPr/>
          <p:nvPr/>
        </p:nvSpPr>
        <p:spPr>
          <a:xfrm>
            <a:off x="548640" y="4009644"/>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Where should configuration be stored in a 12-factor app?</a:t>
            </a:r>
          </a:p>
          <a:p>
            <a:r>
              <a:rPr sz="1800" b="1">
                <a:solidFill>
                  <a:srgbClr val="03306E"/>
                </a:solidFill>
                <a:latin typeface="Calibri"/>
              </a:rPr>
              <a:t>In the environment.</a:t>
            </a:r>
          </a:p>
        </p:txBody>
      </p:sp>
      <p:sp>
        <p:nvSpPr>
          <p:cNvPr id="12" name="Oval 11"/>
          <p:cNvSpPr/>
          <p:nvPr/>
        </p:nvSpPr>
        <p:spPr>
          <a:xfrm>
            <a:off x="548640" y="5205221"/>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Why keep development and production similar?</a:t>
            </a:r>
          </a:p>
          <a:p>
            <a:r>
              <a:rPr sz="1800" b="1">
                <a:solidFill>
                  <a:srgbClr val="03306E"/>
                </a:solidFill>
                <a:latin typeface="Calibri"/>
              </a:rPr>
              <a:t>So code that works in development also works in production.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Two-language mini app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Languages, CI/CD and Good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45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Build a Python script that stores feedback in an SQLite database using SQL.</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Move the database file name into an environment variable.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Write two unit tests.</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Sketch how a CI pipeline would run your tests on every commit.</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Two languages used correctly</a:t>
            </a:r>
          </a:p>
          <a:p>
            <a:pPr marL="274320" indent="-274320">
              <a:spcAft>
                <a:spcPts val="810"/>
              </a:spcAft>
              <a:buClr>
                <a:srgbClr val="0645AD"/>
              </a:buClr>
              <a:buFont typeface="Arial"/>
              <a:buChar char="•"/>
            </a:pPr>
            <a:r>
              <a:rPr sz="1800" b="0">
                <a:solidFill>
                  <a:srgbClr val="202122"/>
                </a:solidFill>
                <a:latin typeface="Calibri"/>
              </a:rPr>
              <a:t>Config not hard-coded</a:t>
            </a:r>
          </a:p>
          <a:p>
            <a:pPr marL="274320" indent="-274320">
              <a:spcAft>
                <a:spcPts val="810"/>
              </a:spcAft>
              <a:buClr>
                <a:srgbClr val="0645AD"/>
              </a:buClr>
              <a:buFont typeface="Arial"/>
              <a:buChar char="•"/>
            </a:pPr>
            <a:r>
              <a:rPr sz="1800" b="0">
                <a:solidFill>
                  <a:srgbClr val="202122"/>
                </a:solidFill>
                <a:latin typeface="Calibri"/>
              </a:rPr>
              <a:t>Tests pass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OCCUPATIONAL SPECIALISM  ·  Specialism Content Area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two languages would you pick for a booking website?</a:t>
            </a:r>
          </a:p>
        </p:txBody>
      </p:sp>
      <p:sp>
        <p:nvSpPr>
          <p:cNvPr id="6" name="Oval 5"/>
          <p:cNvSpPr/>
          <p:nvPr/>
        </p:nvSpPr>
        <p:spPr>
          <a:xfrm>
            <a:off x="548640" y="26974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automate tests in CI?</a:t>
            </a:r>
          </a:p>
        </p:txBody>
      </p:sp>
      <p:sp>
        <p:nvSpPr>
          <p:cNvPr id="8" name="Oval 7"/>
          <p:cNvSpPr/>
          <p:nvPr/>
        </p:nvSpPr>
        <p:spPr>
          <a:xfrm>
            <a:off x="548640" y="365760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Why keep secrets out of code?</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Implement a Solution Using at Least Two Appropriate Languages</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https://lana6478.github.io/T-level-Digital-Software-Development/#/02-occupational-specialism/06-implementation.md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Languages, CI/CD and Good Practice</dc:title>
  <dc:subject>Digital Software Development T Level: Specialism Content Area 6</dc:subject>
  <dc:creator>Samuel O'Connell</dc:creator>
  <cp:keywords>T Level; Digital Software Development; lesson slides; 6.1</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