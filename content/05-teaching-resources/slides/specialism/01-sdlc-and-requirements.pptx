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User analysis.</a:t>
            </a:r>
          </a:p>
          <a:p>
            <a:r>
              <a:t>2. To make sure it really meets the requirements.</a:t>
            </a:r>
          </a:p>
          <a:p>
            <a:r>
              <a:t>3. Support, bug fixes, training and updates.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Secure by design: security shapes both kinds of requirement from the start. Spike testing is early experimentation to work out the scope of a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Non-functional.</a:t>
            </a:r>
          </a:p>
          <a:p>
            <a:r>
              <a:t>2. Building security in from the start.</a:t>
            </a:r>
          </a:p>
          <a:p>
            <a:r>
              <a:t>3. An early experiment to explore a problem and its scope.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As a [user], I want [goal], so that [reason].</a:t>
            </a:r>
          </a:p>
          <a:p>
            <a:r>
              <a:t>2. The data stored and how it links.</a:t>
            </a:r>
          </a:p>
          <a:p>
            <a:r>
              <a:t>3. A plan of which features arrive in which release.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33C17A"/>
                </a:solidFill>
                <a:latin typeface="Calibri"/>
              </a:rPr>
              <a:t>OCCUPATIONAL SPECIALISM</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The Software Development Lifecycle and Requirements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Specialism Content Area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1.1, 1.4</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each stage of the software development lifecycle.</a:t>
            </a:r>
          </a:p>
        </p:txBody>
      </p:sp>
      <p:sp>
        <p:nvSpPr>
          <p:cNvPr id="9" name="Oval 8"/>
          <p:cNvSpPr/>
          <p:nvPr/>
        </p:nvSpPr>
        <p:spPr>
          <a:xfrm>
            <a:off x="548640" y="327469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Explain what happens during planning and requirement analysis.</a:t>
            </a:r>
          </a:p>
        </p:txBody>
      </p:sp>
      <p:sp>
        <p:nvSpPr>
          <p:cNvPr id="11" name="Oval 10"/>
          <p:cNvSpPr/>
          <p:nvPr/>
        </p:nvSpPr>
        <p:spPr>
          <a:xfrm>
            <a:off x="548640" y="431482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Write functional and non-functional requirements.</a:t>
            </a:r>
          </a:p>
        </p:txBody>
      </p:sp>
      <p:sp>
        <p:nvSpPr>
          <p:cNvPr id="13" name="Oval 12"/>
          <p:cNvSpPr/>
          <p:nvPr/>
        </p:nvSpPr>
        <p:spPr>
          <a:xfrm>
            <a:off x="548640" y="5354954"/>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Explain secure by design and spike testing.</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client says 'I want an app for my bakery.' What questions do you need to ask before writing any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SDLC</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The software development lifecycle (SDLC) is the set of stages a project moves through.</a:t>
            </a:r>
          </a:p>
          <a:p>
            <a:pPr>
              <a:spcAft>
                <a:spcPts val="1260"/>
              </a:spcAft>
            </a:pPr>
            <a:r>
              <a:rPr sz="2100" b="1">
                <a:solidFill>
                  <a:srgbClr val="202122"/>
                </a:solidFill>
                <a:latin typeface="Calibri"/>
              </a:rPr>
              <a:t>Research and familiarisation:</a:t>
            </a:r>
            <a:r>
              <a:rPr sz="2100" b="0">
                <a:solidFill>
                  <a:srgbClr val="202122"/>
                </a:solidFill>
                <a:latin typeface="Calibri"/>
              </a:rPr>
              <a:t> understand the brief, the market, existing solutions and your own skills gaps. Planning and requirement analysis: define the scope, requirements, KPIs, schedule, costs, language and risks. User analysis: understand users with user stories, activity diagrams and ERDs. Design: interfaces, algorithms and data, checking any AI-generated code carefully. Develop and test: build a prototype and test it. Deploy: install, configure, document and version-control it. Maintain: support users, fix bugs and release updates.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bakery ordering app: research competitors, plan features and costs, write user stories, design screens, build and test, launch on app stores, then fix bugs and add features.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SDLC</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ectangle 5"/>
          <p:cNvSpPr/>
          <p:nvPr/>
        </p:nvSpPr>
        <p:spPr>
          <a:xfrm>
            <a:off x="1282315" y="2709672"/>
            <a:ext cx="9627064"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62275" y="240792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185159"/>
            <a:ext cx="1467350" cy="731520"/>
          </a:xfrm>
          <a:prstGeom prst="rect">
            <a:avLst/>
          </a:prstGeom>
          <a:noFill/>
        </p:spPr>
        <p:txBody>
          <a:bodyPr wrap="square" anchor="t" lIns="0" rIns="0" tIns="0" bIns="0"/>
          <a:lstStyle/>
          <a:p>
            <a:pPr algn="ctr"/>
            <a:r>
              <a:rPr sz="1700" b="1" i="0">
                <a:solidFill>
                  <a:srgbClr val="03306E"/>
                </a:solidFill>
                <a:latin typeface="Calibri"/>
              </a:rPr>
              <a:t>Research</a:t>
            </a:r>
          </a:p>
        </p:txBody>
      </p:sp>
      <p:sp>
        <p:nvSpPr>
          <p:cNvPr id="9" name="Rounded Rectangle 8"/>
          <p:cNvSpPr/>
          <p:nvPr/>
        </p:nvSpPr>
        <p:spPr>
          <a:xfrm>
            <a:off x="548640" y="3962399"/>
            <a:ext cx="1467350" cy="140208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99560"/>
            <a:ext cx="1193030" cy="1127759"/>
          </a:xfrm>
          <a:prstGeom prst="rect">
            <a:avLst/>
          </a:prstGeom>
          <a:noFill/>
        </p:spPr>
        <p:txBody>
          <a:bodyPr wrap="square" anchor="t" lIns="0" rIns="0" tIns="0" bIns="0"/>
          <a:lstStyle/>
          <a:p>
            <a:pPr algn="l"/>
            <a:r>
              <a:rPr sz="1300" b="0" i="0">
                <a:solidFill>
                  <a:srgbClr val="202122"/>
                </a:solidFill>
                <a:latin typeface="Calibri"/>
              </a:rPr>
              <a:t>Understand the brief, market and your own skills gaps.</a:t>
            </a:r>
          </a:p>
        </p:txBody>
      </p:sp>
      <p:sp>
        <p:nvSpPr>
          <p:cNvPr id="11" name="Oval 10"/>
          <p:cNvSpPr/>
          <p:nvPr/>
        </p:nvSpPr>
        <p:spPr>
          <a:xfrm>
            <a:off x="2566786" y="240792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153150" y="3185159"/>
            <a:ext cx="1467350" cy="731520"/>
          </a:xfrm>
          <a:prstGeom prst="rect">
            <a:avLst/>
          </a:prstGeom>
          <a:noFill/>
        </p:spPr>
        <p:txBody>
          <a:bodyPr wrap="square" anchor="t" lIns="0" rIns="0" tIns="0" bIns="0"/>
          <a:lstStyle/>
          <a:p>
            <a:pPr algn="ctr"/>
            <a:r>
              <a:rPr sz="1700" b="1" i="0">
                <a:solidFill>
                  <a:srgbClr val="03306E"/>
                </a:solidFill>
                <a:latin typeface="Calibri"/>
              </a:rPr>
              <a:t>Plan</a:t>
            </a:r>
          </a:p>
        </p:txBody>
      </p:sp>
      <p:sp>
        <p:nvSpPr>
          <p:cNvPr id="13" name="Rounded Rectangle 12"/>
          <p:cNvSpPr/>
          <p:nvPr/>
        </p:nvSpPr>
        <p:spPr>
          <a:xfrm>
            <a:off x="2153150" y="3962399"/>
            <a:ext cx="1467350" cy="140208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290310" y="4099560"/>
            <a:ext cx="1193030" cy="1127759"/>
          </a:xfrm>
          <a:prstGeom prst="rect">
            <a:avLst/>
          </a:prstGeom>
          <a:noFill/>
        </p:spPr>
        <p:txBody>
          <a:bodyPr wrap="square" anchor="t" lIns="0" rIns="0" tIns="0" bIns="0"/>
          <a:lstStyle/>
          <a:p>
            <a:pPr algn="l"/>
            <a:r>
              <a:rPr sz="1300" b="0" i="0">
                <a:solidFill>
                  <a:srgbClr val="202122"/>
                </a:solidFill>
                <a:latin typeface="Calibri"/>
              </a:rPr>
              <a:t>Requirements, KPIs, schedule, costs, language, risks.</a:t>
            </a:r>
          </a:p>
        </p:txBody>
      </p:sp>
      <p:sp>
        <p:nvSpPr>
          <p:cNvPr id="15" name="Oval 14"/>
          <p:cNvSpPr/>
          <p:nvPr/>
        </p:nvSpPr>
        <p:spPr>
          <a:xfrm>
            <a:off x="4171296" y="240792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3757661" y="3185159"/>
            <a:ext cx="1467350" cy="731520"/>
          </a:xfrm>
          <a:prstGeom prst="rect">
            <a:avLst/>
          </a:prstGeom>
          <a:noFill/>
        </p:spPr>
        <p:txBody>
          <a:bodyPr wrap="square" anchor="t" lIns="0" rIns="0" tIns="0" bIns="0"/>
          <a:lstStyle/>
          <a:p>
            <a:pPr algn="ctr"/>
            <a:r>
              <a:rPr sz="1700" b="1" i="0">
                <a:solidFill>
                  <a:srgbClr val="03306E"/>
                </a:solidFill>
                <a:latin typeface="Calibri"/>
              </a:rPr>
              <a:t>User analysis</a:t>
            </a:r>
          </a:p>
        </p:txBody>
      </p:sp>
      <p:sp>
        <p:nvSpPr>
          <p:cNvPr id="17" name="Rounded Rectangle 16"/>
          <p:cNvSpPr/>
          <p:nvPr/>
        </p:nvSpPr>
        <p:spPr>
          <a:xfrm>
            <a:off x="3757661" y="3962399"/>
            <a:ext cx="1467350" cy="140208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894821" y="4099560"/>
            <a:ext cx="1193030" cy="1127759"/>
          </a:xfrm>
          <a:prstGeom prst="rect">
            <a:avLst/>
          </a:prstGeom>
          <a:noFill/>
        </p:spPr>
        <p:txBody>
          <a:bodyPr wrap="square" anchor="t" lIns="0" rIns="0" tIns="0" bIns="0"/>
          <a:lstStyle/>
          <a:p>
            <a:pPr algn="l"/>
            <a:r>
              <a:rPr sz="1300" b="0" i="0">
                <a:solidFill>
                  <a:srgbClr val="202122"/>
                </a:solidFill>
                <a:latin typeface="Calibri"/>
              </a:rPr>
              <a:t>User stories, activity diagrams, ERDs.</a:t>
            </a:r>
          </a:p>
        </p:txBody>
      </p:sp>
      <p:sp>
        <p:nvSpPr>
          <p:cNvPr id="19" name="Oval 18"/>
          <p:cNvSpPr/>
          <p:nvPr/>
        </p:nvSpPr>
        <p:spPr>
          <a:xfrm>
            <a:off x="5775807" y="240792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5362172" y="3185159"/>
            <a:ext cx="1467350" cy="731520"/>
          </a:xfrm>
          <a:prstGeom prst="rect">
            <a:avLst/>
          </a:prstGeom>
          <a:noFill/>
        </p:spPr>
        <p:txBody>
          <a:bodyPr wrap="square" anchor="t" lIns="0" rIns="0" tIns="0" bIns="0"/>
          <a:lstStyle/>
          <a:p>
            <a:pPr algn="ctr"/>
            <a:r>
              <a:rPr sz="1700" b="1" i="0">
                <a:solidFill>
                  <a:srgbClr val="03306E"/>
                </a:solidFill>
                <a:latin typeface="Calibri"/>
              </a:rPr>
              <a:t>Design</a:t>
            </a:r>
          </a:p>
        </p:txBody>
      </p:sp>
      <p:sp>
        <p:nvSpPr>
          <p:cNvPr id="21" name="Rounded Rectangle 20"/>
          <p:cNvSpPr/>
          <p:nvPr/>
        </p:nvSpPr>
        <p:spPr>
          <a:xfrm>
            <a:off x="5362172" y="3962399"/>
            <a:ext cx="1467350" cy="140208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99332" y="4099560"/>
            <a:ext cx="1193030" cy="1127759"/>
          </a:xfrm>
          <a:prstGeom prst="rect">
            <a:avLst/>
          </a:prstGeom>
          <a:noFill/>
        </p:spPr>
        <p:txBody>
          <a:bodyPr wrap="square" anchor="t" lIns="0" rIns="0" tIns="0" bIns="0"/>
          <a:lstStyle/>
          <a:p>
            <a:pPr algn="l"/>
            <a:r>
              <a:rPr sz="1300" b="0" i="0">
                <a:solidFill>
                  <a:srgbClr val="202122"/>
                </a:solidFill>
                <a:latin typeface="Calibri"/>
              </a:rPr>
              <a:t>Interfaces, algorithms, data; review any AI-generated code.</a:t>
            </a:r>
          </a:p>
        </p:txBody>
      </p:sp>
      <p:sp>
        <p:nvSpPr>
          <p:cNvPr id="23" name="Oval 22"/>
          <p:cNvSpPr/>
          <p:nvPr/>
        </p:nvSpPr>
        <p:spPr>
          <a:xfrm>
            <a:off x="7380318" y="240792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6966682" y="3185159"/>
            <a:ext cx="1467350" cy="731520"/>
          </a:xfrm>
          <a:prstGeom prst="rect">
            <a:avLst/>
          </a:prstGeom>
          <a:noFill/>
        </p:spPr>
        <p:txBody>
          <a:bodyPr wrap="square" anchor="t" lIns="0" rIns="0" tIns="0" bIns="0"/>
          <a:lstStyle/>
          <a:p>
            <a:pPr algn="ctr"/>
            <a:r>
              <a:rPr sz="1700" b="1" i="0">
                <a:solidFill>
                  <a:srgbClr val="03306E"/>
                </a:solidFill>
                <a:latin typeface="Calibri"/>
              </a:rPr>
              <a:t>Develop and test</a:t>
            </a:r>
          </a:p>
        </p:txBody>
      </p:sp>
      <p:sp>
        <p:nvSpPr>
          <p:cNvPr id="25" name="Rounded Rectangle 24"/>
          <p:cNvSpPr/>
          <p:nvPr/>
        </p:nvSpPr>
        <p:spPr>
          <a:xfrm>
            <a:off x="6966682" y="3962399"/>
            <a:ext cx="1467350" cy="140208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03842" y="4099560"/>
            <a:ext cx="1193030" cy="1127759"/>
          </a:xfrm>
          <a:prstGeom prst="rect">
            <a:avLst/>
          </a:prstGeom>
          <a:noFill/>
        </p:spPr>
        <p:txBody>
          <a:bodyPr wrap="square" anchor="t" lIns="0" rIns="0" tIns="0" bIns="0"/>
          <a:lstStyle/>
          <a:p>
            <a:pPr algn="l"/>
            <a:r>
              <a:rPr sz="1300" b="0" i="0">
                <a:solidFill>
                  <a:srgbClr val="202122"/>
                </a:solidFill>
                <a:latin typeface="Calibri"/>
              </a:rPr>
              <a:t>Prototype, module, integration, automated and user tests.</a:t>
            </a:r>
          </a:p>
        </p:txBody>
      </p:sp>
      <p:sp>
        <p:nvSpPr>
          <p:cNvPr id="27" name="Oval 26"/>
          <p:cNvSpPr/>
          <p:nvPr/>
        </p:nvSpPr>
        <p:spPr>
          <a:xfrm>
            <a:off x="8984829" y="240792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8571193" y="3185159"/>
            <a:ext cx="1467350" cy="731520"/>
          </a:xfrm>
          <a:prstGeom prst="rect">
            <a:avLst/>
          </a:prstGeom>
          <a:noFill/>
        </p:spPr>
        <p:txBody>
          <a:bodyPr wrap="square" anchor="t" lIns="0" rIns="0" tIns="0" bIns="0"/>
          <a:lstStyle/>
          <a:p>
            <a:pPr algn="ctr"/>
            <a:r>
              <a:rPr sz="1700" b="1" i="0">
                <a:solidFill>
                  <a:srgbClr val="03306E"/>
                </a:solidFill>
                <a:latin typeface="Calibri"/>
              </a:rPr>
              <a:t>Deploy</a:t>
            </a:r>
          </a:p>
        </p:txBody>
      </p:sp>
      <p:sp>
        <p:nvSpPr>
          <p:cNvPr id="29" name="Rounded Rectangle 28"/>
          <p:cNvSpPr/>
          <p:nvPr/>
        </p:nvSpPr>
        <p:spPr>
          <a:xfrm>
            <a:off x="8571193" y="3962399"/>
            <a:ext cx="1467350" cy="140208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708353" y="4099560"/>
            <a:ext cx="1193030" cy="1127759"/>
          </a:xfrm>
          <a:prstGeom prst="rect">
            <a:avLst/>
          </a:prstGeom>
          <a:noFill/>
        </p:spPr>
        <p:txBody>
          <a:bodyPr wrap="square" anchor="t" lIns="0" rIns="0" tIns="0" bIns="0"/>
          <a:lstStyle/>
          <a:p>
            <a:pPr algn="l"/>
            <a:r>
              <a:rPr sz="1300" b="0" i="0">
                <a:solidFill>
                  <a:srgbClr val="202122"/>
                </a:solidFill>
                <a:latin typeface="Calibri"/>
              </a:rPr>
              <a:t>Install, configure, document, version control.</a:t>
            </a:r>
          </a:p>
        </p:txBody>
      </p:sp>
      <p:sp>
        <p:nvSpPr>
          <p:cNvPr id="31" name="Oval 30"/>
          <p:cNvSpPr/>
          <p:nvPr/>
        </p:nvSpPr>
        <p:spPr>
          <a:xfrm>
            <a:off x="10589339" y="240792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7</a:t>
            </a:r>
          </a:p>
        </p:txBody>
      </p:sp>
      <p:sp>
        <p:nvSpPr>
          <p:cNvPr id="32" name="TextBox 31"/>
          <p:cNvSpPr txBox="1"/>
          <p:nvPr/>
        </p:nvSpPr>
        <p:spPr>
          <a:xfrm>
            <a:off x="10175704" y="3185159"/>
            <a:ext cx="1467350" cy="731520"/>
          </a:xfrm>
          <a:prstGeom prst="rect">
            <a:avLst/>
          </a:prstGeom>
          <a:noFill/>
        </p:spPr>
        <p:txBody>
          <a:bodyPr wrap="square" anchor="t" lIns="0" rIns="0" tIns="0" bIns="0"/>
          <a:lstStyle/>
          <a:p>
            <a:pPr algn="ctr"/>
            <a:r>
              <a:rPr sz="1700" b="1" i="0">
                <a:solidFill>
                  <a:srgbClr val="03306E"/>
                </a:solidFill>
                <a:latin typeface="Calibri"/>
              </a:rPr>
              <a:t>Maintain</a:t>
            </a:r>
          </a:p>
        </p:txBody>
      </p:sp>
      <p:sp>
        <p:nvSpPr>
          <p:cNvPr id="33" name="Rounded Rectangle 32"/>
          <p:cNvSpPr/>
          <p:nvPr/>
        </p:nvSpPr>
        <p:spPr>
          <a:xfrm>
            <a:off x="10175704" y="3962399"/>
            <a:ext cx="1467350" cy="140208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12864" y="4099560"/>
            <a:ext cx="1193030" cy="1127759"/>
          </a:xfrm>
          <a:prstGeom prst="rect">
            <a:avLst/>
          </a:prstGeom>
          <a:noFill/>
        </p:spPr>
        <p:txBody>
          <a:bodyPr wrap="square" anchor="t" lIns="0" rIns="0" tIns="0" bIns="0"/>
          <a:lstStyle/>
          <a:p>
            <a:pPr algn="l"/>
            <a:r>
              <a:rPr sz="1300" b="0" i="0">
                <a:solidFill>
                  <a:srgbClr val="202122"/>
                </a:solidFill>
                <a:latin typeface="Calibri"/>
              </a:rPr>
              <a:t>Support, bug fixes, training, updates.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The SDLC</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the stage where user stories are written.</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review AI-generated code?</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happens during maintenance?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Planning and requirement analysis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Scope</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Turn the brief into a project proposal with business requirements.</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600" b="1" i="0">
                <a:solidFill>
                  <a:srgbClr val="03306E"/>
                </a:solidFill>
                <a:latin typeface="Calibri"/>
              </a:rPr>
              <a:t>Computational thinking</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Decompose the problem, spot patterns, abstract the detail.</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Measures</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Set KPIs, performance constraints and user acceptance criteria.</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Resources</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Schedule tasks and milestones, allocate resources and estimate costs.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Language choice</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Suitability, policy, scalability, security, staff, cost, reliability.</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Risk</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Identify risks and how to mitigate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Functional and non-functional requirements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Functional requirements say what the system does: the inputs it takes, the data it needs, the processing it performs, its logic and the platforms it runs on.</a:t>
            </a:r>
          </a:p>
          <a:p>
            <a:pPr>
              <a:spcAft>
                <a:spcPts val="1320"/>
              </a:spcAft>
            </a:pPr>
            <a:r>
              <a:rPr sz="2200" b="0">
                <a:solidFill>
                  <a:srgbClr val="202122"/>
                </a:solidFill>
                <a:latin typeface="Calibri"/>
              </a:rPr>
              <a:t>Non-functional requirements say how well it does it: security, accessibility, scalability, and measurable KPIs for responsiveness, load and reliability, plus user acceptance criteria.</a:t>
            </a:r>
          </a:p>
          <a:p>
            <a:pPr>
              <a:spcAft>
                <a:spcPts val="1320"/>
              </a:spcAft>
            </a:pPr>
            <a:r>
              <a:rPr sz="2200" b="0">
                <a:solidFill>
                  <a:srgbClr val="202122"/>
                </a:solidFill>
                <a:latin typeface="Calibri"/>
              </a:rPr>
              <a:t>Secure by design means security shapes both from the start. Spike testing is a short experiment early on to explore a problem and work out the scope of the solution.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Functional: 'the user can add items to a basket'. Non-functional: 'the basket page loads in under 2 seconds for 500 simultaneous users'.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Functional and non-functional requirements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Functional: what it does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Inputs needed</a:t>
            </a:r>
          </a:p>
          <a:p>
            <a:pPr marL="274320" indent="-274320">
              <a:spcAft>
                <a:spcPts val="990"/>
              </a:spcAft>
              <a:buClr>
                <a:srgbClr val="0645AD"/>
              </a:buClr>
              <a:buFont typeface="Arial"/>
              <a:buChar char="•"/>
            </a:pPr>
            <a:r>
              <a:rPr sz="2200" b="0">
                <a:solidFill>
                  <a:srgbClr val="202122"/>
                </a:solidFill>
                <a:latin typeface="Calibri"/>
              </a:rPr>
              <a:t>Data needed</a:t>
            </a:r>
          </a:p>
          <a:p>
            <a:pPr marL="274320" indent="-274320">
              <a:spcAft>
                <a:spcPts val="990"/>
              </a:spcAft>
              <a:buClr>
                <a:srgbClr val="0645AD"/>
              </a:buClr>
              <a:buFont typeface="Arial"/>
              <a:buChar char="•"/>
            </a:pPr>
            <a:r>
              <a:rPr sz="2200" b="0">
                <a:solidFill>
                  <a:srgbClr val="202122"/>
                </a:solidFill>
                <a:latin typeface="Calibri"/>
              </a:rPr>
              <a:t>Processing that must happen</a:t>
            </a:r>
          </a:p>
          <a:p>
            <a:pPr marL="274320" indent="-274320">
              <a:spcAft>
                <a:spcPts val="990"/>
              </a:spcAft>
              <a:buClr>
                <a:srgbClr val="0645AD"/>
              </a:buClr>
              <a:buFont typeface="Arial"/>
              <a:buChar char="•"/>
            </a:pPr>
            <a:r>
              <a:rPr sz="2200" b="0">
                <a:solidFill>
                  <a:srgbClr val="202122"/>
                </a:solidFill>
                <a:latin typeface="Calibri"/>
              </a:rPr>
              <a:t>The system's logic</a:t>
            </a:r>
          </a:p>
          <a:p>
            <a:pPr marL="274320" indent="-274320">
              <a:spcAft>
                <a:spcPts val="990"/>
              </a:spcAft>
              <a:buClr>
                <a:srgbClr val="0645AD"/>
              </a:buClr>
              <a:buFont typeface="Arial"/>
              <a:buChar char="•"/>
            </a:pPr>
            <a:r>
              <a:rPr sz="2200" b="0">
                <a:solidFill>
                  <a:srgbClr val="202122"/>
                </a:solidFill>
                <a:latin typeface="Calibri"/>
              </a:rPr>
              <a:t>Platforms it runs on</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Non-functional: how well</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Security</a:t>
            </a:r>
          </a:p>
          <a:p>
            <a:pPr marL="274320" indent="-274320">
              <a:spcAft>
                <a:spcPts val="990"/>
              </a:spcAft>
              <a:buClr>
                <a:srgbClr val="0645AD"/>
              </a:buClr>
              <a:buFont typeface="Arial"/>
              <a:buChar char="•"/>
            </a:pPr>
            <a:r>
              <a:rPr sz="2200" b="0">
                <a:solidFill>
                  <a:srgbClr val="202122"/>
                </a:solidFill>
                <a:latin typeface="Calibri"/>
              </a:rPr>
              <a:t>Accessibility</a:t>
            </a:r>
          </a:p>
          <a:p>
            <a:pPr marL="274320" indent="-274320">
              <a:spcAft>
                <a:spcPts val="990"/>
              </a:spcAft>
              <a:buClr>
                <a:srgbClr val="0645AD"/>
              </a:buClr>
              <a:buFont typeface="Arial"/>
              <a:buChar char="•"/>
            </a:pPr>
            <a:r>
              <a:rPr sz="2200" b="0">
                <a:solidFill>
                  <a:srgbClr val="202122"/>
                </a:solidFill>
                <a:latin typeface="Calibri"/>
              </a:rPr>
              <a:t>Scalability</a:t>
            </a:r>
          </a:p>
          <a:p>
            <a:pPr marL="274320" indent="-274320">
              <a:spcAft>
                <a:spcPts val="990"/>
              </a:spcAft>
              <a:buClr>
                <a:srgbClr val="0645AD"/>
              </a:buClr>
              <a:buFont typeface="Arial"/>
              <a:buChar char="•"/>
            </a:pPr>
            <a:r>
              <a:rPr sz="2200" b="0">
                <a:solidFill>
                  <a:srgbClr val="202122"/>
                </a:solidFill>
                <a:latin typeface="Calibri"/>
              </a:rPr>
              <a:t>KPIs for responsiveness, load and reliability</a:t>
            </a:r>
          </a:p>
          <a:p>
            <a:pPr marL="274320" indent="-274320">
              <a:spcAft>
                <a:spcPts val="990"/>
              </a:spcAft>
              <a:buClr>
                <a:srgbClr val="0645AD"/>
              </a:buClr>
              <a:buFont typeface="Arial"/>
              <a:buChar char="•"/>
            </a:pPr>
            <a:r>
              <a:rPr sz="2200" b="0">
                <a:solidFill>
                  <a:srgbClr val="202122"/>
                </a:solidFill>
                <a:latin typeface="Calibri"/>
              </a:rPr>
              <a:t>User acceptance criteria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000" b="1" i="0">
                <a:solidFill>
                  <a:srgbClr val="03306E"/>
                </a:solidFill>
                <a:latin typeface="Cambria"/>
              </a:rPr>
              <a:t>Quick check: Functional and non-functional requirements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Is 'the app must work with a screen reader' functional or non-functional?</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secure by design?</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spike testing?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User analysis tools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User analysis makes sure you build what users actually need.</a:t>
            </a:r>
          </a:p>
          <a:p>
            <a:pPr>
              <a:spcAft>
                <a:spcPts val="1320"/>
              </a:spcAft>
            </a:pPr>
            <a:r>
              <a:rPr sz="2200" b="0">
                <a:solidFill>
                  <a:srgbClr val="202122"/>
                </a:solidFill>
                <a:latin typeface="Calibri"/>
              </a:rPr>
              <a:t>User stories describe a need from the user's view: 'As a [user], I want [goal], so that [reason]'.</a:t>
            </a:r>
          </a:p>
          <a:p>
            <a:pPr>
              <a:spcAft>
                <a:spcPts val="1320"/>
              </a:spcAft>
            </a:pPr>
            <a:r>
              <a:rPr sz="2200" b="0">
                <a:solidFill>
                  <a:srgbClr val="202122"/>
                </a:solidFill>
                <a:latin typeface="Calibri"/>
              </a:rPr>
              <a:t>Activity and process diagrams show the steps a user or system goes through. Mind maps explore ideas. Product road maps plan which features arrive in which release. Entity relationship diagrams (ERDs) show the data the system stores and how it links.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'As a busy parent, I want to reorder my usual items in one tap, so that ordering takes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User analysis tools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User stories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As a customer, I want to order ahead, so that I skip the queue.</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Activity and process diagrams</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Show the steps a user or system goes through.</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Mind maps and road maps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Explore ideas and plan releases over time.</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Entity relationship diagrams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Show the data and how it links.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User analysis tools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format of a user story?</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an ERD show?</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product road map?</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Name the SDLC stage where user stories are written.</a:t>
            </a:r>
          </a:p>
        </p:txBody>
      </p:sp>
      <p:sp>
        <p:nvSpPr>
          <p:cNvPr id="8" name="Oval 7"/>
          <p:cNvSpPr/>
          <p:nvPr/>
        </p:nvSpPr>
        <p:spPr>
          <a:xfrm>
            <a:off x="548640" y="2574950"/>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Is 'the app loads in under 2 seconds' functional or non-functional?</a:t>
            </a:r>
          </a:p>
        </p:txBody>
      </p:sp>
      <p:sp>
        <p:nvSpPr>
          <p:cNvPr id="10" name="Oval 9"/>
          <p:cNvSpPr/>
          <p:nvPr/>
        </p:nvSpPr>
        <p:spPr>
          <a:xfrm>
            <a:off x="548640" y="3531412"/>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What is secure by design?</a:t>
            </a:r>
          </a:p>
        </p:txBody>
      </p:sp>
      <p:sp>
        <p:nvSpPr>
          <p:cNvPr id="12" name="Oval 11"/>
          <p:cNvSpPr/>
          <p:nvPr/>
        </p:nvSpPr>
        <p:spPr>
          <a:xfrm>
            <a:off x="548640" y="4487875"/>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What is spike testing used for?</a:t>
            </a:r>
          </a:p>
        </p:txBody>
      </p:sp>
      <p:sp>
        <p:nvSpPr>
          <p:cNvPr id="14" name="Oval 13"/>
          <p:cNvSpPr/>
          <p:nvPr/>
        </p:nvSpPr>
        <p:spPr>
          <a:xfrm>
            <a:off x="548640" y="5444337"/>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Why review AI-generated code?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Name the SDLC stage where user stories are written.</a:t>
            </a:r>
          </a:p>
          <a:p>
            <a:r>
              <a:rPr sz="1800" b="1">
                <a:solidFill>
                  <a:srgbClr val="03306E"/>
                </a:solidFill>
                <a:latin typeface="Calibri"/>
              </a:rPr>
              <a:t>Performing a user analysis.</a:t>
            </a:r>
          </a:p>
        </p:txBody>
      </p:sp>
      <p:sp>
        <p:nvSpPr>
          <p:cNvPr id="8" name="Oval 7"/>
          <p:cNvSpPr/>
          <p:nvPr/>
        </p:nvSpPr>
        <p:spPr>
          <a:xfrm>
            <a:off x="548640" y="2574950"/>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Is 'the app loads in under 2 seconds' functional or non-functional?</a:t>
            </a:r>
          </a:p>
          <a:p>
            <a:r>
              <a:rPr sz="1800" b="1">
                <a:solidFill>
                  <a:srgbClr val="03306E"/>
                </a:solidFill>
                <a:latin typeface="Calibri"/>
              </a:rPr>
              <a:t>Non-functional.</a:t>
            </a:r>
          </a:p>
        </p:txBody>
      </p:sp>
      <p:sp>
        <p:nvSpPr>
          <p:cNvPr id="10" name="Oval 9"/>
          <p:cNvSpPr/>
          <p:nvPr/>
        </p:nvSpPr>
        <p:spPr>
          <a:xfrm>
            <a:off x="548640" y="3531412"/>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What is secure by design?</a:t>
            </a:r>
          </a:p>
          <a:p>
            <a:r>
              <a:rPr sz="1800" b="1">
                <a:solidFill>
                  <a:srgbClr val="03306E"/>
                </a:solidFill>
                <a:latin typeface="Calibri"/>
              </a:rPr>
              <a:t>Building security into decisions from the start.</a:t>
            </a:r>
          </a:p>
        </p:txBody>
      </p:sp>
      <p:sp>
        <p:nvSpPr>
          <p:cNvPr id="12" name="Oval 11"/>
          <p:cNvSpPr/>
          <p:nvPr/>
        </p:nvSpPr>
        <p:spPr>
          <a:xfrm>
            <a:off x="548640" y="4487875"/>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What is spike testing used for?</a:t>
            </a:r>
          </a:p>
          <a:p>
            <a:r>
              <a:rPr sz="1800" b="1">
                <a:solidFill>
                  <a:srgbClr val="03306E"/>
                </a:solidFill>
                <a:latin typeface="Calibri"/>
              </a:rPr>
              <a:t>Early investigation to establish requirements and scope.</a:t>
            </a:r>
          </a:p>
        </p:txBody>
      </p:sp>
      <p:sp>
        <p:nvSpPr>
          <p:cNvPr id="14" name="Oval 13"/>
          <p:cNvSpPr/>
          <p:nvPr/>
        </p:nvSpPr>
        <p:spPr>
          <a:xfrm>
            <a:off x="548640" y="5444337"/>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Why review AI-generated code?</a:t>
            </a:r>
          </a:p>
          <a:p>
            <a:r>
              <a:rPr sz="1800" b="1">
                <a:solidFill>
                  <a:srgbClr val="03306E"/>
                </a:solidFill>
                <a:latin typeface="Calibri"/>
              </a:rPr>
              <a:t>To make sure it actually meets the requirements.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Requirements for the bakery app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Software Development Lifecycle and Requirements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Write five user stories for the bakery app.</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Turn them into functional requirements.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Add four non-functional requirements with measurable KPIs.</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Write acceptance criteria for one user story.</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Stories follow 'As a... I want... so that...'</a:t>
            </a:r>
          </a:p>
          <a:p>
            <a:pPr marL="274320" indent="-274320">
              <a:spcAft>
                <a:spcPts val="810"/>
              </a:spcAft>
              <a:buClr>
                <a:srgbClr val="0645AD"/>
              </a:buClr>
              <a:buFont typeface="Arial"/>
              <a:buChar char="•"/>
            </a:pPr>
            <a:r>
              <a:rPr sz="1800" b="0">
                <a:solidFill>
                  <a:srgbClr val="202122"/>
                </a:solidFill>
                <a:latin typeface="Calibri"/>
              </a:rPr>
              <a:t>KPIs are measurable</a:t>
            </a:r>
          </a:p>
          <a:p>
            <a:pPr marL="274320" indent="-274320">
              <a:spcAft>
                <a:spcPts val="810"/>
              </a:spcAft>
              <a:buClr>
                <a:srgbClr val="0645AD"/>
              </a:buClr>
              <a:buFont typeface="Arial"/>
              <a:buChar char="•"/>
            </a:pPr>
            <a:r>
              <a:rPr sz="1800" b="0">
                <a:solidFill>
                  <a:srgbClr val="202122"/>
                </a:solidFill>
                <a:latin typeface="Calibri"/>
              </a:rPr>
              <a:t>Security and accessibility included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SDLC stage do you think is most often rushed?</a:t>
            </a:r>
          </a:p>
        </p:txBody>
      </p:sp>
      <p:sp>
        <p:nvSpPr>
          <p:cNvPr id="6" name="Oval 5"/>
          <p:cNvSpPr/>
          <p:nvPr/>
        </p:nvSpPr>
        <p:spPr>
          <a:xfrm>
            <a:off x="548640" y="26974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Give one non-functional requirement for a game.</a:t>
            </a:r>
          </a:p>
        </p:txBody>
      </p:sp>
      <p:sp>
        <p:nvSpPr>
          <p:cNvPr id="8" name="Oval 7"/>
          <p:cNvSpPr/>
          <p:nvPr/>
        </p:nvSpPr>
        <p:spPr>
          <a:xfrm>
            <a:off x="548640" y="365760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Why set KPIs before building?</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Analyse a Problem</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https://lana6478.github.io/T-level-Digital-Software-Development/#/02-occupational-specialism/01-analyse-a-problem.md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Software Development Lifecycle and Requirements</dc:title>
  <dc:subject>Digital Software Development T Level: Specialism Content Area 1</dc:subject>
  <dc:creator>Samuel O'Connell</dc:creator>
  <cp:keywords>T Level; Digital Software Development; lesson slides; 1.1, 1.4</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