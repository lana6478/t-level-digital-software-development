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notesMaster" Target="notesMasters/notesMaster1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Gambling legislation and consumer protection.</a:t>
            </a:r>
          </a:p>
          <a:p>
            <a:r>
              <a:t>2. Laws differ between countries.</a:t>
            </a:r>
          </a:p>
          <a:p>
            <a:r>
              <a:t>3. E.g. data protection, privacy, security.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Answers:</a:t>
            </a:r>
          </a:p>
          <a:p>
            <a:r>
              <a:t>1. The web.</a:t>
            </a:r>
          </a:p>
          <a:p>
            <a:r>
              <a:t>2. E.g. tricking users into subscriptions.</a:t>
            </a:r>
          </a:p>
          <a:p>
            <a:r>
              <a:t>3. They set legal terms for using others'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Give students a few minutes to answer on mini whiteboards or paper, then reveal the answers on the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through any answers the class found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Students answer on a sticky note or in the chat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1005840"/>
            <a:ext cx="3291840" cy="3291840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Oval 2"/>
          <p:cNvSpPr/>
          <p:nvPr/>
        </p:nvSpPr>
        <p:spPr>
          <a:xfrm>
            <a:off x="9966960" y="3200400"/>
            <a:ext cx="2377440" cy="23774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8138160" y="4023360"/>
            <a:ext cx="1371600" cy="1371600"/>
          </a:xfrm>
          <a:prstGeom prst="ellipse">
            <a:avLst/>
          </a:prstGeom>
          <a:solidFill>
            <a:srgbClr val="A9C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48640" y="91440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1" i="0">
                <a:solidFill>
                  <a:srgbClr val="33C17A"/>
                </a:solidFill>
                <a:latin typeface="Calibri"/>
              </a:rPr>
              <a:t>OCCUPATIONAL SPECIALISM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7315200" cy="2286000"/>
          </a:xfrm>
          <a:prstGeom prst="rect">
            <a:avLst/>
          </a:prstGeom>
          <a:noFill/>
        </p:spPr>
        <p:txBody>
          <a:bodyPr wrap="square" anchor="b" lIns="0" rIns="0" tIns="0" bIns="0"/>
          <a:lstStyle/>
          <a:p>
            <a:pPr algn="l"/>
            <a:r>
              <a:rPr sz="4400" b="1" i="0">
                <a:solidFill>
                  <a:srgbClr val="FFFFFF"/>
                </a:solidFill>
                <a:latin typeface="Cambria"/>
              </a:rPr>
              <a:t>Legal and Ethical Software Development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8404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A9C8F0"/>
                </a:solidFill>
                <a:latin typeface="Calibri"/>
              </a:rPr>
              <a:t>Specialism Content Area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A9C8F0"/>
                </a:solidFill>
                <a:latin typeface="Calibri"/>
              </a:rPr>
              <a:t>Specification reference: 2.1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60720"/>
            <a:ext cx="7498079" cy="64008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Digital Software Development T Level  ·  Lesson slides</a:t>
            </a:r>
          </a:p>
          <a:p>
            <a:pPr algn="l"/>
            <a:r>
              <a:rPr sz="1100" b="0" i="0">
                <a:solidFill>
                  <a:srgbClr val="A9C8F0"/>
                </a:solidFill>
                <a:latin typeface="Calibri"/>
              </a:rPr>
              <a:t>Unofficial teaching resource. Check the official Pearson specification for assessment detail.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Learning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08760"/>
            <a:ext cx="676656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600" b="0" i="1">
                <a:solidFill>
                  <a:srgbClr val="54595D"/>
                </a:solidFill>
                <a:latin typeface="Calibri"/>
              </a:rPr>
              <a:t>By the end of this lesson you should be able to: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24028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01168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Identify legal and regulatory requirements for a software context.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29184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306324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Describe relevant development standards.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4114800"/>
            <a:ext cx="6035040" cy="9144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Consider the ethical implications of software development.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772400" y="150876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STARTER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2194560"/>
            <a:ext cx="3291840" cy="36576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03306E"/>
                </a:solidFill>
                <a:latin typeface="Cambria"/>
              </a:rPr>
              <a:t>You are building a mobile game for under-13s with in-app purchases. What rules might apply?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Legal and regulatory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Software must follow the law in the context and market it's built for.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Consider intellectual property rights and licences, copyright and patents; consumer protection and advertising law; age ratings and gambling legislation; data protection and privacy; staff and employment responsibilities; territorial restrictions on where software can be sold; system security; and equality and diversity.</a:t>
            </a:r>
          </a:p>
          <a:p>
            <a:pPr>
              <a:spcAft>
                <a:spcPts val="1320"/>
              </a:spcAft>
            </a:pPr>
            <a:r>
              <a:rPr sz="2200" b="0">
                <a:solidFill>
                  <a:srgbClr val="202122"/>
                </a:solidFill>
                <a:latin typeface="Calibri"/>
              </a:rPr>
              <a:t>Different products trigger different rules: a children's game raises age and gambling issues, a health app raises data protection issues.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Loot boxes in a children's game may fall under gambling law and consumer protection, and collecting children's data brings strict privacy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Legal and regulatory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777240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1" i="0">
                <a:solidFill>
                  <a:srgbClr val="03306E"/>
                </a:solidFill>
                <a:latin typeface="Calibri"/>
              </a:rPr>
              <a:t>Intellectual property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Rights, licences, copyright and patents.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8218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566818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1178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600" b="1" i="0">
                <a:solidFill>
                  <a:srgbClr val="03306E"/>
                </a:solidFill>
                <a:latin typeface="Calibri"/>
              </a:rPr>
              <a:t>Consumers and advertising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6818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Consumer protection and advertising law.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27796" y="160020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8356396" y="182880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50756" y="180136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Age and gambling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246888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Age ratings and gambling legislation.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777240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Data protection, privacy and system security.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38218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4566818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1178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People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66818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Staff responsibilities, equality and diversity.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7796" y="4023360"/>
            <a:ext cx="3515258" cy="2148840"/>
          </a:xfrm>
          <a:prstGeom prst="roundRect">
            <a:avLst>
              <a:gd name="adj" fmla="val 6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Oval 26"/>
          <p:cNvSpPr/>
          <p:nvPr/>
        </p:nvSpPr>
        <p:spPr>
          <a:xfrm>
            <a:off x="8356396" y="4251960"/>
            <a:ext cx="457200" cy="45720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202122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50756" y="4224528"/>
            <a:ext cx="2509418" cy="512064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900" b="1" i="0">
                <a:solidFill>
                  <a:srgbClr val="03306E"/>
                </a:solidFill>
                <a:latin typeface="Calibri"/>
              </a:rPr>
              <a:t>Territory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56396" y="4892040"/>
            <a:ext cx="3058058" cy="11430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0" i="0">
                <a:solidFill>
                  <a:srgbClr val="202122"/>
                </a:solidFill>
                <a:latin typeface="Calibri"/>
              </a:rPr>
              <a:t>Territorial restrictions on where software can be sold.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Legal and regulatory considerations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5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Which laws might apply to loot boxes?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do territorial restrictions matter?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Name two legal areas for a health app.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6720840" cy="4617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Standards guide how software is built. ISO/IEC/IEEE 90003:2018 gives guidance on applying quality management to software engineering. W3C sets web standards, so sites work across browsers and devices.</a:t>
            </a:r>
          </a:p>
          <a:p>
            <a:pPr>
              <a:spcAft>
                <a:spcPts val="1260"/>
              </a:spcAft>
            </a:pPr>
            <a:r>
              <a:rPr sz="2100" b="1">
                <a:solidFill>
                  <a:srgbClr val="202122"/>
                </a:solidFill>
                <a:latin typeface="Calibri"/>
              </a:rPr>
              <a:t>Ethics goes beyond the law:</a:t>
            </a:r>
            <a:r>
              <a:rPr sz="2100" b="0">
                <a:solidFill>
                  <a:srgbClr val="202122"/>
                </a:solidFill>
                <a:latin typeface="Calibri"/>
              </a:rPr>
              <a:t> following a professional code of conduct, working professionally, respecting software licences (for example open-source licence terms) and designing for inclusion and diversity.</a:t>
            </a:r>
          </a:p>
          <a:p>
            <a:pPr>
              <a:spcAft>
                <a:spcPts val="1260"/>
              </a:spcAft>
            </a:pPr>
            <a:r>
              <a:rPr sz="2100" b="0">
                <a:solidFill>
                  <a:srgbClr val="202122"/>
                </a:solidFill>
                <a:latin typeface="Calibri"/>
              </a:rPr>
              <a:t>Something can be legal but still unethical, such as a design that tricks users into subscriptions.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1554480"/>
            <a:ext cx="3867912" cy="4526280"/>
          </a:xfrm>
          <a:prstGeom prst="roundRect">
            <a:avLst>
              <a:gd name="adj" fmla="val 8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8046720" y="1828800"/>
            <a:ext cx="548640" cy="54864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202122"/>
                </a:solidFill>
                <a:latin typeface="Calibri"/>
              </a:rPr>
              <a:t>e.g.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56032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EXAMPLE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2971800"/>
            <a:ext cx="3291840" cy="297180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900" b="0" i="0">
                <a:solidFill>
                  <a:srgbClr val="FFFFFF"/>
                </a:solidFill>
                <a:latin typeface="Cambria"/>
              </a:rPr>
              <a:t>Using an open-source library means following its licence, which may require crediting the authors or sharing your changes.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Standards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330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Development standards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22959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ISO/IEC/IEEE 90003:2018:</a:t>
            </a:r>
            <a:r>
              <a:rPr sz="2200" b="0">
                <a:solidFill>
                  <a:srgbClr val="202122"/>
                </a:solidFill>
                <a:latin typeface="Calibri"/>
              </a:rPr>
              <a:t> software engineering guidance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1">
                <a:solidFill>
                  <a:srgbClr val="202122"/>
                </a:solidFill>
                <a:latin typeface="Calibri"/>
              </a:rPr>
              <a:t>W3C:</a:t>
            </a:r>
            <a:r>
              <a:rPr sz="2200" b="0">
                <a:solidFill>
                  <a:srgbClr val="202122"/>
                </a:solidFill>
                <a:latin typeface="Calibri"/>
              </a:rPr>
              <a:t> web standards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78727" y="1600200"/>
            <a:ext cx="5364327" cy="640080"/>
          </a:xfrm>
          <a:prstGeom prst="roundRect">
            <a:avLst>
              <a:gd name="adj" fmla="val 15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07327" y="1600200"/>
            <a:ext cx="4907127" cy="6400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libri"/>
              </a:rPr>
              <a:t>Ethical considerations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78727" y="2377440"/>
            <a:ext cx="5364327" cy="3794760"/>
          </a:xfrm>
          <a:prstGeom prst="roundRect">
            <a:avLst>
              <a:gd name="adj" fmla="val 4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553047" y="2606040"/>
            <a:ext cx="4815687" cy="33375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Code of conduct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Professional practice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Software licensing</a:t>
            </a:r>
          </a:p>
          <a:p>
            <a:pPr marL="274320" indent="-274320">
              <a:spcAft>
                <a:spcPts val="990"/>
              </a:spcAft>
              <a:buClr>
                <a:srgbClr val="0645AD"/>
              </a:buClr>
              <a:buFont typeface="Arial"/>
              <a:buChar char="•"/>
            </a:pPr>
            <a:r>
              <a:rPr sz="2200" b="0">
                <a:solidFill>
                  <a:srgbClr val="202122"/>
                </a:solidFill>
                <a:latin typeface="Calibri"/>
              </a:rPr>
              <a:t>Inclusion and diversity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Quick check: Standards and ethics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8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9164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64592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What does W3C set standards for?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1089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06324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Give an example of something legal but unethical.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6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4480560"/>
            <a:ext cx="10271455" cy="11887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400" b="0" i="0">
                <a:solidFill>
                  <a:srgbClr val="202122"/>
                </a:solidFill>
                <a:latin typeface="Calibri"/>
              </a:rPr>
              <a:t>Why follow software licences?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8521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0" i="1">
                <a:solidFill>
                  <a:srgbClr val="54595D"/>
                </a:solidFill>
                <a:latin typeface="Calibri"/>
              </a:rPr>
              <a:t>Answer on mini whiteboards or in your book. Answers are in the speaker notes.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Check your understanding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9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Which laws might apply to loot boxes in games?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What does W3C set standards for?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200" b="0" i="0">
                <a:solidFill>
                  <a:srgbClr val="202122"/>
                </a:solidFill>
                <a:latin typeface="Calibri"/>
              </a:rPr>
              <a:t>Why do software licences matter?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10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1618488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1600200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Which laws might apply to loot boxes in games?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Gambling legislation and consumer protection.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212592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3194304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What does W3C set standards for?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 web.</a:t>
            </a:r>
          </a:p>
        </p:txBody>
      </p:sp>
      <p:sp>
        <p:nvSpPr>
          <p:cNvPr id="10" name="Oval 9"/>
          <p:cNvSpPr/>
          <p:nvPr/>
        </p:nvSpPr>
        <p:spPr>
          <a:xfrm>
            <a:off x="548640" y="4806695"/>
            <a:ext cx="411480" cy="41148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4788408"/>
            <a:ext cx="10408615" cy="142951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800" b="0" i="0">
                <a:solidFill>
                  <a:srgbClr val="54595D"/>
                </a:solidFill>
                <a:latin typeface="Calibri"/>
              </a:rPr>
              <a:t>Why do software licences matter?</a:t>
            </a:r>
          </a:p>
          <a:p>
            <a:r>
              <a:rPr sz="1800" b="1">
                <a:solidFill>
                  <a:srgbClr val="03306E"/>
                </a:solidFill>
                <a:latin typeface="Calibri"/>
              </a:rPr>
              <a:t>They set what you may legally do with code you use or distribute.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54595D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03306E"/>
                </a:solidFill>
                <a:latin typeface="Cambria"/>
              </a:rPr>
              <a:t>Activity: Legal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000" b="0" i="0">
                <a:solidFill>
                  <a:srgbClr val="54595D"/>
                </a:solidFill>
                <a:latin typeface="Calibri"/>
              </a:rPr>
              <a:t>Digital Software Development T Level  ·  Legal and Ethical Software Development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28655" y="6446520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r"/>
            <a:r>
              <a:rPr sz="1000" b="0" i="0">
                <a:solidFill>
                  <a:srgbClr val="54595D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2011680" cy="457200"/>
          </a:xfrm>
          <a:prstGeom prst="roundRect">
            <a:avLst>
              <a:gd name="adj" fmla="val 50000"/>
            </a:avLst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48640" y="1508760"/>
            <a:ext cx="20116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ctr"/>
            <a:r>
              <a:rPr sz="1400" b="1" i="0">
                <a:solidFill>
                  <a:srgbClr val="202122"/>
                </a:solidFill>
                <a:latin typeface="Calibri"/>
              </a:rPr>
              <a:t>25 minutes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1508760"/>
            <a:ext cx="4754880" cy="45720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400" b="0" i="1">
                <a:solidFill>
                  <a:srgbClr val="54595D"/>
                </a:solidFill>
                <a:latin typeface="Calibri"/>
              </a:rPr>
              <a:t>Small groups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2482596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40280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Take the starter's children's game.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3461004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3218688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List every legal area that applies and why.</a:t>
            </a:r>
          </a:p>
        </p:txBody>
      </p:sp>
      <p:sp>
        <p:nvSpPr>
          <p:cNvPr id="13" name="Oval 12"/>
          <p:cNvSpPr/>
          <p:nvPr/>
        </p:nvSpPr>
        <p:spPr>
          <a:xfrm>
            <a:off x="548640" y="4439412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4197096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Identify two ethical concerns.</a:t>
            </a:r>
          </a:p>
        </p:txBody>
      </p:sp>
      <p:sp>
        <p:nvSpPr>
          <p:cNvPr id="15" name="Oval 14"/>
          <p:cNvSpPr/>
          <p:nvPr/>
        </p:nvSpPr>
        <p:spPr>
          <a:xfrm>
            <a:off x="548640" y="5417820"/>
            <a:ext cx="384048" cy="384048"/>
          </a:xfrm>
          <a:prstGeom prst="ellipse">
            <a:avLst/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" y="5175504"/>
            <a:ext cx="5943600" cy="86868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1700" b="0" i="0">
                <a:solidFill>
                  <a:srgbClr val="202122"/>
                </a:solidFill>
                <a:latin typeface="Calibri"/>
              </a:rPr>
              <a:t>Recommend design changes to comply.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0" y="1508760"/>
            <a:ext cx="3867912" cy="4572000"/>
          </a:xfrm>
          <a:prstGeom prst="roundRect">
            <a:avLst>
              <a:gd name="adj" fmla="val 8000"/>
            </a:avLst>
          </a:prstGeom>
          <a:solidFill>
            <a:srgbClr val="EAF3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0" y="173736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0645AD"/>
                </a:solidFill>
                <a:latin typeface="Calibri"/>
              </a:rPr>
              <a:t>SUCCESS CRITERIA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0" y="2240280"/>
            <a:ext cx="333756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Age, data and gambling rules considered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Ethics goes beyond the law</a:t>
            </a:r>
          </a:p>
          <a:p>
            <a:pPr marL="274320" indent="-274320">
              <a:spcAft>
                <a:spcPts val="810"/>
              </a:spcAft>
              <a:buClr>
                <a:srgbClr val="0645AD"/>
              </a:buClr>
              <a:buFont typeface="Arial"/>
              <a:buChar char="•"/>
            </a:pPr>
            <a:r>
              <a:rPr sz="1800" b="0">
                <a:solidFill>
                  <a:srgbClr val="202122"/>
                </a:solidFill>
                <a:latin typeface="Calibri"/>
              </a:rPr>
              <a:t>Changes are practical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306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4415" cy="27432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100" b="1" i="0">
                <a:solidFill>
                  <a:srgbClr val="A9C8F0"/>
                </a:solidFill>
                <a:latin typeface="Calibri"/>
              </a:rPr>
              <a:t>OCCUPATIONAL SPECIALISM  ·  Specialism Content Area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3200" b="1" i="0">
                <a:solidFill>
                  <a:srgbClr val="FFFFFF"/>
                </a:solidFill>
                <a:latin typeface="Cambria"/>
              </a:rPr>
              <a:t>Exit ticket</a:t>
            </a:r>
          </a:p>
        </p:txBody>
      </p:sp>
      <p:sp>
        <p:nvSpPr>
          <p:cNvPr id="4" name="Oval 3"/>
          <p:cNvSpPr/>
          <p:nvPr/>
        </p:nvSpPr>
        <p:spPr>
          <a:xfrm>
            <a:off x="548640" y="173736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25880" y="164592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can't you use any image you find online?</a:t>
            </a:r>
          </a:p>
        </p:txBody>
      </p:sp>
      <p:sp>
        <p:nvSpPr>
          <p:cNvPr id="6" name="Oval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60604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What is one ethical issue in software?</a:t>
            </a:r>
          </a:p>
        </p:txBody>
      </p:sp>
      <p:sp>
        <p:nvSpPr>
          <p:cNvPr id="8" name="Oval 7"/>
          <p:cNvSpPr/>
          <p:nvPr/>
        </p:nvSpPr>
        <p:spPr>
          <a:xfrm>
            <a:off x="548640" y="3657600"/>
            <a:ext cx="502920" cy="502920"/>
          </a:xfrm>
          <a:prstGeom prst="ellipse">
            <a:avLst/>
          </a:prstGeom>
          <a:solidFill>
            <a:srgbClr val="33C1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700" b="1">
                <a:solidFill>
                  <a:srgbClr val="202122"/>
                </a:solidFill>
                <a:latin typeface="Calibri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566160"/>
            <a:ext cx="6583680" cy="822960"/>
          </a:xfrm>
          <a:prstGeom prst="rect">
            <a:avLst/>
          </a:prstGeom>
          <a:noFill/>
        </p:spPr>
        <p:txBody>
          <a:bodyPr wrap="square" anchor="ctr" lIns="0" rIns="0" tIns="0" bIns="0"/>
          <a:lstStyle/>
          <a:p>
            <a:pPr algn="l"/>
            <a:r>
              <a:rPr sz="2000" b="0" i="0">
                <a:solidFill>
                  <a:srgbClr val="FFFFFF"/>
                </a:solidFill>
                <a:latin typeface="Calibri"/>
              </a:rPr>
              <a:t>Why do territorial restrictions exist?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0" y="1645920"/>
            <a:ext cx="3410712" cy="2926080"/>
          </a:xfrm>
          <a:prstGeom prst="roundRect">
            <a:avLst>
              <a:gd name="adj" fmla="val 8000"/>
            </a:avLst>
          </a:prstGeom>
          <a:solidFill>
            <a:srgbClr val="0645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8503920" y="1874519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300" b="1" i="0">
                <a:solidFill>
                  <a:srgbClr val="A9C8F0"/>
                </a:solidFill>
                <a:latin typeface="Calibri"/>
              </a:rPr>
              <a:t>REVISE THIS 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2286000"/>
            <a:ext cx="2926080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400" b="0" i="0">
                <a:solidFill>
                  <a:srgbClr val="FFFFFF"/>
                </a:solidFill>
                <a:latin typeface="Calibri"/>
              </a:rPr>
              <a:t>Revision notes for this lesson are on the study wiki: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2926080"/>
            <a:ext cx="2926080" cy="14630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2000" b="1" i="0">
                <a:solidFill>
                  <a:srgbClr val="FFFFFF"/>
                </a:solidFill>
                <a:latin typeface="Cambria"/>
              </a:rPr>
              <a:t>Ethics and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669280"/>
            <a:ext cx="11094415" cy="548640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l"/>
            <a:r>
              <a:rPr sz="1200" b="0" i="0">
                <a:solidFill>
                  <a:srgbClr val="A9C8F0"/>
                </a:solidFill>
                <a:latin typeface="Calibri"/>
              </a:rPr>
              <a:t>https://lana6478.github.io/T-level-Digital-Software-Development/#/02-occupational-specialism/02-ethics-and-risk.md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Legal and Ethical Software Development</dc:title>
  <dc:subject>Digital Software Development T Level: Specialism Content Area 2</dc:subject>
  <dc:creator>Samuel O'Connell</dc:creator>
  <cp:keywords>T Level; Digital Software Development; lesson slides; 2.1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