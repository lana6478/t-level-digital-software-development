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Correcting.</a:t>
            </a:r>
          </a:p>
          <a:p>
            <a:r>
              <a:t>2. Iterating.</a:t>
            </a:r>
          </a:p>
          <a:p>
            <a:r>
              <a:t>3. E.g. updating for new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To check nothing else broke.</a:t>
            </a:r>
          </a:p>
          <a:p>
            <a:r>
              <a:t>2. Technical and non-technical audiences.</a:t>
            </a:r>
          </a:p>
          <a:p>
            <a:r>
              <a:t>3. No, they still need documenting and testing.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Identify or replicate it.</a:t>
            </a:r>
          </a:p>
          <a:p>
            <a:r>
              <a:t>2. E.g. user error, system error, application error, security breach.</a:t>
            </a:r>
          </a:p>
          <a:p>
            <a:r>
              <a:t>3. To prevent similar issues and help others.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33C17A"/>
                </a:solidFill>
                <a:latin typeface="Calibri"/>
              </a:rPr>
              <a:t>OCCUPATIONAL SPECIALISM</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Change, Maintain and Support Software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8</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8.1 to 8.4</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Explain why digital products change.</a:t>
            </a:r>
          </a:p>
        </p:txBody>
      </p:sp>
      <p:sp>
        <p:nvSpPr>
          <p:cNvPr id="9" name="Oval 8"/>
          <p:cNvSpPr/>
          <p:nvPr/>
        </p:nvSpPr>
        <p:spPr>
          <a:xfrm>
            <a:off x="548640" y="327469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the software change management process.</a:t>
            </a:r>
          </a:p>
        </p:txBody>
      </p:sp>
      <p:sp>
        <p:nvSpPr>
          <p:cNvPr id="11" name="Oval 10"/>
          <p:cNvSpPr/>
          <p:nvPr/>
        </p:nvSpPr>
        <p:spPr>
          <a:xfrm>
            <a:off x="548640" y="431482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Apply good coding principles when maintaining code in a team.</a:t>
            </a:r>
          </a:p>
        </p:txBody>
      </p:sp>
      <p:sp>
        <p:nvSpPr>
          <p:cNvPr id="13" name="Oval 12"/>
          <p:cNvSpPr/>
          <p:nvPr/>
        </p:nvSpPr>
        <p:spPr>
          <a:xfrm>
            <a:off x="548640" y="5354954"/>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Communicate with users and resolve their issues systematically.</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Why does your phone keep asking you to update apps that seem to work fine?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products change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Software keeps changing after release, for three reasons.</a:t>
            </a:r>
          </a:p>
          <a:p>
            <a:pPr>
              <a:spcAft>
                <a:spcPts val="1320"/>
              </a:spcAft>
            </a:pPr>
            <a:r>
              <a:rPr sz="2200" b="1">
                <a:solidFill>
                  <a:srgbClr val="202122"/>
                </a:solidFill>
                <a:latin typeface="Calibri"/>
              </a:rPr>
              <a:t>Preventing:</a:t>
            </a:r>
            <a:r>
              <a:rPr sz="2200" b="0">
                <a:solidFill>
                  <a:srgbClr val="202122"/>
                </a:solidFill>
                <a:latin typeface="Calibri"/>
              </a:rPr>
              <a:t> dealing with foreseeable issues, such as new regulations, new devices, business changes or a new product.</a:t>
            </a:r>
          </a:p>
          <a:p>
            <a:pPr>
              <a:spcAft>
                <a:spcPts val="1320"/>
              </a:spcAft>
            </a:pPr>
            <a:r>
              <a:rPr sz="2200" b="1">
                <a:solidFill>
                  <a:srgbClr val="202122"/>
                </a:solidFill>
                <a:latin typeface="Calibri"/>
              </a:rPr>
              <a:t>Correcting:</a:t>
            </a:r>
            <a:r>
              <a:rPr sz="2200" b="0">
                <a:solidFill>
                  <a:srgbClr val="202122"/>
                </a:solidFill>
                <a:latin typeface="Calibri"/>
              </a:rPr>
              <a:t> fixing unforeseen errors, such as zero-day vulnerabilities, targeted attacks, data corruption or system failures.</a:t>
            </a:r>
          </a:p>
          <a:p>
            <a:pPr>
              <a:spcAft>
                <a:spcPts val="1320"/>
              </a:spcAft>
            </a:pPr>
            <a:r>
              <a:rPr sz="2200" b="1">
                <a:solidFill>
                  <a:srgbClr val="202122"/>
                </a:solidFill>
                <a:latin typeface="Calibri"/>
              </a:rPr>
              <a:t>Iterating:</a:t>
            </a:r>
            <a:r>
              <a:rPr sz="2200" b="0">
                <a:solidFill>
                  <a:srgbClr val="202122"/>
                </a:solidFill>
                <a:latin typeface="Calibri"/>
              </a:rPr>
              <a:t> keeping the product relevant, in response to user feedback, new technology, competitors, the need for efficiency, or future-proofing.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banking app updates for new security rules (preventing), patches a login bug (correcting), and adds dark mode because users asked (iterating).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products change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Preventing</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Foreseeable issues: new regulations, new technology, business changes.</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Correcting</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Unforeseen errors: zero-days, attacks, data corruption, failures.</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Iterating</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Staying relevant: feedback, new tech, competition, efficiency, future-proofing.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Why products change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Fixing a zero-day is which type of change?</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Adding a feature users requested is which type?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an example of a preventing change.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Software change management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Changing live software is managed in stages.</a:t>
            </a:r>
          </a:p>
          <a:p>
            <a:pPr>
              <a:spcAft>
                <a:spcPts val="1320"/>
              </a:spcAft>
            </a:pPr>
            <a:r>
              <a:rPr sz="2200" b="0">
                <a:solidFill>
                  <a:srgbClr val="202122"/>
                </a:solidFill>
                <a:latin typeface="Calibri"/>
              </a:rPr>
              <a:t>Identify the changes needed from feedback or review. Document the developments. Communicate with technical and non-technical audiences. Plan the changes. Schedule them. Regression test to make sure nothing else broke. Control and release the update, whether it's planned or an emergency fix.</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emergency security fix skips the usual monthly release, but it's still documented, regression tested and announced in release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Software change management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282315" y="2686812"/>
            <a:ext cx="9627064"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2275"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162300"/>
            <a:ext cx="1467350" cy="731520"/>
          </a:xfrm>
          <a:prstGeom prst="rect">
            <a:avLst/>
          </a:prstGeom>
          <a:noFill/>
        </p:spPr>
        <p:txBody>
          <a:bodyPr wrap="square" anchor="t" lIns="0" rIns="0" tIns="0" bIns="0"/>
          <a:lstStyle/>
          <a:p>
            <a:pPr algn="ctr"/>
            <a:r>
              <a:rPr sz="1600" b="1" i="0">
                <a:solidFill>
                  <a:srgbClr val="03306E"/>
                </a:solidFill>
                <a:latin typeface="Calibri"/>
              </a:rPr>
              <a:t>Identify</a:t>
            </a:r>
          </a:p>
        </p:txBody>
      </p:sp>
      <p:sp>
        <p:nvSpPr>
          <p:cNvPr id="9" name="Rounded Rectangle 8"/>
          <p:cNvSpPr/>
          <p:nvPr/>
        </p:nvSpPr>
        <p:spPr>
          <a:xfrm>
            <a:off x="548640"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76700"/>
            <a:ext cx="1193030" cy="1173480"/>
          </a:xfrm>
          <a:prstGeom prst="rect">
            <a:avLst/>
          </a:prstGeom>
          <a:noFill/>
        </p:spPr>
        <p:txBody>
          <a:bodyPr wrap="square" anchor="t" lIns="0" rIns="0" tIns="0" bIns="0"/>
          <a:lstStyle/>
          <a:p>
            <a:pPr algn="l"/>
            <a:r>
              <a:rPr sz="1700" b="0" i="0">
                <a:solidFill>
                  <a:srgbClr val="202122"/>
                </a:solidFill>
                <a:latin typeface="Calibri"/>
              </a:rPr>
              <a:t>Issues from feedback or review.</a:t>
            </a:r>
          </a:p>
        </p:txBody>
      </p:sp>
      <p:sp>
        <p:nvSpPr>
          <p:cNvPr id="11" name="Oval 10"/>
          <p:cNvSpPr/>
          <p:nvPr/>
        </p:nvSpPr>
        <p:spPr>
          <a:xfrm>
            <a:off x="2566786"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153150" y="3162300"/>
            <a:ext cx="1467350" cy="731520"/>
          </a:xfrm>
          <a:prstGeom prst="rect">
            <a:avLst/>
          </a:prstGeom>
          <a:noFill/>
        </p:spPr>
        <p:txBody>
          <a:bodyPr wrap="square" anchor="t" lIns="0" rIns="0" tIns="0" bIns="0"/>
          <a:lstStyle/>
          <a:p>
            <a:pPr algn="ctr"/>
            <a:r>
              <a:rPr sz="1600" b="1" i="0">
                <a:solidFill>
                  <a:srgbClr val="03306E"/>
                </a:solidFill>
                <a:latin typeface="Calibri"/>
              </a:rPr>
              <a:t>Document</a:t>
            </a:r>
          </a:p>
        </p:txBody>
      </p:sp>
      <p:sp>
        <p:nvSpPr>
          <p:cNvPr id="13" name="Rounded Rectangle 12"/>
          <p:cNvSpPr/>
          <p:nvPr/>
        </p:nvSpPr>
        <p:spPr>
          <a:xfrm>
            <a:off x="2153150"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90310" y="4076700"/>
            <a:ext cx="1193030" cy="1173480"/>
          </a:xfrm>
          <a:prstGeom prst="rect">
            <a:avLst/>
          </a:prstGeom>
          <a:noFill/>
        </p:spPr>
        <p:txBody>
          <a:bodyPr wrap="square" anchor="t" lIns="0" rIns="0" tIns="0" bIns="0"/>
          <a:lstStyle/>
          <a:p>
            <a:pPr algn="l"/>
            <a:r>
              <a:rPr sz="1700" b="0" i="0">
                <a:solidFill>
                  <a:srgbClr val="202122"/>
                </a:solidFill>
                <a:latin typeface="Calibri"/>
              </a:rPr>
              <a:t>Record the changes.</a:t>
            </a:r>
          </a:p>
        </p:txBody>
      </p:sp>
      <p:sp>
        <p:nvSpPr>
          <p:cNvPr id="15" name="Oval 14"/>
          <p:cNvSpPr/>
          <p:nvPr/>
        </p:nvSpPr>
        <p:spPr>
          <a:xfrm>
            <a:off x="4171296"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3757661" y="3162300"/>
            <a:ext cx="1467350" cy="731520"/>
          </a:xfrm>
          <a:prstGeom prst="rect">
            <a:avLst/>
          </a:prstGeom>
          <a:noFill/>
        </p:spPr>
        <p:txBody>
          <a:bodyPr wrap="square" anchor="t" lIns="0" rIns="0" tIns="0" bIns="0"/>
          <a:lstStyle/>
          <a:p>
            <a:pPr algn="ctr"/>
            <a:r>
              <a:rPr sz="1600" b="1" i="0">
                <a:solidFill>
                  <a:srgbClr val="03306E"/>
                </a:solidFill>
                <a:latin typeface="Calibri"/>
              </a:rPr>
              <a:t>Communicate</a:t>
            </a:r>
          </a:p>
        </p:txBody>
      </p:sp>
      <p:sp>
        <p:nvSpPr>
          <p:cNvPr id="17" name="Rounded Rectangle 16"/>
          <p:cNvSpPr/>
          <p:nvPr/>
        </p:nvSpPr>
        <p:spPr>
          <a:xfrm>
            <a:off x="3757661"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94821" y="4076700"/>
            <a:ext cx="1193030" cy="1173480"/>
          </a:xfrm>
          <a:prstGeom prst="rect">
            <a:avLst/>
          </a:prstGeom>
          <a:noFill/>
        </p:spPr>
        <p:txBody>
          <a:bodyPr wrap="square" anchor="t" lIns="0" rIns="0" tIns="0" bIns="0"/>
          <a:lstStyle/>
          <a:p>
            <a:pPr algn="l"/>
            <a:r>
              <a:rPr sz="1700" b="0" i="0">
                <a:solidFill>
                  <a:srgbClr val="202122"/>
                </a:solidFill>
                <a:latin typeface="Calibri"/>
              </a:rPr>
              <a:t>To technical and non-technical audiences.</a:t>
            </a:r>
          </a:p>
        </p:txBody>
      </p:sp>
      <p:sp>
        <p:nvSpPr>
          <p:cNvPr id="19" name="Oval 18"/>
          <p:cNvSpPr/>
          <p:nvPr/>
        </p:nvSpPr>
        <p:spPr>
          <a:xfrm>
            <a:off x="5775807"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5362172" y="3162300"/>
            <a:ext cx="1467350" cy="731520"/>
          </a:xfrm>
          <a:prstGeom prst="rect">
            <a:avLst/>
          </a:prstGeom>
          <a:noFill/>
        </p:spPr>
        <p:txBody>
          <a:bodyPr wrap="square" anchor="t" lIns="0" rIns="0" tIns="0" bIns="0"/>
          <a:lstStyle/>
          <a:p>
            <a:pPr algn="ctr"/>
            <a:r>
              <a:rPr sz="1600" b="1" i="0">
                <a:solidFill>
                  <a:srgbClr val="03306E"/>
                </a:solidFill>
                <a:latin typeface="Calibri"/>
              </a:rPr>
              <a:t>Plan</a:t>
            </a:r>
          </a:p>
        </p:txBody>
      </p:sp>
      <p:sp>
        <p:nvSpPr>
          <p:cNvPr id="21" name="Rounded Rectangle 20"/>
          <p:cNvSpPr/>
          <p:nvPr/>
        </p:nvSpPr>
        <p:spPr>
          <a:xfrm>
            <a:off x="5362172"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99332" y="4076700"/>
            <a:ext cx="1193030" cy="1173480"/>
          </a:xfrm>
          <a:prstGeom prst="rect">
            <a:avLst/>
          </a:prstGeom>
          <a:noFill/>
        </p:spPr>
        <p:txBody>
          <a:bodyPr wrap="square" anchor="t" lIns="0" rIns="0" tIns="0" bIns="0"/>
          <a:lstStyle/>
          <a:p>
            <a:pPr algn="l"/>
            <a:r>
              <a:rPr sz="1700" b="0" i="0">
                <a:solidFill>
                  <a:srgbClr val="202122"/>
                </a:solidFill>
                <a:latin typeface="Calibri"/>
              </a:rPr>
              <a:t>What must change.</a:t>
            </a:r>
          </a:p>
        </p:txBody>
      </p:sp>
      <p:sp>
        <p:nvSpPr>
          <p:cNvPr id="23" name="Oval 22"/>
          <p:cNvSpPr/>
          <p:nvPr/>
        </p:nvSpPr>
        <p:spPr>
          <a:xfrm>
            <a:off x="7380318"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6966682" y="3162300"/>
            <a:ext cx="1467350" cy="731520"/>
          </a:xfrm>
          <a:prstGeom prst="rect">
            <a:avLst/>
          </a:prstGeom>
          <a:noFill/>
        </p:spPr>
        <p:txBody>
          <a:bodyPr wrap="square" anchor="t" lIns="0" rIns="0" tIns="0" bIns="0"/>
          <a:lstStyle/>
          <a:p>
            <a:pPr algn="ctr"/>
            <a:r>
              <a:rPr sz="1600" b="1" i="0">
                <a:solidFill>
                  <a:srgbClr val="03306E"/>
                </a:solidFill>
                <a:latin typeface="Calibri"/>
              </a:rPr>
              <a:t>Schedule</a:t>
            </a:r>
          </a:p>
        </p:txBody>
      </p:sp>
      <p:sp>
        <p:nvSpPr>
          <p:cNvPr id="25" name="Rounded Rectangle 24"/>
          <p:cNvSpPr/>
          <p:nvPr/>
        </p:nvSpPr>
        <p:spPr>
          <a:xfrm>
            <a:off x="6966682"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03842" y="4076700"/>
            <a:ext cx="1193030" cy="1173480"/>
          </a:xfrm>
          <a:prstGeom prst="rect">
            <a:avLst/>
          </a:prstGeom>
          <a:noFill/>
        </p:spPr>
        <p:txBody>
          <a:bodyPr wrap="square" anchor="t" lIns="0" rIns="0" tIns="0" bIns="0"/>
          <a:lstStyle/>
          <a:p>
            <a:pPr algn="l"/>
            <a:r>
              <a:rPr sz="1700" b="0" i="0">
                <a:solidFill>
                  <a:srgbClr val="202122"/>
                </a:solidFill>
                <a:latin typeface="Calibri"/>
              </a:rPr>
              <a:t>When it will change.</a:t>
            </a:r>
          </a:p>
        </p:txBody>
      </p:sp>
      <p:sp>
        <p:nvSpPr>
          <p:cNvPr id="27" name="Oval 26"/>
          <p:cNvSpPr/>
          <p:nvPr/>
        </p:nvSpPr>
        <p:spPr>
          <a:xfrm>
            <a:off x="8984829"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8571193" y="3162300"/>
            <a:ext cx="1467350" cy="731520"/>
          </a:xfrm>
          <a:prstGeom prst="rect">
            <a:avLst/>
          </a:prstGeom>
          <a:noFill/>
        </p:spPr>
        <p:txBody>
          <a:bodyPr wrap="square" anchor="t" lIns="0" rIns="0" tIns="0" bIns="0"/>
          <a:lstStyle/>
          <a:p>
            <a:pPr algn="ctr"/>
            <a:r>
              <a:rPr sz="1600" b="1" i="0">
                <a:solidFill>
                  <a:srgbClr val="03306E"/>
                </a:solidFill>
                <a:latin typeface="Calibri"/>
              </a:rPr>
              <a:t>Regression test</a:t>
            </a:r>
          </a:p>
        </p:txBody>
      </p:sp>
      <p:sp>
        <p:nvSpPr>
          <p:cNvPr id="29" name="Rounded Rectangle 28"/>
          <p:cNvSpPr/>
          <p:nvPr/>
        </p:nvSpPr>
        <p:spPr>
          <a:xfrm>
            <a:off x="8571193"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708353" y="4076700"/>
            <a:ext cx="1193030" cy="1173480"/>
          </a:xfrm>
          <a:prstGeom prst="rect">
            <a:avLst/>
          </a:prstGeom>
          <a:noFill/>
        </p:spPr>
        <p:txBody>
          <a:bodyPr wrap="square" anchor="t" lIns="0" rIns="0" tIns="0" bIns="0"/>
          <a:lstStyle/>
          <a:p>
            <a:pPr algn="l"/>
            <a:r>
              <a:rPr sz="1700" b="0" i="0">
                <a:solidFill>
                  <a:srgbClr val="202122"/>
                </a:solidFill>
                <a:latin typeface="Calibri"/>
              </a:rPr>
              <a:t>Check nothing else broke.</a:t>
            </a:r>
          </a:p>
        </p:txBody>
      </p:sp>
      <p:sp>
        <p:nvSpPr>
          <p:cNvPr id="31" name="Oval 30"/>
          <p:cNvSpPr/>
          <p:nvPr/>
        </p:nvSpPr>
        <p:spPr>
          <a:xfrm>
            <a:off x="10589339" y="238506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7</a:t>
            </a:r>
          </a:p>
        </p:txBody>
      </p:sp>
      <p:sp>
        <p:nvSpPr>
          <p:cNvPr id="32" name="TextBox 31"/>
          <p:cNvSpPr txBox="1"/>
          <p:nvPr/>
        </p:nvSpPr>
        <p:spPr>
          <a:xfrm>
            <a:off x="10175704" y="3162300"/>
            <a:ext cx="1467350" cy="731520"/>
          </a:xfrm>
          <a:prstGeom prst="rect">
            <a:avLst/>
          </a:prstGeom>
          <a:noFill/>
        </p:spPr>
        <p:txBody>
          <a:bodyPr wrap="square" anchor="t" lIns="0" rIns="0" tIns="0" bIns="0"/>
          <a:lstStyle/>
          <a:p>
            <a:pPr algn="ctr"/>
            <a:r>
              <a:rPr sz="1600" b="1" i="0">
                <a:solidFill>
                  <a:srgbClr val="03306E"/>
                </a:solidFill>
                <a:latin typeface="Calibri"/>
              </a:rPr>
              <a:t>Release</a:t>
            </a:r>
          </a:p>
        </p:txBody>
      </p:sp>
      <p:sp>
        <p:nvSpPr>
          <p:cNvPr id="33" name="Rounded Rectangle 32"/>
          <p:cNvSpPr/>
          <p:nvPr/>
        </p:nvSpPr>
        <p:spPr>
          <a:xfrm>
            <a:off x="10175704" y="3939540"/>
            <a:ext cx="1467350"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12864" y="4076700"/>
            <a:ext cx="1193030" cy="1173480"/>
          </a:xfrm>
          <a:prstGeom prst="rect">
            <a:avLst/>
          </a:prstGeom>
          <a:noFill/>
        </p:spPr>
        <p:txBody>
          <a:bodyPr wrap="square" anchor="t" lIns="0" rIns="0" tIns="0" bIns="0"/>
          <a:lstStyle/>
          <a:p>
            <a:pPr algn="l"/>
            <a:r>
              <a:rPr sz="1700" b="0" i="0">
                <a:solidFill>
                  <a:srgbClr val="202122"/>
                </a:solidFill>
                <a:latin typeface="Calibri"/>
              </a:rPr>
              <a:t>Planned or emergency.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Software change management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regression test a change?</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Who needs to be told about changes?</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Can emergency fixes skip documentation?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Maintaining code and supporting users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Maintaining code in a team</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Separate code into modules</a:t>
            </a:r>
          </a:p>
          <a:p>
            <a:pPr marL="274320" indent="-274320">
              <a:spcAft>
                <a:spcPts val="990"/>
              </a:spcAft>
              <a:buClr>
                <a:srgbClr val="0645AD"/>
              </a:buClr>
              <a:buFont typeface="Arial"/>
              <a:buChar char="•"/>
            </a:pPr>
            <a:r>
              <a:rPr sz="2200" b="0">
                <a:solidFill>
                  <a:srgbClr val="202122"/>
                </a:solidFill>
                <a:latin typeface="Calibri"/>
              </a:rPr>
              <a:t>Write readable code</a:t>
            </a:r>
          </a:p>
          <a:p>
            <a:pPr marL="274320" indent="-274320">
              <a:spcAft>
                <a:spcPts val="990"/>
              </a:spcAft>
              <a:buClr>
                <a:srgbClr val="0645AD"/>
              </a:buClr>
              <a:buFont typeface="Arial"/>
              <a:buChar char="•"/>
            </a:pPr>
            <a:r>
              <a:rPr sz="2200" b="0">
                <a:solidFill>
                  <a:srgbClr val="202122"/>
                </a:solidFill>
                <a:latin typeface="Calibri"/>
              </a:rPr>
              <a:t>Follow agreed conventions</a:t>
            </a:r>
          </a:p>
          <a:p>
            <a:pPr marL="274320" indent="-274320">
              <a:spcAft>
                <a:spcPts val="990"/>
              </a:spcAft>
              <a:buClr>
                <a:srgbClr val="0645AD"/>
              </a:buClr>
              <a:buFont typeface="Arial"/>
              <a:buChar char="•"/>
            </a:pPr>
            <a:r>
              <a:rPr sz="2200" b="0">
                <a:solidFill>
                  <a:srgbClr val="202122"/>
                </a:solidFill>
                <a:latin typeface="Calibri"/>
              </a:rPr>
              <a:t>Comment helpfully</a:t>
            </a:r>
          </a:p>
          <a:p>
            <a:pPr marL="274320" indent="-274320">
              <a:spcAft>
                <a:spcPts val="990"/>
              </a:spcAft>
              <a:buClr>
                <a:srgbClr val="0645AD"/>
              </a:buClr>
              <a:buFont typeface="Arial"/>
              <a:buChar char="•"/>
            </a:pPr>
            <a:r>
              <a:rPr sz="2200" b="0">
                <a:solidFill>
                  <a:srgbClr val="202122"/>
                </a:solidFill>
                <a:latin typeface="Calibri"/>
              </a:rPr>
              <a:t>Keep change logs up to date</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Communicating with users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Face to face and remote calls</a:t>
            </a:r>
          </a:p>
          <a:p>
            <a:pPr marL="274320" indent="-274320">
              <a:spcAft>
                <a:spcPts val="990"/>
              </a:spcAft>
              <a:buClr>
                <a:srgbClr val="0645AD"/>
              </a:buClr>
              <a:buFont typeface="Arial"/>
              <a:buChar char="•"/>
            </a:pPr>
            <a:r>
              <a:rPr sz="2200" b="0">
                <a:solidFill>
                  <a:srgbClr val="202122"/>
                </a:solidFill>
                <a:latin typeface="Calibri"/>
              </a:rPr>
              <a:t>Blogs, reports, release notes, guides, FAQs</a:t>
            </a:r>
          </a:p>
          <a:p>
            <a:pPr marL="274320" indent="-274320">
              <a:spcAft>
                <a:spcPts val="990"/>
              </a:spcAft>
              <a:buClr>
                <a:srgbClr val="0645AD"/>
              </a:buClr>
              <a:buFont typeface="Arial"/>
              <a:buChar char="•"/>
            </a:pPr>
            <a:r>
              <a:rPr sz="2200" b="0">
                <a:solidFill>
                  <a:srgbClr val="202122"/>
                </a:solidFill>
                <a:latin typeface="Calibri"/>
              </a:rPr>
              <a:t>Demonstrations, screencasts, narration</a:t>
            </a:r>
          </a:p>
          <a:p>
            <a:pPr marL="274320" indent="-274320">
              <a:spcAft>
                <a:spcPts val="990"/>
              </a:spcAft>
              <a:buClr>
                <a:srgbClr val="0645AD"/>
              </a:buClr>
              <a:buFont typeface="Arial"/>
              <a:buChar char="•"/>
            </a:pPr>
            <a:r>
              <a:rPr sz="2200" b="0">
                <a:solidFill>
                  <a:srgbClr val="202122"/>
                </a:solidFill>
                <a:latin typeface="Calibri"/>
              </a:rPr>
              <a:t>Machine-readable API contracts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Resolving user issues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When users report problems, follow a systematic process.</a:t>
            </a:r>
          </a:p>
          <a:p>
            <a:pPr>
              <a:spcAft>
                <a:spcPts val="1260"/>
              </a:spcAft>
            </a:pPr>
            <a:r>
              <a:rPr sz="2100" b="0">
                <a:solidFill>
                  <a:srgbClr val="202122"/>
                </a:solidFill>
                <a:latin typeface="Calibri"/>
              </a:rPr>
              <a:t>Identify or replicate the issue, so you can see it happen. Investigate the possible cause: user error, system error, application error or a security breach. Apply testing to find the error, make the change, confirm the error doesn't return and that no new issues appeared. Communicate how and when it was resolved to the right people. Document the lessons learned.</a:t>
            </a:r>
          </a:p>
          <a:p>
            <a:pPr>
              <a:spcAft>
                <a:spcPts val="1260"/>
              </a:spcAft>
            </a:pPr>
            <a:r>
              <a:rPr sz="2100" b="0">
                <a:solidFill>
                  <a:srgbClr val="202122"/>
                </a:solidFill>
                <a:latin typeface="Calibri"/>
              </a:rPr>
              <a:t>Communicate in the right tone for the audience: release notes and FAQs for users, technical notes for developers.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user says the app crashes on photo upload. The developer replicates it with a large photo, finds no size check, adds one, retests and updates the FAQ.</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Resolving user issues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ectangle 5"/>
          <p:cNvSpPr/>
          <p:nvPr/>
        </p:nvSpPr>
        <p:spPr>
          <a:xfrm>
            <a:off x="1603217" y="2656332"/>
            <a:ext cx="8985260"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83177"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131820"/>
            <a:ext cx="2109155" cy="731520"/>
          </a:xfrm>
          <a:prstGeom prst="rect">
            <a:avLst/>
          </a:prstGeom>
          <a:noFill/>
        </p:spPr>
        <p:txBody>
          <a:bodyPr wrap="square" anchor="t" lIns="0" rIns="0" tIns="0" bIns="0"/>
          <a:lstStyle/>
          <a:p>
            <a:pPr algn="ctr"/>
            <a:r>
              <a:rPr sz="1700" b="1" i="0">
                <a:solidFill>
                  <a:srgbClr val="03306E"/>
                </a:solidFill>
                <a:latin typeface="Calibri"/>
              </a:rPr>
              <a:t>Replicate</a:t>
            </a:r>
          </a:p>
        </p:txBody>
      </p:sp>
      <p:sp>
        <p:nvSpPr>
          <p:cNvPr id="9" name="Rounded Rectangle 8"/>
          <p:cNvSpPr/>
          <p:nvPr/>
        </p:nvSpPr>
        <p:spPr>
          <a:xfrm>
            <a:off x="548640"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46220"/>
            <a:ext cx="1834835" cy="1234439"/>
          </a:xfrm>
          <a:prstGeom prst="rect">
            <a:avLst/>
          </a:prstGeom>
          <a:noFill/>
        </p:spPr>
        <p:txBody>
          <a:bodyPr wrap="square" anchor="t" lIns="0" rIns="0" tIns="0" bIns="0"/>
          <a:lstStyle/>
          <a:p>
            <a:pPr algn="l"/>
            <a:r>
              <a:rPr sz="1800" b="0" i="0">
                <a:solidFill>
                  <a:srgbClr val="202122"/>
                </a:solidFill>
                <a:latin typeface="Calibri"/>
              </a:rPr>
              <a:t>Identify or reproduce the issue.</a:t>
            </a:r>
          </a:p>
        </p:txBody>
      </p:sp>
      <p:sp>
        <p:nvSpPr>
          <p:cNvPr id="11" name="Oval 10"/>
          <p:cNvSpPr/>
          <p:nvPr/>
        </p:nvSpPr>
        <p:spPr>
          <a:xfrm>
            <a:off x="3529492"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794955" y="3131820"/>
            <a:ext cx="2109155" cy="731520"/>
          </a:xfrm>
          <a:prstGeom prst="rect">
            <a:avLst/>
          </a:prstGeom>
          <a:noFill/>
        </p:spPr>
        <p:txBody>
          <a:bodyPr wrap="square" anchor="t" lIns="0" rIns="0" tIns="0" bIns="0"/>
          <a:lstStyle/>
          <a:p>
            <a:pPr algn="ctr"/>
            <a:r>
              <a:rPr sz="1700" b="1" i="0">
                <a:solidFill>
                  <a:srgbClr val="03306E"/>
                </a:solidFill>
                <a:latin typeface="Calibri"/>
              </a:rPr>
              <a:t>Investigate</a:t>
            </a:r>
          </a:p>
        </p:txBody>
      </p:sp>
      <p:sp>
        <p:nvSpPr>
          <p:cNvPr id="13" name="Rounded Rectangle 12"/>
          <p:cNvSpPr/>
          <p:nvPr/>
        </p:nvSpPr>
        <p:spPr>
          <a:xfrm>
            <a:off x="2794955"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32115" y="4046220"/>
            <a:ext cx="1834835" cy="1234439"/>
          </a:xfrm>
          <a:prstGeom prst="rect">
            <a:avLst/>
          </a:prstGeom>
          <a:noFill/>
        </p:spPr>
        <p:txBody>
          <a:bodyPr wrap="square" anchor="t" lIns="0" rIns="0" tIns="0" bIns="0"/>
          <a:lstStyle/>
          <a:p>
            <a:pPr algn="l"/>
            <a:r>
              <a:rPr sz="1800" b="0" i="0">
                <a:solidFill>
                  <a:srgbClr val="202122"/>
                </a:solidFill>
                <a:latin typeface="Calibri"/>
              </a:rPr>
              <a:t>User, system or application error, or a breach?</a:t>
            </a:r>
          </a:p>
        </p:txBody>
      </p:sp>
      <p:sp>
        <p:nvSpPr>
          <p:cNvPr id="15" name="Oval 14"/>
          <p:cNvSpPr/>
          <p:nvPr/>
        </p:nvSpPr>
        <p:spPr>
          <a:xfrm>
            <a:off x="5775807"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5041270" y="3131820"/>
            <a:ext cx="2109155" cy="731520"/>
          </a:xfrm>
          <a:prstGeom prst="rect">
            <a:avLst/>
          </a:prstGeom>
          <a:noFill/>
        </p:spPr>
        <p:txBody>
          <a:bodyPr wrap="square" anchor="t" lIns="0" rIns="0" tIns="0" bIns="0"/>
          <a:lstStyle/>
          <a:p>
            <a:pPr algn="ctr"/>
            <a:r>
              <a:rPr sz="1700" b="1" i="0">
                <a:solidFill>
                  <a:srgbClr val="03306E"/>
                </a:solidFill>
                <a:latin typeface="Calibri"/>
              </a:rPr>
              <a:t>Fix and test</a:t>
            </a:r>
          </a:p>
        </p:txBody>
      </p:sp>
      <p:sp>
        <p:nvSpPr>
          <p:cNvPr id="17" name="Rounded Rectangle 16"/>
          <p:cNvSpPr/>
          <p:nvPr/>
        </p:nvSpPr>
        <p:spPr>
          <a:xfrm>
            <a:off x="5041270"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8430" y="4046220"/>
            <a:ext cx="1834835" cy="1234439"/>
          </a:xfrm>
          <a:prstGeom prst="rect">
            <a:avLst/>
          </a:prstGeom>
          <a:noFill/>
        </p:spPr>
        <p:txBody>
          <a:bodyPr wrap="square" anchor="t" lIns="0" rIns="0" tIns="0" bIns="0"/>
          <a:lstStyle/>
          <a:p>
            <a:pPr algn="l"/>
            <a:r>
              <a:rPr sz="1800" b="0" i="0">
                <a:solidFill>
                  <a:srgbClr val="202122"/>
                </a:solidFill>
                <a:latin typeface="Calibri"/>
              </a:rPr>
              <a:t>Make the change, confirm it stays fixed with no new issues.</a:t>
            </a:r>
          </a:p>
        </p:txBody>
      </p:sp>
      <p:sp>
        <p:nvSpPr>
          <p:cNvPr id="19" name="Oval 18"/>
          <p:cNvSpPr/>
          <p:nvPr/>
        </p:nvSpPr>
        <p:spPr>
          <a:xfrm>
            <a:off x="8022122"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7287585" y="3131820"/>
            <a:ext cx="2109155" cy="731520"/>
          </a:xfrm>
          <a:prstGeom prst="rect">
            <a:avLst/>
          </a:prstGeom>
          <a:noFill/>
        </p:spPr>
        <p:txBody>
          <a:bodyPr wrap="square" anchor="t" lIns="0" rIns="0" tIns="0" bIns="0"/>
          <a:lstStyle/>
          <a:p>
            <a:pPr algn="ctr"/>
            <a:r>
              <a:rPr sz="1700" b="1" i="0">
                <a:solidFill>
                  <a:srgbClr val="03306E"/>
                </a:solidFill>
                <a:latin typeface="Calibri"/>
              </a:rPr>
              <a:t>Communicate</a:t>
            </a:r>
          </a:p>
        </p:txBody>
      </p:sp>
      <p:sp>
        <p:nvSpPr>
          <p:cNvPr id="21" name="Rounded Rectangle 20"/>
          <p:cNvSpPr/>
          <p:nvPr/>
        </p:nvSpPr>
        <p:spPr>
          <a:xfrm>
            <a:off x="7287585"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745" y="4046220"/>
            <a:ext cx="1834835" cy="1234439"/>
          </a:xfrm>
          <a:prstGeom prst="rect">
            <a:avLst/>
          </a:prstGeom>
          <a:noFill/>
        </p:spPr>
        <p:txBody>
          <a:bodyPr wrap="square" anchor="t" lIns="0" rIns="0" tIns="0" bIns="0"/>
          <a:lstStyle/>
          <a:p>
            <a:pPr algn="l"/>
            <a:r>
              <a:rPr sz="1800" b="0" i="0">
                <a:solidFill>
                  <a:srgbClr val="202122"/>
                </a:solidFill>
                <a:latin typeface="Calibri"/>
              </a:rPr>
              <a:t>Tell stakeholders how and when.</a:t>
            </a:r>
          </a:p>
        </p:txBody>
      </p:sp>
      <p:sp>
        <p:nvSpPr>
          <p:cNvPr id="23" name="Oval 22"/>
          <p:cNvSpPr/>
          <p:nvPr/>
        </p:nvSpPr>
        <p:spPr>
          <a:xfrm>
            <a:off x="10268437"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9533900" y="3131820"/>
            <a:ext cx="2109155" cy="731520"/>
          </a:xfrm>
          <a:prstGeom prst="rect">
            <a:avLst/>
          </a:prstGeom>
          <a:noFill/>
        </p:spPr>
        <p:txBody>
          <a:bodyPr wrap="square" anchor="t" lIns="0" rIns="0" tIns="0" bIns="0"/>
          <a:lstStyle/>
          <a:p>
            <a:pPr algn="ctr"/>
            <a:r>
              <a:rPr sz="1700" b="1" i="0">
                <a:solidFill>
                  <a:srgbClr val="03306E"/>
                </a:solidFill>
                <a:latin typeface="Calibri"/>
              </a:rPr>
              <a:t>Learn</a:t>
            </a:r>
          </a:p>
        </p:txBody>
      </p:sp>
      <p:sp>
        <p:nvSpPr>
          <p:cNvPr id="25" name="Rounded Rectangle 24"/>
          <p:cNvSpPr/>
          <p:nvPr/>
        </p:nvSpPr>
        <p:spPr>
          <a:xfrm>
            <a:off x="9533900"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71060" y="4046220"/>
            <a:ext cx="1834835" cy="1234439"/>
          </a:xfrm>
          <a:prstGeom prst="rect">
            <a:avLst/>
          </a:prstGeom>
          <a:noFill/>
        </p:spPr>
        <p:txBody>
          <a:bodyPr wrap="square" anchor="t" lIns="0" rIns="0" tIns="0" bIns="0"/>
          <a:lstStyle/>
          <a:p>
            <a:pPr algn="l"/>
            <a:r>
              <a:rPr sz="1800" b="0" i="0">
                <a:solidFill>
                  <a:srgbClr val="202122"/>
                </a:solidFill>
                <a:latin typeface="Calibri"/>
              </a:rPr>
              <a:t>Document the lessons.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Resolving user issues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first step in resolving an issue?</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two possible causes of a user issue.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document lessons learned?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Fixing a zero-day vulnerability is which type of change?</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Why is regression testing part of change management?</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Name two written formats for communicating with users.</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is the first step in resolving a user issue?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Fixing a zero-day vulnerability is which type of change?</a:t>
            </a:r>
          </a:p>
          <a:p>
            <a:r>
              <a:rPr sz="1800" b="1">
                <a:solidFill>
                  <a:srgbClr val="03306E"/>
                </a:solidFill>
                <a:latin typeface="Calibri"/>
              </a:rPr>
              <a:t>Correcting.</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Why is regression testing part of change management?</a:t>
            </a:r>
          </a:p>
          <a:p>
            <a:r>
              <a:rPr sz="1800" b="1">
                <a:solidFill>
                  <a:srgbClr val="03306E"/>
                </a:solidFill>
                <a:latin typeface="Calibri"/>
              </a:rPr>
              <a:t>To make sure the change hasn't broken other features.</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Name two written formats for communicating with users.</a:t>
            </a:r>
          </a:p>
          <a:p>
            <a:r>
              <a:rPr sz="1800" b="1">
                <a:solidFill>
                  <a:srgbClr val="03306E"/>
                </a:solidFill>
                <a:latin typeface="Calibri"/>
              </a:rPr>
              <a:t>Any two of: blogs, reports, technical documentation, release notes, user guides, FAQs.</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is the first step in resolving a user issue?</a:t>
            </a:r>
          </a:p>
          <a:p>
            <a:r>
              <a:rPr sz="1800" b="1">
                <a:solidFill>
                  <a:srgbClr val="03306E"/>
                </a:solidFill>
                <a:latin typeface="Calibri"/>
              </a:rPr>
              <a:t>Identify or replicate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Release notes and support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Change, Maintain and Support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Your teacher gives you a bug report and a code change.</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Replicate the bug, fix it and add a change log entry.</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Write release notes for non-technical users.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a short technical note for other developers.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Bug replicated before fixing</a:t>
            </a:r>
          </a:p>
          <a:p>
            <a:pPr marL="274320" indent="-274320">
              <a:spcAft>
                <a:spcPts val="810"/>
              </a:spcAft>
              <a:buClr>
                <a:srgbClr val="0645AD"/>
              </a:buClr>
              <a:buFont typeface="Arial"/>
              <a:buChar char="•"/>
            </a:pPr>
            <a:r>
              <a:rPr sz="1800" b="0">
                <a:solidFill>
                  <a:srgbClr val="202122"/>
                </a:solidFill>
                <a:latin typeface="Calibri"/>
              </a:rPr>
              <a:t>Change log is clear</a:t>
            </a:r>
          </a:p>
          <a:p>
            <a:pPr marL="274320" indent="-274320">
              <a:spcAft>
                <a:spcPts val="810"/>
              </a:spcAft>
              <a:buClr>
                <a:srgbClr val="0645AD"/>
              </a:buClr>
              <a:buFont typeface="Arial"/>
              <a:buChar char="•"/>
            </a:pPr>
            <a:r>
              <a:rPr sz="1800" b="0">
                <a:solidFill>
                  <a:srgbClr val="202122"/>
                </a:solidFill>
                <a:latin typeface="Calibri"/>
              </a:rPr>
              <a:t>Tone matches each audience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  ·  Specialism Content Area 8</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an example of an iterating change.</a:t>
            </a:r>
          </a:p>
        </p:txBody>
      </p:sp>
      <p:sp>
        <p:nvSpPr>
          <p:cNvPr id="6" name="Oval 5"/>
          <p:cNvSpPr/>
          <p:nvPr/>
        </p:nvSpPr>
        <p:spPr>
          <a:xfrm>
            <a:off x="548640" y="26974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keep a change log?</a:t>
            </a:r>
          </a:p>
        </p:txBody>
      </p:sp>
      <p:sp>
        <p:nvSpPr>
          <p:cNvPr id="8" name="Oval 7"/>
          <p:cNvSpPr/>
          <p:nvPr/>
        </p:nvSpPr>
        <p:spPr>
          <a:xfrm>
            <a:off x="548640" y="365760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How would you explain a fix to a non-technical user?</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Change, Maintain and Support Software</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https://lana6478.github.io/T-level-Digital-Software-Development/#/02-occupational-specialism/08-change-maintain-support.md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 Maintain and Support Software</dc:title>
  <dc:subject>Digital Software Development T Level: Specialism Content Area 8</dc:subject>
  <dc:creator>Samuel O'Connell</dc:creator>
  <cp:keywords>T Level; Digital Software Development; lesson slides; 8.1 to 8.4</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