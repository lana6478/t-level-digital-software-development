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class reusing a parent class's code.</a:t>
            </a:r>
          </a:p>
          <a:p>
            <a:r>
              <a:t>2. Keeping an object's data private inside it.</a:t>
            </a:r>
          </a:p>
          <a:p>
            <a:r>
              <a:t>3. E-R models and UML.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The test.</a:t>
            </a:r>
          </a:p>
          <a:p>
            <a:r>
              <a:t>2. The feature doesn't exist yet.</a:t>
            </a:r>
          </a:p>
          <a:p>
            <a:r>
              <a:t>3. Tidying code without changing what it does.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Given... When... Then...</a:t>
            </a:r>
          </a:p>
          <a:p>
            <a:r>
              <a:t>2. A function that calls itself.</a:t>
            </a:r>
          </a:p>
          <a:p>
            <a:r>
              <a:t>3. A function that takes or returns another function.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33C17A"/>
                </a:solidFill>
                <a:latin typeface="Calibri"/>
              </a:rPr>
              <a:t>OCCUPATIONAL SPECIALISM</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Software Design Approaches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Specialism Content Area 4</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4.1</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Software Design Approaches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Describe function-oriented and object-oriented design.</a:t>
            </a:r>
          </a:p>
        </p:txBody>
      </p:sp>
      <p:sp>
        <p:nvSpPr>
          <p:cNvPr id="9" name="Oval 8"/>
          <p:cNvSpPr/>
          <p:nvPr/>
        </p:nvSpPr>
        <p:spPr>
          <a:xfrm>
            <a:off x="548640" y="327469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Describe data model design.</a:t>
            </a:r>
          </a:p>
        </p:txBody>
      </p:sp>
      <p:sp>
        <p:nvSpPr>
          <p:cNvPr id="11" name="Oval 10"/>
          <p:cNvSpPr/>
          <p:nvPr/>
        </p:nvSpPr>
        <p:spPr>
          <a:xfrm>
            <a:off x="548640" y="431482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Explain test-driven and behaviour-driven development.</a:t>
            </a:r>
          </a:p>
        </p:txBody>
      </p:sp>
      <p:sp>
        <p:nvSpPr>
          <p:cNvPr id="13" name="Oval 12"/>
          <p:cNvSpPr/>
          <p:nvPr/>
        </p:nvSpPr>
        <p:spPr>
          <a:xfrm>
            <a:off x="548640" y="5354954"/>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Describe functional design and choose an approach for a project.</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Would you design a banking system and a physics game the same way? What would differ?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Design approaches (1)</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Software Design Approaches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Function-oriented (top-down) design breaks a system into functions, using data flow diagrams to show how each changes the data: divide and conquer.</a:t>
            </a:r>
          </a:p>
          <a:p>
            <a:pPr>
              <a:spcAft>
                <a:spcPts val="1260"/>
              </a:spcAft>
            </a:pPr>
            <a:r>
              <a:rPr sz="2100" b="0">
                <a:solidFill>
                  <a:srgbClr val="202122"/>
                </a:solidFill>
                <a:latin typeface="Calibri"/>
              </a:rPr>
              <a:t>Object-oriented design builds programs from classes and objects. Encapsulation keeps an object's data private; abstraction hides complexity; inheritance lets classes reuse a parent's code; polymorphism lets different objects respond to the same method in their own way. Design patterns (creational, structural, behavioural) are proven solutions.</a:t>
            </a:r>
          </a:p>
          <a:p>
            <a:pPr>
              <a:spcAft>
                <a:spcPts val="1260"/>
              </a:spcAft>
            </a:pPr>
            <a:r>
              <a:rPr sz="2100" b="0">
                <a:solidFill>
                  <a:srgbClr val="202122"/>
                </a:solidFill>
                <a:latin typeface="Calibri"/>
              </a:rPr>
              <a:t>Data model design plans the data using conceptual, logical and physical models, E-R models and UML.</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game has a Character class. Wizard and Knight inherit from it; both have an attack() method but it works differently for each (polymorphism).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Design approaches (1)</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Software Design Approaches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600" b="1" i="0">
                <a:solidFill>
                  <a:srgbClr val="03306E"/>
                </a:solidFill>
                <a:latin typeface="Calibri"/>
              </a:rPr>
              <a:t>Function-oriented (top-down)</a:t>
            </a:r>
          </a:p>
        </p:txBody>
      </p:sp>
      <p:sp>
        <p:nvSpPr>
          <p:cNvPr id="9" name="TextBox 8"/>
          <p:cNvSpPr txBox="1"/>
          <p:nvPr/>
        </p:nvSpPr>
        <p:spPr>
          <a:xfrm>
            <a:off x="777240" y="2468880"/>
            <a:ext cx="3058058" cy="3566160"/>
          </a:xfrm>
          <a:prstGeom prst="rect">
            <a:avLst/>
          </a:prstGeom>
          <a:noFill/>
        </p:spPr>
        <p:txBody>
          <a:bodyPr wrap="square" anchor="t" lIns="0" rIns="0" tIns="0" bIns="0"/>
          <a:lstStyle/>
          <a:p>
            <a:pPr algn="l"/>
            <a:r>
              <a:rPr sz="2000" b="0" i="0">
                <a:solidFill>
                  <a:srgbClr val="202122"/>
                </a:solidFill>
                <a:latin typeface="Calibri"/>
              </a:rPr>
              <a:t>Break the system into functions; data flow diagrams show how data changes. Divide and conquer.</a:t>
            </a:r>
          </a:p>
        </p:txBody>
      </p:sp>
      <p:sp>
        <p:nvSpPr>
          <p:cNvPr id="10" name="Rounded Rectangle 9"/>
          <p:cNvSpPr/>
          <p:nvPr/>
        </p:nvSpPr>
        <p:spPr>
          <a:xfrm>
            <a:off x="4338218"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Object-oriented</a:t>
            </a:r>
          </a:p>
        </p:txBody>
      </p:sp>
      <p:sp>
        <p:nvSpPr>
          <p:cNvPr id="13" name="TextBox 12"/>
          <p:cNvSpPr txBox="1"/>
          <p:nvPr/>
        </p:nvSpPr>
        <p:spPr>
          <a:xfrm>
            <a:off x="4566818" y="2468880"/>
            <a:ext cx="3058058" cy="3566160"/>
          </a:xfrm>
          <a:prstGeom prst="rect">
            <a:avLst/>
          </a:prstGeom>
          <a:noFill/>
        </p:spPr>
        <p:txBody>
          <a:bodyPr wrap="square" anchor="t" lIns="0" rIns="0" tIns="0" bIns="0"/>
          <a:lstStyle/>
          <a:p>
            <a:pPr algn="l"/>
            <a:r>
              <a:rPr sz="2000" b="0" i="0">
                <a:solidFill>
                  <a:srgbClr val="202122"/>
                </a:solidFill>
                <a:latin typeface="Calibri"/>
              </a:rPr>
              <a:t>Classes, objects and methods. Encapsulation, abstraction, polymorphism, inheritance. Creational, structural and behavioural patterns.</a:t>
            </a:r>
          </a:p>
        </p:txBody>
      </p:sp>
      <p:sp>
        <p:nvSpPr>
          <p:cNvPr id="14" name="Rounded Rectangle 13"/>
          <p:cNvSpPr/>
          <p:nvPr/>
        </p:nvSpPr>
        <p:spPr>
          <a:xfrm>
            <a:off x="8127796"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Data model design</a:t>
            </a:r>
          </a:p>
        </p:txBody>
      </p:sp>
      <p:sp>
        <p:nvSpPr>
          <p:cNvPr id="17" name="TextBox 16"/>
          <p:cNvSpPr txBox="1"/>
          <p:nvPr/>
        </p:nvSpPr>
        <p:spPr>
          <a:xfrm>
            <a:off x="8356396" y="2468880"/>
            <a:ext cx="3058058" cy="3566160"/>
          </a:xfrm>
          <a:prstGeom prst="rect">
            <a:avLst/>
          </a:prstGeom>
          <a:noFill/>
        </p:spPr>
        <p:txBody>
          <a:bodyPr wrap="square" anchor="t" lIns="0" rIns="0" tIns="0" bIns="0"/>
          <a:lstStyle/>
          <a:p>
            <a:pPr algn="l"/>
            <a:r>
              <a:rPr sz="2000" b="0" i="0">
                <a:solidFill>
                  <a:srgbClr val="202122"/>
                </a:solidFill>
                <a:latin typeface="Calibri"/>
              </a:rPr>
              <a:t>Conceptual, logical, physical, hierarchical and relational models, using E-R models and UML.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Design approaches (1)</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Software Design Approaches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inheritance?</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encapsulation?</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Which tools support data model design?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Test-driven development (TDD)</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Software Design Approaches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In test-driven development, tests are written before the code.</a:t>
            </a:r>
          </a:p>
          <a:p>
            <a:pPr>
              <a:spcAft>
                <a:spcPts val="1320"/>
              </a:spcAft>
            </a:pPr>
            <a:r>
              <a:rPr sz="2200" b="0">
                <a:solidFill>
                  <a:srgbClr val="202122"/>
                </a:solidFill>
                <a:latin typeface="Calibri"/>
              </a:rPr>
              <a:t>Add a test describing what a new feature should do. Run all the tests: the new one fails, because the feature doesn't exist yet. Write just enough code to make it pass. Run the tests again and refactor (tidy the code) while keeping them passing. Repeat for the next feature.</a:t>
            </a:r>
          </a:p>
          <a:p>
            <a:pPr>
              <a:spcAft>
                <a:spcPts val="1320"/>
              </a:spcAft>
            </a:pPr>
            <a:r>
              <a:rPr sz="2200" b="0">
                <a:solidFill>
                  <a:srgbClr val="202122"/>
                </a:solidFill>
                <a:latin typeface="Calibri"/>
              </a:rPr>
              <a:t>This keeps code focused on requirements, catches regressions immediately, and leaves a full set of automated tests behind.</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Test: grade(85) should return 'A'. It fails. Write the grade function. It passes. Add the next test: grade(40) returns 'U'.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Test-driven development (TDD)</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Software Design Approaches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ectangle 5"/>
          <p:cNvSpPr/>
          <p:nvPr/>
        </p:nvSpPr>
        <p:spPr>
          <a:xfrm>
            <a:off x="1603217" y="2793492"/>
            <a:ext cx="8985260"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283177" y="249174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268979"/>
            <a:ext cx="2109155" cy="731520"/>
          </a:xfrm>
          <a:prstGeom prst="rect">
            <a:avLst/>
          </a:prstGeom>
          <a:noFill/>
        </p:spPr>
        <p:txBody>
          <a:bodyPr wrap="square" anchor="t" lIns="0" rIns="0" tIns="0" bIns="0"/>
          <a:lstStyle/>
          <a:p>
            <a:pPr algn="ctr"/>
            <a:r>
              <a:rPr sz="1700" b="1" i="0">
                <a:solidFill>
                  <a:srgbClr val="03306E"/>
                </a:solidFill>
                <a:latin typeface="Calibri"/>
              </a:rPr>
              <a:t>Add a test</a:t>
            </a:r>
          </a:p>
        </p:txBody>
      </p:sp>
      <p:sp>
        <p:nvSpPr>
          <p:cNvPr id="9" name="Rounded Rectangle 8"/>
          <p:cNvSpPr/>
          <p:nvPr/>
        </p:nvSpPr>
        <p:spPr>
          <a:xfrm>
            <a:off x="548640" y="4046220"/>
            <a:ext cx="2109155"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183380"/>
            <a:ext cx="1834835" cy="960119"/>
          </a:xfrm>
          <a:prstGeom prst="rect">
            <a:avLst/>
          </a:prstGeom>
          <a:noFill/>
        </p:spPr>
        <p:txBody>
          <a:bodyPr wrap="square" anchor="t" lIns="0" rIns="0" tIns="0" bIns="0"/>
          <a:lstStyle/>
          <a:p>
            <a:pPr algn="l"/>
            <a:r>
              <a:rPr sz="1800" b="0" i="0">
                <a:solidFill>
                  <a:srgbClr val="202122"/>
                </a:solidFill>
                <a:latin typeface="Calibri"/>
              </a:rPr>
              <a:t>Define what the feature should do.</a:t>
            </a:r>
          </a:p>
        </p:txBody>
      </p:sp>
      <p:sp>
        <p:nvSpPr>
          <p:cNvPr id="11" name="Oval 10"/>
          <p:cNvSpPr/>
          <p:nvPr/>
        </p:nvSpPr>
        <p:spPr>
          <a:xfrm>
            <a:off x="3529492" y="249174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794955" y="3268979"/>
            <a:ext cx="2109155" cy="731520"/>
          </a:xfrm>
          <a:prstGeom prst="rect">
            <a:avLst/>
          </a:prstGeom>
          <a:noFill/>
        </p:spPr>
        <p:txBody>
          <a:bodyPr wrap="square" anchor="t" lIns="0" rIns="0" tIns="0" bIns="0"/>
          <a:lstStyle/>
          <a:p>
            <a:pPr algn="ctr"/>
            <a:r>
              <a:rPr sz="1700" b="1" i="0">
                <a:solidFill>
                  <a:srgbClr val="03306E"/>
                </a:solidFill>
                <a:latin typeface="Calibri"/>
              </a:rPr>
              <a:t>Run tests</a:t>
            </a:r>
          </a:p>
        </p:txBody>
      </p:sp>
      <p:sp>
        <p:nvSpPr>
          <p:cNvPr id="13" name="Rounded Rectangle 12"/>
          <p:cNvSpPr/>
          <p:nvPr/>
        </p:nvSpPr>
        <p:spPr>
          <a:xfrm>
            <a:off x="2794955" y="4046220"/>
            <a:ext cx="2109155"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32115" y="4183380"/>
            <a:ext cx="1834835" cy="960119"/>
          </a:xfrm>
          <a:prstGeom prst="rect">
            <a:avLst/>
          </a:prstGeom>
          <a:noFill/>
        </p:spPr>
        <p:txBody>
          <a:bodyPr wrap="square" anchor="t" lIns="0" rIns="0" tIns="0" bIns="0"/>
          <a:lstStyle/>
          <a:p>
            <a:pPr algn="l"/>
            <a:r>
              <a:rPr sz="1800" b="0" i="0">
                <a:solidFill>
                  <a:srgbClr val="202122"/>
                </a:solidFill>
                <a:latin typeface="Calibri"/>
              </a:rPr>
              <a:t>The new test fails.</a:t>
            </a:r>
          </a:p>
        </p:txBody>
      </p:sp>
      <p:sp>
        <p:nvSpPr>
          <p:cNvPr id="15" name="Oval 14"/>
          <p:cNvSpPr/>
          <p:nvPr/>
        </p:nvSpPr>
        <p:spPr>
          <a:xfrm>
            <a:off x="5775807" y="249174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5041270" y="3268979"/>
            <a:ext cx="2109155" cy="731520"/>
          </a:xfrm>
          <a:prstGeom prst="rect">
            <a:avLst/>
          </a:prstGeom>
          <a:noFill/>
        </p:spPr>
        <p:txBody>
          <a:bodyPr wrap="square" anchor="t" lIns="0" rIns="0" tIns="0" bIns="0"/>
          <a:lstStyle/>
          <a:p>
            <a:pPr algn="ctr"/>
            <a:r>
              <a:rPr sz="1700" b="1" i="0">
                <a:solidFill>
                  <a:srgbClr val="03306E"/>
                </a:solidFill>
                <a:latin typeface="Calibri"/>
              </a:rPr>
              <a:t>Write code</a:t>
            </a:r>
          </a:p>
        </p:txBody>
      </p:sp>
      <p:sp>
        <p:nvSpPr>
          <p:cNvPr id="17" name="Rounded Rectangle 16"/>
          <p:cNvSpPr/>
          <p:nvPr/>
        </p:nvSpPr>
        <p:spPr>
          <a:xfrm>
            <a:off x="5041270" y="4046220"/>
            <a:ext cx="2109155"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78430" y="4183380"/>
            <a:ext cx="1834835" cy="960119"/>
          </a:xfrm>
          <a:prstGeom prst="rect">
            <a:avLst/>
          </a:prstGeom>
          <a:noFill/>
        </p:spPr>
        <p:txBody>
          <a:bodyPr wrap="square" anchor="t" lIns="0" rIns="0" tIns="0" bIns="0"/>
          <a:lstStyle/>
          <a:p>
            <a:pPr algn="l"/>
            <a:r>
              <a:rPr sz="1800" b="0" i="0">
                <a:solidFill>
                  <a:srgbClr val="202122"/>
                </a:solidFill>
                <a:latin typeface="Calibri"/>
              </a:rPr>
              <a:t>Just enough to pass.</a:t>
            </a:r>
          </a:p>
        </p:txBody>
      </p:sp>
      <p:sp>
        <p:nvSpPr>
          <p:cNvPr id="19" name="Oval 18"/>
          <p:cNvSpPr/>
          <p:nvPr/>
        </p:nvSpPr>
        <p:spPr>
          <a:xfrm>
            <a:off x="8022122" y="249174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7287585" y="3268979"/>
            <a:ext cx="2109155" cy="731520"/>
          </a:xfrm>
          <a:prstGeom prst="rect">
            <a:avLst/>
          </a:prstGeom>
          <a:noFill/>
        </p:spPr>
        <p:txBody>
          <a:bodyPr wrap="square" anchor="t" lIns="0" rIns="0" tIns="0" bIns="0"/>
          <a:lstStyle/>
          <a:p>
            <a:pPr algn="ctr"/>
            <a:r>
              <a:rPr sz="1700" b="1" i="0">
                <a:solidFill>
                  <a:srgbClr val="03306E"/>
                </a:solidFill>
                <a:latin typeface="Calibri"/>
              </a:rPr>
              <a:t>Refactor</a:t>
            </a:r>
          </a:p>
        </p:txBody>
      </p:sp>
      <p:sp>
        <p:nvSpPr>
          <p:cNvPr id="21" name="Rounded Rectangle 20"/>
          <p:cNvSpPr/>
          <p:nvPr/>
        </p:nvSpPr>
        <p:spPr>
          <a:xfrm>
            <a:off x="7287585" y="4046220"/>
            <a:ext cx="2109155"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424745" y="4183380"/>
            <a:ext cx="1834835" cy="960119"/>
          </a:xfrm>
          <a:prstGeom prst="rect">
            <a:avLst/>
          </a:prstGeom>
          <a:noFill/>
        </p:spPr>
        <p:txBody>
          <a:bodyPr wrap="square" anchor="t" lIns="0" rIns="0" tIns="0" bIns="0"/>
          <a:lstStyle/>
          <a:p>
            <a:pPr algn="l"/>
            <a:r>
              <a:rPr sz="1800" b="0" i="0">
                <a:solidFill>
                  <a:srgbClr val="202122"/>
                </a:solidFill>
                <a:latin typeface="Calibri"/>
              </a:rPr>
              <a:t>Run tests and tidy the code.</a:t>
            </a:r>
          </a:p>
        </p:txBody>
      </p:sp>
      <p:sp>
        <p:nvSpPr>
          <p:cNvPr id="23" name="Oval 22"/>
          <p:cNvSpPr/>
          <p:nvPr/>
        </p:nvSpPr>
        <p:spPr>
          <a:xfrm>
            <a:off x="10268437" y="249174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9533900" y="3268979"/>
            <a:ext cx="2109155" cy="731520"/>
          </a:xfrm>
          <a:prstGeom prst="rect">
            <a:avLst/>
          </a:prstGeom>
          <a:noFill/>
        </p:spPr>
        <p:txBody>
          <a:bodyPr wrap="square" anchor="t" lIns="0" rIns="0" tIns="0" bIns="0"/>
          <a:lstStyle/>
          <a:p>
            <a:pPr algn="ctr"/>
            <a:r>
              <a:rPr sz="1700" b="1" i="0">
                <a:solidFill>
                  <a:srgbClr val="03306E"/>
                </a:solidFill>
                <a:latin typeface="Calibri"/>
              </a:rPr>
              <a:t>Repeat</a:t>
            </a:r>
          </a:p>
        </p:txBody>
      </p:sp>
      <p:sp>
        <p:nvSpPr>
          <p:cNvPr id="25" name="Rounded Rectangle 24"/>
          <p:cNvSpPr/>
          <p:nvPr/>
        </p:nvSpPr>
        <p:spPr>
          <a:xfrm>
            <a:off x="9533900" y="4046220"/>
            <a:ext cx="2109155"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71060" y="4183380"/>
            <a:ext cx="1834835" cy="960119"/>
          </a:xfrm>
          <a:prstGeom prst="rect">
            <a:avLst/>
          </a:prstGeom>
          <a:noFill/>
        </p:spPr>
        <p:txBody>
          <a:bodyPr wrap="square" anchor="t" lIns="0" rIns="0" tIns="0" bIns="0"/>
          <a:lstStyle/>
          <a:p>
            <a:pPr algn="l"/>
            <a:r>
              <a:rPr sz="1800" b="0" i="0">
                <a:solidFill>
                  <a:srgbClr val="202122"/>
                </a:solidFill>
                <a:latin typeface="Calibri"/>
              </a:rPr>
              <a:t>Next feature.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Test-driven development (TDD)</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Software Design Approaches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In TDD, what is written first?</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should a new test fail at first?</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refactoring?</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BDD and functional design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Software Design Approaches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Behaviour-driven development (BDD) describes the required behaviour before coding. Each behaviour must have business value and map to a requirement, and is written with a title, a narrative and acceptance criteria, often as 'Given... When... Then...'.</a:t>
            </a:r>
          </a:p>
          <a:p>
            <a:pPr>
              <a:spcAft>
                <a:spcPts val="1320"/>
              </a:spcAft>
            </a:pPr>
            <a:r>
              <a:rPr sz="2200" b="0">
                <a:solidFill>
                  <a:srgbClr val="202122"/>
                </a:solidFill>
                <a:latin typeface="Calibri"/>
              </a:rPr>
              <a:t>Functional design structures a program as modules that each perform one function. It uses features such as recursion (a function calling itself), closures, first-class and higher-order functions (functions passed as values), anonymous functions (lambdas) and currying.</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BDD: Given a user has items in their basket, When they click Checkout, Then they see the payment page.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BDD and functional design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Software Design Approaches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Behaviour-driven development</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Required behaviour specified before coding</a:t>
            </a:r>
          </a:p>
          <a:p>
            <a:pPr marL="274320" indent="-274320">
              <a:spcAft>
                <a:spcPts val="990"/>
              </a:spcAft>
              <a:buClr>
                <a:srgbClr val="0645AD"/>
              </a:buClr>
              <a:buFont typeface="Arial"/>
              <a:buChar char="•"/>
            </a:pPr>
            <a:r>
              <a:rPr sz="2200" b="0">
                <a:solidFill>
                  <a:srgbClr val="202122"/>
                </a:solidFill>
                <a:latin typeface="Calibri"/>
              </a:rPr>
              <a:t>Behaviours must have business value</a:t>
            </a:r>
          </a:p>
          <a:p>
            <a:pPr marL="274320" indent="-274320">
              <a:spcAft>
                <a:spcPts val="990"/>
              </a:spcAft>
              <a:buClr>
                <a:srgbClr val="0645AD"/>
              </a:buClr>
              <a:buFont typeface="Arial"/>
              <a:buChar char="•"/>
            </a:pPr>
            <a:r>
              <a:rPr sz="2200" b="0">
                <a:solidFill>
                  <a:srgbClr val="202122"/>
                </a:solidFill>
                <a:latin typeface="Calibri"/>
              </a:rPr>
              <a:t>Title, narrative, acceptance criteria</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Functional design</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Modules each perform one function</a:t>
            </a:r>
          </a:p>
          <a:p>
            <a:pPr marL="274320" indent="-274320">
              <a:spcAft>
                <a:spcPts val="990"/>
              </a:spcAft>
              <a:buClr>
                <a:srgbClr val="0645AD"/>
              </a:buClr>
              <a:buFont typeface="Arial"/>
              <a:buChar char="•"/>
            </a:pPr>
            <a:r>
              <a:rPr sz="2200" b="0">
                <a:solidFill>
                  <a:srgbClr val="202122"/>
                </a:solidFill>
                <a:latin typeface="Calibri"/>
              </a:rPr>
              <a:t>Recursion and closures</a:t>
            </a:r>
          </a:p>
          <a:p>
            <a:pPr marL="274320" indent="-274320">
              <a:spcAft>
                <a:spcPts val="990"/>
              </a:spcAft>
              <a:buClr>
                <a:srgbClr val="0645AD"/>
              </a:buClr>
              <a:buFont typeface="Arial"/>
              <a:buChar char="•"/>
            </a:pPr>
            <a:r>
              <a:rPr sz="2200" b="0">
                <a:solidFill>
                  <a:srgbClr val="202122"/>
                </a:solidFill>
                <a:latin typeface="Calibri"/>
              </a:rPr>
              <a:t>First-class, higher-order and anonymous functions</a:t>
            </a:r>
          </a:p>
          <a:p>
            <a:pPr marL="274320" indent="-274320">
              <a:spcAft>
                <a:spcPts val="990"/>
              </a:spcAft>
              <a:buClr>
                <a:srgbClr val="0645AD"/>
              </a:buClr>
              <a:buFont typeface="Arial"/>
              <a:buChar char="•"/>
            </a:pPr>
            <a:r>
              <a:rPr sz="2200" b="0">
                <a:solidFill>
                  <a:srgbClr val="202122"/>
                </a:solidFill>
                <a:latin typeface="Calibri"/>
              </a:rPr>
              <a:t>Currying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BDD and functional design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Software Design Approaches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format do BDD scenarios often use?</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recursion?</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a higher-order function?</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Software Design Approaches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18488"/>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What are the four characteristics of OOP?</a:t>
            </a:r>
          </a:p>
        </p:txBody>
      </p:sp>
      <p:sp>
        <p:nvSpPr>
          <p:cNvPr id="8" name="Oval 7"/>
          <p:cNvSpPr/>
          <p:nvPr/>
        </p:nvSpPr>
        <p:spPr>
          <a:xfrm>
            <a:off x="548640" y="2814066"/>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In TDD, what comes first: the test or the code?</a:t>
            </a:r>
          </a:p>
        </p:txBody>
      </p:sp>
      <p:sp>
        <p:nvSpPr>
          <p:cNvPr id="10" name="Oval 9"/>
          <p:cNvSpPr/>
          <p:nvPr/>
        </p:nvSpPr>
        <p:spPr>
          <a:xfrm>
            <a:off x="548640" y="4009644"/>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What is a higher-order function?</a:t>
            </a:r>
          </a:p>
        </p:txBody>
      </p:sp>
      <p:sp>
        <p:nvSpPr>
          <p:cNvPr id="12" name="Oval 11"/>
          <p:cNvSpPr/>
          <p:nvPr/>
        </p:nvSpPr>
        <p:spPr>
          <a:xfrm>
            <a:off x="548640" y="5205221"/>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Which tools support data model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Software Design Approaches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What are the four characteristics of OOP?</a:t>
            </a:r>
          </a:p>
          <a:p>
            <a:r>
              <a:rPr sz="1800" b="1">
                <a:solidFill>
                  <a:srgbClr val="03306E"/>
                </a:solidFill>
                <a:latin typeface="Calibri"/>
              </a:rPr>
              <a:t>Encapsulation, data abstraction, polymorphism, inheritance.</a:t>
            </a:r>
          </a:p>
        </p:txBody>
      </p:sp>
      <p:sp>
        <p:nvSpPr>
          <p:cNvPr id="8" name="Oval 7"/>
          <p:cNvSpPr/>
          <p:nvPr/>
        </p:nvSpPr>
        <p:spPr>
          <a:xfrm>
            <a:off x="548640" y="2814066"/>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In TDD, what comes first: the test or the code?</a:t>
            </a:r>
          </a:p>
          <a:p>
            <a:r>
              <a:rPr sz="1800" b="1">
                <a:solidFill>
                  <a:srgbClr val="03306E"/>
                </a:solidFill>
                <a:latin typeface="Calibri"/>
              </a:rPr>
              <a:t>The test.</a:t>
            </a:r>
          </a:p>
        </p:txBody>
      </p:sp>
      <p:sp>
        <p:nvSpPr>
          <p:cNvPr id="10" name="Oval 9"/>
          <p:cNvSpPr/>
          <p:nvPr/>
        </p:nvSpPr>
        <p:spPr>
          <a:xfrm>
            <a:off x="548640" y="4009644"/>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What is a higher-order function?</a:t>
            </a:r>
          </a:p>
          <a:p>
            <a:r>
              <a:rPr sz="1800" b="1">
                <a:solidFill>
                  <a:srgbClr val="03306E"/>
                </a:solidFill>
                <a:latin typeface="Calibri"/>
              </a:rPr>
              <a:t>A function that takes or returns another function.</a:t>
            </a:r>
          </a:p>
        </p:txBody>
      </p:sp>
      <p:sp>
        <p:nvSpPr>
          <p:cNvPr id="12" name="Oval 11"/>
          <p:cNvSpPr/>
          <p:nvPr/>
        </p:nvSpPr>
        <p:spPr>
          <a:xfrm>
            <a:off x="548640" y="5205221"/>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Which tools support data model design?</a:t>
            </a:r>
          </a:p>
          <a:p>
            <a:r>
              <a:rPr sz="1800" b="1">
                <a:solidFill>
                  <a:srgbClr val="03306E"/>
                </a:solidFill>
                <a:latin typeface="Calibri"/>
              </a:rPr>
              <a:t>E-R models and UML.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TDD kata</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Software Design Approaches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Rounded Rectangle 5"/>
          <p:cNvSpPr/>
          <p:nvPr/>
        </p:nvSpPr>
        <p:spPr>
          <a:xfrm>
            <a:off x="548640" y="1508760"/>
            <a:ext cx="2011680" cy="457200"/>
          </a:xfrm>
          <a:prstGeom prst="roundRect">
            <a:avLst>
              <a:gd name="adj" fmla="val 50000"/>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30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 in Python</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Build a function that grades a mark: A, B, C or U.</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Write one failing test first.</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Write just enough code to pass it.</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Repeat until every boundary is tested, then refactor.</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Tests written before code</a:t>
            </a:r>
          </a:p>
          <a:p>
            <a:pPr marL="274320" indent="-274320">
              <a:spcAft>
                <a:spcPts val="810"/>
              </a:spcAft>
              <a:buClr>
                <a:srgbClr val="0645AD"/>
              </a:buClr>
              <a:buFont typeface="Arial"/>
              <a:buChar char="•"/>
            </a:pPr>
            <a:r>
              <a:rPr sz="1800" b="0">
                <a:solidFill>
                  <a:srgbClr val="202122"/>
                </a:solidFill>
                <a:latin typeface="Calibri"/>
              </a:rPr>
              <a:t>Boundaries tested</a:t>
            </a:r>
          </a:p>
          <a:p>
            <a:pPr marL="274320" indent="-274320">
              <a:spcAft>
                <a:spcPts val="810"/>
              </a:spcAft>
              <a:buClr>
                <a:srgbClr val="0645AD"/>
              </a:buClr>
              <a:buFont typeface="Arial"/>
              <a:buChar char="•"/>
            </a:pPr>
            <a:r>
              <a:rPr sz="1800" b="0">
                <a:solidFill>
                  <a:srgbClr val="202122"/>
                </a:solidFill>
                <a:latin typeface="Calibri"/>
              </a:rPr>
              <a:t>Code refactored with tests still passing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Which design approach suits a game with many similar characters?</a:t>
            </a:r>
          </a:p>
        </p:txBody>
      </p:sp>
      <p:sp>
        <p:nvSpPr>
          <p:cNvPr id="6" name="Oval 5"/>
          <p:cNvSpPr/>
          <p:nvPr/>
        </p:nvSpPr>
        <p:spPr>
          <a:xfrm>
            <a:off x="548640" y="26974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Why does TDD reduce bugs?</a:t>
            </a:r>
          </a:p>
        </p:txBody>
      </p:sp>
      <p:sp>
        <p:nvSpPr>
          <p:cNvPr id="8" name="Oval 7"/>
          <p:cNvSpPr/>
          <p:nvPr/>
        </p:nvSpPr>
        <p:spPr>
          <a:xfrm>
            <a:off x="548640" y="365760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What is inheritance?</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Design</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https://lana6478.github.io/T-level-Digital-Software-Development/#/02-occupational-specialism/04-design.md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Design Approaches</dc:title>
  <dc:subject>Digital Software Development T Level: Specialism Content Area 4</dc:subject>
  <dc:creator>Samuel O'Connell</dc:creator>
  <cp:keywords>T Level; Digital Software Development; lesson slides; 4.1</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