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One function or module on its own.</a:t>
            </a:r>
          </a:p>
          <a:p>
            <a:r>
              <a:t>2. To check old features still work.</a:t>
            </a:r>
          </a:p>
          <a:p>
            <a:r>
              <a:t>3. Closed uses only inputs and outputs; open uses knowledge of the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Bugs often hide at the edges.</a:t>
            </a:r>
          </a:p>
          <a:p>
            <a:r>
              <a:t>2. Any non-number, e.g. 'fifty'.</a:t>
            </a:r>
          </a:p>
          <a:p>
            <a:r>
              <a:t>3. It should be rejected with a helpful message.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So the actual result can be judged fairly.</a:t>
            </a:r>
          </a:p>
          <a:p>
            <a:r>
              <a:t>2. Fix the bug and retest.</a:t>
            </a:r>
          </a:p>
          <a:p>
            <a:r>
              <a:t>3. With scripts, macros or testing tools.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Testing</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why components are tested before integration.</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Compare testing methods and when each is used.</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Create valid, invalid, boundary and erroneous test data.</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Write a structured test plan.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game releases with a bug that deletes save files. At what point should that bug have been caught?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Testing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Test components separately before combining them, because a bug is far easier to find in a small piece.</a:t>
            </a:r>
          </a:p>
          <a:p>
            <a:pPr>
              <a:spcAft>
                <a:spcPts val="1200"/>
              </a:spcAft>
            </a:pPr>
            <a:r>
              <a:rPr sz="2000" b="0">
                <a:solidFill>
                  <a:srgbClr val="202122"/>
                </a:solidFill>
                <a:latin typeface="Calibri"/>
              </a:rPr>
              <a:t>Unit testing checks one function or module; integration testing checks modules working together; system testing checks the whole program; acceptance testing checks it meets the user's requirements.</a:t>
            </a:r>
          </a:p>
          <a:p>
            <a:pPr>
              <a:spcAft>
                <a:spcPts val="1200"/>
              </a:spcAft>
            </a:pPr>
            <a:r>
              <a:rPr sz="2000" b="0">
                <a:solidFill>
                  <a:srgbClr val="202122"/>
                </a:solidFill>
                <a:latin typeface="Calibri"/>
              </a:rPr>
              <a:t>Boundary testing uses edge values. Performance, load and stress testing check speed under normal, heavy and extreme use. Usability testing checks it's easy to use. Regression testing checks a change hasn't broken old features. Closed box testing uses only inputs and outputs; open box uses knowledge of the code.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shop's checkout: unit test the total function, integration test basket plus payment, load test 1,000 shoppers, then regression test after every change.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Testing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169832"/>
                <a:gridCol w="7924582"/>
              </a:tblGrid>
              <a:tr h="565785">
                <a:tc>
                  <a:txBody>
                    <a:bodyPr wrap="square"/>
                    <a:lstStyle/>
                    <a:p>
                      <a:r>
                        <a:rPr sz="1600" b="1">
                          <a:solidFill>
                            <a:srgbClr val="FFFFFF"/>
                          </a:solidFill>
                          <a:latin typeface="Calibri"/>
                        </a:rPr>
                        <a:t>Method</a:t>
                      </a:r>
                    </a:p>
                  </a:txBody>
                  <a:tcPr marL="91440" marR="91440" anchor="ctr">
                    <a:solidFill>
                      <a:srgbClr val="03306E"/>
                    </a:solidFill>
                  </a:tcPr>
                </a:tc>
                <a:tc>
                  <a:txBody>
                    <a:bodyPr wrap="square"/>
                    <a:lstStyle/>
                    <a:p>
                      <a:r>
                        <a:rPr sz="1600" b="1">
                          <a:solidFill>
                            <a:srgbClr val="FFFFFF"/>
                          </a:solidFill>
                          <a:latin typeface="Calibri"/>
                        </a:rPr>
                        <a:t>What it checks</a:t>
                      </a:r>
                    </a:p>
                  </a:txBody>
                  <a:tcPr marL="91440" marR="91440" anchor="ctr">
                    <a:solidFill>
                      <a:srgbClr val="03306E"/>
                    </a:solidFill>
                  </a:tcPr>
                </a:tc>
              </a:tr>
              <a:tr h="565785">
                <a:tc>
                  <a:txBody>
                    <a:bodyPr wrap="square"/>
                    <a:lstStyle/>
                    <a:p>
                      <a:r>
                        <a:rPr sz="1600" b="1">
                          <a:solidFill>
                            <a:srgbClr val="03306E"/>
                          </a:solidFill>
                          <a:latin typeface="Calibri"/>
                        </a:rPr>
                        <a:t>Concept</a:t>
                      </a:r>
                    </a:p>
                  </a:txBody>
                  <a:tcPr marL="91440" marR="91440" anchor="ctr">
                    <a:solidFill>
                      <a:srgbClr val="FFFFFF"/>
                    </a:solidFill>
                  </a:tcPr>
                </a:tc>
                <a:tc>
                  <a:txBody>
                    <a:bodyPr wrap="square"/>
                    <a:lstStyle/>
                    <a:p>
                      <a:r>
                        <a:rPr sz="1600" b="0">
                          <a:solidFill>
                            <a:srgbClr val="202122"/>
                          </a:solidFill>
                          <a:latin typeface="Calibri"/>
                        </a:rPr>
                        <a:t>Whether an idea is worth building</a:t>
                      </a:r>
                    </a:p>
                  </a:txBody>
                  <a:tcPr marL="91440" marR="91440" anchor="ctr">
                    <a:solidFill>
                      <a:srgbClr val="FFFFFF"/>
                    </a:solidFill>
                  </a:tcPr>
                </a:tc>
              </a:tr>
              <a:tr h="565785">
                <a:tc>
                  <a:txBody>
                    <a:bodyPr wrap="square"/>
                    <a:lstStyle/>
                    <a:p>
                      <a:r>
                        <a:rPr sz="1600" b="1">
                          <a:solidFill>
                            <a:srgbClr val="03306E"/>
                          </a:solidFill>
                          <a:latin typeface="Calibri"/>
                        </a:rPr>
                        <a:t>Unit / integration</a:t>
                      </a:r>
                    </a:p>
                  </a:txBody>
                  <a:tcPr marL="91440" marR="91440" anchor="ctr">
                    <a:solidFill>
                      <a:srgbClr val="EAF3FF"/>
                    </a:solidFill>
                  </a:tcPr>
                </a:tc>
                <a:tc>
                  <a:txBody>
                    <a:bodyPr wrap="square"/>
                    <a:lstStyle/>
                    <a:p>
                      <a:r>
                        <a:rPr sz="1600" b="0">
                          <a:solidFill>
                            <a:srgbClr val="202122"/>
                          </a:solidFill>
                          <a:latin typeface="Calibri"/>
                        </a:rPr>
                        <a:t>One component alone, then components working together</a:t>
                      </a:r>
                    </a:p>
                  </a:txBody>
                  <a:tcPr marL="91440" marR="91440" anchor="ctr">
                    <a:solidFill>
                      <a:srgbClr val="EAF3FF"/>
                    </a:solidFill>
                  </a:tcPr>
                </a:tc>
              </a:tr>
              <a:tr h="565785">
                <a:tc>
                  <a:txBody>
                    <a:bodyPr wrap="square"/>
                    <a:lstStyle/>
                    <a:p>
                      <a:r>
                        <a:rPr sz="1600" b="1">
                          <a:solidFill>
                            <a:srgbClr val="03306E"/>
                          </a:solidFill>
                          <a:latin typeface="Calibri"/>
                        </a:rPr>
                        <a:t>System / acceptance</a:t>
                      </a:r>
                    </a:p>
                  </a:txBody>
                  <a:tcPr marL="91440" marR="91440" anchor="ctr">
                    <a:solidFill>
                      <a:srgbClr val="FFFFFF"/>
                    </a:solidFill>
                  </a:tcPr>
                </a:tc>
                <a:tc>
                  <a:txBody>
                    <a:bodyPr wrap="square"/>
                    <a:lstStyle/>
                    <a:p>
                      <a:r>
                        <a:rPr sz="1600" b="0">
                          <a:solidFill>
                            <a:srgbClr val="202122"/>
                          </a:solidFill>
                          <a:latin typeface="Calibri"/>
                        </a:rPr>
                        <a:t>The whole system, then whether it meets the user's needs</a:t>
                      </a:r>
                    </a:p>
                  </a:txBody>
                  <a:tcPr marL="91440" marR="91440" anchor="ctr">
                    <a:solidFill>
                      <a:srgbClr val="FFFFFF"/>
                    </a:solidFill>
                  </a:tcPr>
                </a:tc>
              </a:tr>
              <a:tr h="565785">
                <a:tc>
                  <a:txBody>
                    <a:bodyPr wrap="square"/>
                    <a:lstStyle/>
                    <a:p>
                      <a:r>
                        <a:rPr sz="1600" b="1">
                          <a:solidFill>
                            <a:srgbClr val="03306E"/>
                          </a:solidFill>
                          <a:latin typeface="Calibri"/>
                        </a:rPr>
                        <a:t>Boundary</a:t>
                      </a:r>
                    </a:p>
                  </a:txBody>
                  <a:tcPr marL="91440" marR="91440" anchor="ctr">
                    <a:solidFill>
                      <a:srgbClr val="EAF3FF"/>
                    </a:solidFill>
                  </a:tcPr>
                </a:tc>
                <a:tc>
                  <a:txBody>
                    <a:bodyPr wrap="square"/>
                    <a:lstStyle/>
                    <a:p>
                      <a:r>
                        <a:rPr sz="1600" b="0">
                          <a:solidFill>
                            <a:srgbClr val="202122"/>
                          </a:solidFill>
                          <a:latin typeface="Calibri"/>
                        </a:rPr>
                        <a:t>Values at the edges of what is allowed</a:t>
                      </a:r>
                    </a:p>
                  </a:txBody>
                  <a:tcPr marL="91440" marR="91440" anchor="ctr">
                    <a:solidFill>
                      <a:srgbClr val="EAF3FF"/>
                    </a:solidFill>
                  </a:tcPr>
                </a:tc>
              </a:tr>
              <a:tr h="565785">
                <a:tc>
                  <a:txBody>
                    <a:bodyPr wrap="square"/>
                    <a:lstStyle/>
                    <a:p>
                      <a:r>
                        <a:rPr sz="1600" b="1">
                          <a:solidFill>
                            <a:srgbClr val="03306E"/>
                          </a:solidFill>
                          <a:latin typeface="Calibri"/>
                        </a:rPr>
                        <a:t>Performance / load / stress</a:t>
                      </a:r>
                    </a:p>
                  </a:txBody>
                  <a:tcPr marL="91440" marR="91440" anchor="ctr">
                    <a:solidFill>
                      <a:srgbClr val="FFFFFF"/>
                    </a:solidFill>
                  </a:tcPr>
                </a:tc>
                <a:tc>
                  <a:txBody>
                    <a:bodyPr wrap="square"/>
                    <a:lstStyle/>
                    <a:p>
                      <a:r>
                        <a:rPr sz="1600" b="0">
                          <a:solidFill>
                            <a:srgbClr val="202122"/>
                          </a:solidFill>
                          <a:latin typeface="Calibri"/>
                        </a:rPr>
                        <a:t>Speed under normal load, heavy load and beyond its limits</a:t>
                      </a:r>
                    </a:p>
                  </a:txBody>
                  <a:tcPr marL="91440" marR="91440" anchor="ctr">
                    <a:solidFill>
                      <a:srgbClr val="FFFFFF"/>
                    </a:solidFill>
                  </a:tcPr>
                </a:tc>
              </a:tr>
              <a:tr h="565785">
                <a:tc>
                  <a:txBody>
                    <a:bodyPr wrap="square"/>
                    <a:lstStyle/>
                    <a:p>
                      <a:r>
                        <a:rPr sz="1600" b="1">
                          <a:solidFill>
                            <a:srgbClr val="03306E"/>
                          </a:solidFill>
                          <a:latin typeface="Calibri"/>
                        </a:rPr>
                        <a:t>Usability / regression</a:t>
                      </a:r>
                    </a:p>
                  </a:txBody>
                  <a:tcPr marL="91440" marR="91440" anchor="ctr">
                    <a:solidFill>
                      <a:srgbClr val="EAF3FF"/>
                    </a:solidFill>
                  </a:tcPr>
                </a:tc>
                <a:tc>
                  <a:txBody>
                    <a:bodyPr wrap="square"/>
                    <a:lstStyle/>
                    <a:p>
                      <a:r>
                        <a:rPr sz="1600" b="0">
                          <a:solidFill>
                            <a:srgbClr val="202122"/>
                          </a:solidFill>
                          <a:latin typeface="Calibri"/>
                        </a:rPr>
                        <a:t>How easy it is to use; that changes have not broken old features</a:t>
                      </a:r>
                    </a:p>
                  </a:txBody>
                  <a:tcPr marL="91440" marR="91440" anchor="ctr">
                    <a:solidFill>
                      <a:srgbClr val="EAF3FF"/>
                    </a:solidFill>
                  </a:tcPr>
                </a:tc>
              </a:tr>
              <a:tr h="565785">
                <a:tc>
                  <a:txBody>
                    <a:bodyPr wrap="square"/>
                    <a:lstStyle/>
                    <a:p>
                      <a:r>
                        <a:rPr sz="1600" b="1">
                          <a:solidFill>
                            <a:srgbClr val="03306E"/>
                          </a:solidFill>
                          <a:latin typeface="Calibri"/>
                        </a:rPr>
                        <a:t>Closed box / open box</a:t>
                      </a:r>
                    </a:p>
                  </a:txBody>
                  <a:tcPr marL="91440" marR="91440" anchor="ctr">
                    <a:solidFill>
                      <a:srgbClr val="FFFFFF"/>
                    </a:solidFill>
                  </a:tcPr>
                </a:tc>
                <a:tc>
                  <a:txBody>
                    <a:bodyPr wrap="square"/>
                    <a:lstStyle/>
                    <a:p>
                      <a:r>
                        <a:rPr sz="1600" b="0">
                          <a:solidFill>
                            <a:srgbClr val="202122"/>
                          </a:solidFill>
                          <a:latin typeface="Calibri"/>
                        </a:rPr>
                        <a:t>Testing without, or with, knowledge of the code</a:t>
                      </a:r>
                    </a:p>
                  </a:txBody>
                  <a:tcPr marL="91440" marR="9144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Testing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unit testing check?</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run regression tests after a change?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closed and open box testing?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Good tests use four kinds of data.</a:t>
            </a:r>
          </a:p>
          <a:p>
            <a:pPr>
              <a:spcAft>
                <a:spcPts val="1320"/>
              </a:spcAft>
            </a:pPr>
            <a:r>
              <a:rPr sz="2200" b="0">
                <a:solidFill>
                  <a:srgbClr val="202122"/>
                </a:solidFill>
                <a:latin typeface="Calibri"/>
              </a:rPr>
              <a:t>Valid (normal) data should be accepted. Invalid data is the right type but breaks the rules and should be rejected. Boundary data sits exactly at the edges, where bugs often hide, such as &lt; instead of &lt;=. Erroneous data is the wrong type altogether, such as text where a number is expected.</a:t>
            </a:r>
          </a:p>
          <a:p>
            <a:pPr>
              <a:spcAft>
                <a:spcPts val="1320"/>
              </a:spcAft>
            </a:pPr>
            <a:r>
              <a:rPr sz="2200" b="0">
                <a:solidFill>
                  <a:srgbClr val="202122"/>
                </a:solidFill>
                <a:latin typeface="Calibri"/>
              </a:rPr>
              <a:t>Test every kind so you know the program handles normal use, mistakes and edge cases without crashing.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field accepts 1 to 8 guests. Valid: 4. Invalid: 12. Boundary: 1 and 8. Erroneous: 'four'.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Valid</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Should be accepted. Guests: 4</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Invalid</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Right type, should be rejected. Guests: 12</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Boundary</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At the edge. Guests: 1 and 8</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Erroneous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Wrong type. Guests: 'four'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Test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test boundary values?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A mark field accepts 0 to 100. Give an erroneous value.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should happen with invalid data?</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Structure of a test plan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 test plan makes testing organised and repeatable. Each test is a row.</a:t>
            </a:r>
          </a:p>
          <a:p>
            <a:pPr>
              <a:spcAft>
                <a:spcPts val="1320"/>
              </a:spcAft>
            </a:pPr>
            <a:r>
              <a:rPr sz="2200" b="0">
                <a:solidFill>
                  <a:srgbClr val="202122"/>
                </a:solidFill>
                <a:latin typeface="Calibri"/>
              </a:rPr>
              <a:t>Identify the test (what's being tested), describe its purpose (why), identify the test data (the exact values), describe the expected result (written before running it) and record the actual result.</a:t>
            </a:r>
          </a:p>
          <a:p>
            <a:pPr>
              <a:spcAft>
                <a:spcPts val="1320"/>
              </a:spcAft>
            </a:pPr>
            <a:r>
              <a:rPr sz="2200" b="0">
                <a:solidFill>
                  <a:srgbClr val="202122"/>
                </a:solidFill>
                <a:latin typeface="Calibri"/>
              </a:rPr>
              <a:t>When the actual result differs from the expected, you've found a bug: fix it and retest.</a:t>
            </a:r>
          </a:p>
          <a:p>
            <a:pPr>
              <a:spcAft>
                <a:spcPts val="1320"/>
              </a:spcAft>
            </a:pPr>
            <a:r>
              <a:rPr sz="2200" b="0">
                <a:solidFill>
                  <a:srgbClr val="202122"/>
                </a:solidFill>
                <a:latin typeface="Calibri"/>
              </a:rPr>
              <a:t>Tests you run often can be automated with scripts, macros or testing tools, so they rerun after every change.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Test 5: guests upper boundary. Purpose: check 8 is accepted. Data: 8. Expected: accepted. Actual: rejected. The code uses &lt; 8 instead of &lt;=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Structure of a test plan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ectangle 5"/>
          <p:cNvSpPr/>
          <p:nvPr/>
        </p:nvSpPr>
        <p:spPr>
          <a:xfrm>
            <a:off x="1603217" y="251917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2174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994660"/>
            <a:ext cx="2109155" cy="731520"/>
          </a:xfrm>
          <a:prstGeom prst="rect">
            <a:avLst/>
          </a:prstGeom>
          <a:noFill/>
        </p:spPr>
        <p:txBody>
          <a:bodyPr wrap="square" anchor="t" lIns="0" rIns="0" tIns="0" bIns="0"/>
          <a:lstStyle/>
          <a:p>
            <a:pPr algn="ctr"/>
            <a:r>
              <a:rPr sz="1700" b="1" i="0">
                <a:solidFill>
                  <a:srgbClr val="03306E"/>
                </a:solidFill>
                <a:latin typeface="Calibri"/>
              </a:rPr>
              <a:t>Identify tests</a:t>
            </a:r>
          </a:p>
        </p:txBody>
      </p:sp>
      <p:sp>
        <p:nvSpPr>
          <p:cNvPr id="9" name="Rounded Rectangle 8"/>
          <p:cNvSpPr/>
          <p:nvPr/>
        </p:nvSpPr>
        <p:spPr>
          <a:xfrm>
            <a:off x="548640" y="377190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909060"/>
            <a:ext cx="1834835" cy="685800"/>
          </a:xfrm>
          <a:prstGeom prst="rect">
            <a:avLst/>
          </a:prstGeom>
          <a:noFill/>
        </p:spPr>
        <p:txBody>
          <a:bodyPr wrap="square" anchor="t" lIns="0" rIns="0" tIns="0" bIns="0"/>
          <a:lstStyle/>
          <a:p>
            <a:pPr algn="l"/>
            <a:r>
              <a:rPr sz="1800" b="0" i="0">
                <a:solidFill>
                  <a:srgbClr val="202122"/>
                </a:solidFill>
                <a:latin typeface="Calibri"/>
              </a:rPr>
              <a:t>What will be tested.</a:t>
            </a:r>
          </a:p>
        </p:txBody>
      </p:sp>
      <p:sp>
        <p:nvSpPr>
          <p:cNvPr id="11" name="Oval 10"/>
          <p:cNvSpPr/>
          <p:nvPr/>
        </p:nvSpPr>
        <p:spPr>
          <a:xfrm>
            <a:off x="3529492" y="22174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794955" y="2994660"/>
            <a:ext cx="2109155" cy="731520"/>
          </a:xfrm>
          <a:prstGeom prst="rect">
            <a:avLst/>
          </a:prstGeom>
          <a:noFill/>
        </p:spPr>
        <p:txBody>
          <a:bodyPr wrap="square" anchor="t" lIns="0" rIns="0" tIns="0" bIns="0"/>
          <a:lstStyle/>
          <a:p>
            <a:pPr algn="ctr"/>
            <a:r>
              <a:rPr sz="1700" b="1" i="0">
                <a:solidFill>
                  <a:srgbClr val="03306E"/>
                </a:solidFill>
                <a:latin typeface="Calibri"/>
              </a:rPr>
              <a:t>Purpose</a:t>
            </a:r>
          </a:p>
        </p:txBody>
      </p:sp>
      <p:sp>
        <p:nvSpPr>
          <p:cNvPr id="13" name="Rounded Rectangle 12"/>
          <p:cNvSpPr/>
          <p:nvPr/>
        </p:nvSpPr>
        <p:spPr>
          <a:xfrm>
            <a:off x="2794955" y="377190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3909060"/>
            <a:ext cx="1834835" cy="685800"/>
          </a:xfrm>
          <a:prstGeom prst="rect">
            <a:avLst/>
          </a:prstGeom>
          <a:noFill/>
        </p:spPr>
        <p:txBody>
          <a:bodyPr wrap="square" anchor="t" lIns="0" rIns="0" tIns="0" bIns="0"/>
          <a:lstStyle/>
          <a:p>
            <a:pPr algn="l"/>
            <a:r>
              <a:rPr sz="1800" b="0" i="0">
                <a:solidFill>
                  <a:srgbClr val="202122"/>
                </a:solidFill>
                <a:latin typeface="Calibri"/>
              </a:rPr>
              <a:t>Why each test matters.</a:t>
            </a:r>
          </a:p>
        </p:txBody>
      </p:sp>
      <p:sp>
        <p:nvSpPr>
          <p:cNvPr id="15" name="Oval 14"/>
          <p:cNvSpPr/>
          <p:nvPr/>
        </p:nvSpPr>
        <p:spPr>
          <a:xfrm>
            <a:off x="5775807" y="22174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5041270" y="2994660"/>
            <a:ext cx="2109155" cy="731520"/>
          </a:xfrm>
          <a:prstGeom prst="rect">
            <a:avLst/>
          </a:prstGeom>
          <a:noFill/>
        </p:spPr>
        <p:txBody>
          <a:bodyPr wrap="square" anchor="t" lIns="0" rIns="0" tIns="0" bIns="0"/>
          <a:lstStyle/>
          <a:p>
            <a:pPr algn="ctr"/>
            <a:r>
              <a:rPr sz="1700" b="1" i="0">
                <a:solidFill>
                  <a:srgbClr val="03306E"/>
                </a:solidFill>
                <a:latin typeface="Calibri"/>
              </a:rPr>
              <a:t>Test data</a:t>
            </a:r>
          </a:p>
        </p:txBody>
      </p:sp>
      <p:sp>
        <p:nvSpPr>
          <p:cNvPr id="17" name="Rounded Rectangle 16"/>
          <p:cNvSpPr/>
          <p:nvPr/>
        </p:nvSpPr>
        <p:spPr>
          <a:xfrm>
            <a:off x="5041270" y="377190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3909060"/>
            <a:ext cx="1834835" cy="685800"/>
          </a:xfrm>
          <a:prstGeom prst="rect">
            <a:avLst/>
          </a:prstGeom>
          <a:noFill/>
        </p:spPr>
        <p:txBody>
          <a:bodyPr wrap="square" anchor="t" lIns="0" rIns="0" tIns="0" bIns="0"/>
          <a:lstStyle/>
          <a:p>
            <a:pPr algn="l"/>
            <a:r>
              <a:rPr sz="1800" b="0" i="0">
                <a:solidFill>
                  <a:srgbClr val="202122"/>
                </a:solidFill>
                <a:latin typeface="Calibri"/>
              </a:rPr>
              <a:t>The data to use.</a:t>
            </a:r>
          </a:p>
        </p:txBody>
      </p:sp>
      <p:sp>
        <p:nvSpPr>
          <p:cNvPr id="19" name="Oval 18"/>
          <p:cNvSpPr/>
          <p:nvPr/>
        </p:nvSpPr>
        <p:spPr>
          <a:xfrm>
            <a:off x="8022122" y="22174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7287585" y="2994660"/>
            <a:ext cx="2109155" cy="731520"/>
          </a:xfrm>
          <a:prstGeom prst="rect">
            <a:avLst/>
          </a:prstGeom>
          <a:noFill/>
        </p:spPr>
        <p:txBody>
          <a:bodyPr wrap="square" anchor="t" lIns="0" rIns="0" tIns="0" bIns="0"/>
          <a:lstStyle/>
          <a:p>
            <a:pPr algn="ctr"/>
            <a:r>
              <a:rPr sz="1700" b="1" i="0">
                <a:solidFill>
                  <a:srgbClr val="03306E"/>
                </a:solidFill>
                <a:latin typeface="Calibri"/>
              </a:rPr>
              <a:t>Expected result</a:t>
            </a:r>
          </a:p>
        </p:txBody>
      </p:sp>
      <p:sp>
        <p:nvSpPr>
          <p:cNvPr id="21" name="Rounded Rectangle 20"/>
          <p:cNvSpPr/>
          <p:nvPr/>
        </p:nvSpPr>
        <p:spPr>
          <a:xfrm>
            <a:off x="7287585" y="377190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3909060"/>
            <a:ext cx="1834835" cy="685800"/>
          </a:xfrm>
          <a:prstGeom prst="rect">
            <a:avLst/>
          </a:prstGeom>
          <a:noFill/>
        </p:spPr>
        <p:txBody>
          <a:bodyPr wrap="square" anchor="t" lIns="0" rIns="0" tIns="0" bIns="0"/>
          <a:lstStyle/>
          <a:p>
            <a:pPr algn="l"/>
            <a:r>
              <a:rPr sz="1800" b="0" i="0">
                <a:solidFill>
                  <a:srgbClr val="202122"/>
                </a:solidFill>
                <a:latin typeface="Calibri"/>
              </a:rPr>
              <a:t>What should happen.</a:t>
            </a:r>
          </a:p>
        </p:txBody>
      </p:sp>
      <p:sp>
        <p:nvSpPr>
          <p:cNvPr id="23" name="Oval 22"/>
          <p:cNvSpPr/>
          <p:nvPr/>
        </p:nvSpPr>
        <p:spPr>
          <a:xfrm>
            <a:off x="10268437" y="221742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9533900" y="2994660"/>
            <a:ext cx="2109155" cy="731520"/>
          </a:xfrm>
          <a:prstGeom prst="rect">
            <a:avLst/>
          </a:prstGeom>
          <a:noFill/>
        </p:spPr>
        <p:txBody>
          <a:bodyPr wrap="square" anchor="t" lIns="0" rIns="0" tIns="0" bIns="0"/>
          <a:lstStyle/>
          <a:p>
            <a:pPr algn="ctr"/>
            <a:r>
              <a:rPr sz="1700" b="1" i="0">
                <a:solidFill>
                  <a:srgbClr val="03306E"/>
                </a:solidFill>
                <a:latin typeface="Calibri"/>
              </a:rPr>
              <a:t>Actual result</a:t>
            </a:r>
          </a:p>
        </p:txBody>
      </p:sp>
      <p:sp>
        <p:nvSpPr>
          <p:cNvPr id="25" name="Rounded Rectangle 24"/>
          <p:cNvSpPr/>
          <p:nvPr/>
        </p:nvSpPr>
        <p:spPr>
          <a:xfrm>
            <a:off x="9533900" y="3771900"/>
            <a:ext cx="2109155" cy="96012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3909060"/>
            <a:ext cx="1834835" cy="685800"/>
          </a:xfrm>
          <a:prstGeom prst="rect">
            <a:avLst/>
          </a:prstGeom>
          <a:noFill/>
        </p:spPr>
        <p:txBody>
          <a:bodyPr wrap="square" anchor="t" lIns="0" rIns="0" tIns="0" bIns="0"/>
          <a:lstStyle/>
          <a:p>
            <a:pPr algn="l"/>
            <a:r>
              <a:rPr sz="1800" b="0" i="0">
                <a:solidFill>
                  <a:srgbClr val="202122"/>
                </a:solidFill>
                <a:latin typeface="Calibri"/>
              </a:rPr>
              <a:t>What really happened.</a:t>
            </a:r>
          </a:p>
        </p:txBody>
      </p:sp>
      <p:sp>
        <p:nvSpPr>
          <p:cNvPr id="27" name="TextBox 26"/>
          <p:cNvSpPr txBox="1"/>
          <p:nvPr/>
        </p:nvSpPr>
        <p:spPr>
          <a:xfrm>
            <a:off x="548640" y="5006340"/>
            <a:ext cx="11094415" cy="548640"/>
          </a:xfrm>
          <a:prstGeom prst="rect">
            <a:avLst/>
          </a:prstGeom>
          <a:noFill/>
        </p:spPr>
        <p:txBody>
          <a:bodyPr wrap="square" anchor="t" lIns="0" rIns="0" tIns="0" bIns="0"/>
          <a:lstStyle/>
          <a:p>
            <a:pPr algn="l"/>
            <a:r>
              <a:rPr sz="1600" b="0" i="1">
                <a:solidFill>
                  <a:srgbClr val="54595D"/>
                </a:solidFill>
                <a:latin typeface="Calibri"/>
              </a:rPr>
              <a:t>Automation: macros, scripts and functional testing tools can rerun tests after every change.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Structure of a test plan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Why write the expected result first?</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should you do when a test fails?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can repeated tests be automated?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does regression testing check?</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A field accepts 1 to 8. Give an erroneous test value.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the difference between unit and integration testing?</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Why test components before integration?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does regression testing check?</a:t>
            </a:r>
          </a:p>
          <a:p>
            <a:r>
              <a:rPr sz="1800" b="1">
                <a:solidFill>
                  <a:srgbClr val="03306E"/>
                </a:solidFill>
                <a:latin typeface="Calibri"/>
              </a:rPr>
              <a:t>That changes have not broken existing functionality.</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A field accepts 1 to 8. Give an erroneous test value.</a:t>
            </a:r>
          </a:p>
          <a:p>
            <a:r>
              <a:rPr sz="1800" b="1">
                <a:solidFill>
                  <a:srgbClr val="03306E"/>
                </a:solidFill>
                <a:latin typeface="Calibri"/>
              </a:rPr>
              <a:t>Any non-number, e.g. 'four'.</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the difference between unit and integration testing?</a:t>
            </a:r>
          </a:p>
          <a:p>
            <a:r>
              <a:rPr sz="1800" b="1">
                <a:solidFill>
                  <a:srgbClr val="03306E"/>
                </a:solidFill>
                <a:latin typeface="Calibri"/>
              </a:rPr>
              <a:t>Unit tests one component; integration tests components working together.</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Why test components before integration?</a:t>
            </a:r>
          </a:p>
          <a:p>
            <a:r>
              <a:rPr sz="1800" b="1">
                <a:solidFill>
                  <a:srgbClr val="03306E"/>
                </a:solidFill>
                <a:latin typeface="Calibri"/>
              </a:rPr>
              <a:t>Faults are easier to find and fix in isolation.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Test a login form</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Testing</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The form needs a username of 3 to 15 characters and a password of at least 8.</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Write a test plan with at least ten tests.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Use all four types of test data.</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Run the tests on your teacher's sample code and record the results.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All five columns completed</a:t>
            </a:r>
          </a:p>
          <a:p>
            <a:pPr marL="274320" indent="-274320">
              <a:spcAft>
                <a:spcPts val="810"/>
              </a:spcAft>
              <a:buClr>
                <a:srgbClr val="0645AD"/>
              </a:buClr>
              <a:buFont typeface="Arial"/>
              <a:buChar char="•"/>
            </a:pPr>
            <a:r>
              <a:rPr sz="1800" b="0">
                <a:solidFill>
                  <a:srgbClr val="202122"/>
                </a:solidFill>
                <a:latin typeface="Calibri"/>
              </a:rPr>
              <a:t>Boundaries 3, 15 and 8 tested</a:t>
            </a:r>
          </a:p>
          <a:p>
            <a:pPr marL="274320" indent="-274320">
              <a:spcAft>
                <a:spcPts val="810"/>
              </a:spcAft>
              <a:buClr>
                <a:srgbClr val="0645AD"/>
              </a:buClr>
              <a:buFont typeface="Arial"/>
              <a:buChar char="•"/>
            </a:pPr>
            <a:r>
              <a:rPr sz="1800" b="0">
                <a:solidFill>
                  <a:srgbClr val="202122"/>
                </a:solidFill>
                <a:latin typeface="Calibri"/>
              </a:rPr>
              <a:t>Failures clearly recorded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What is closed box testing?</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write the expected result before testing?</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test would find a slow website on launch day?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Programming, Emerging Issues and Legislation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dc:title>
  <dc:subject>Digital Software Development T Level: Core Paper 1</dc:subject>
  <dc:creator>Samuel O'Connell</dc:creator>
  <cp:keywords>T Level; Digital Software Development; lesson slides; 2.12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