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private, encrypted connection across a public network.</a:t>
            </a:r>
          </a:p>
          <a:p>
            <a:r>
              <a:t>2. The client-server model.</a:t>
            </a:r>
          </a:p>
          <a:p>
            <a:r>
              <a:t>3. The largest WAN.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Addresses, packet number and protocol.</a:t>
            </a:r>
          </a:p>
          <a:p>
            <a:r>
              <a:t>2. Detecting damaged packets.</a:t>
            </a:r>
          </a:p>
          <a:p>
            <a:r>
              <a:t>3. High latency causes lag.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HTTPS.</a:t>
            </a:r>
          </a:p>
          <a:p>
            <a:r>
              <a:t>2. Turns domain names into IP addresses.</a:t>
            </a:r>
          </a:p>
          <a:p>
            <a:r>
              <a:t>3. SFTP is secure (encrypted).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Networks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7.3</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Compare network types, topologies and models.</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the OSI and TCP/IP models.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Explain data packets, packet switching and error handling.</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Match protocols to their purpose.</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When your app calls an API, what do you think happens between your device and the server?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Network types and topologies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Networks range from PANs (around one person) and LANs (one site) to MANs (a city) and WANs (countries). A VPN creates a private, encrypted connection across a public network.</a:t>
            </a:r>
          </a:p>
          <a:p>
            <a:pPr>
              <a:spcAft>
                <a:spcPts val="1320"/>
              </a:spcAft>
            </a:pPr>
            <a:r>
              <a:rPr sz="2200" b="0">
                <a:solidFill>
                  <a:srgbClr val="202122"/>
                </a:solidFill>
                <a:latin typeface="Calibri"/>
              </a:rPr>
              <a:t>In a star topology every device connects to a central switch; in a mesh devices connect to many others for resilience; a tree links stars in a hierarchy.</a:t>
            </a:r>
          </a:p>
          <a:p>
            <a:pPr>
              <a:spcAft>
                <a:spcPts val="1320"/>
              </a:spcAft>
            </a:pPr>
            <a:r>
              <a:rPr sz="2200" b="0">
                <a:solidFill>
                  <a:srgbClr val="202122"/>
                </a:solidFill>
                <a:latin typeface="Calibri"/>
              </a:rPr>
              <a:t>In the client-server model, servers provide services such as APIs and databases to clients, which is how most apps work. In peer-to-peer, devices are equal and share directly.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mobile app (client) sends requests over a WAN, the internet, to a server running the app's API and database.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Network types and topologies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PAN, LAN, MAN, WAN</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Personal, local, metropolitan and wide area networks.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VPN</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A private, encrypted connection across a public network.</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Topologies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Star, mesh and tree; logical versus physical.</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Models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Client-server, thin client, peer-to-peer.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Network types and topologies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VPN?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How do most apps use networks?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the internet?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OSI and TCP/IP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graphicFrame>
        <p:nvGraphicFramePr>
          <p:cNvPr id="6" name="Table 5"/>
          <p:cNvGraphicFramePr>
            <a:graphicFrameLocks noGrp="1"/>
          </p:cNvGraphicFramePr>
          <p:nvPr/>
        </p:nvGraphicFramePr>
        <p:xfrm>
          <a:off x="548640" y="1600200"/>
          <a:ext cx="11094413" cy="4526280"/>
        </p:xfrm>
        <a:graphic>
          <a:graphicData uri="http://schemas.openxmlformats.org/drawingml/2006/table">
            <a:tbl>
              <a:tblPr firstRow="1" bandRow="1">
                <a:tableStyleId>{5C22544A-7EE6-4342-B048-85BDC9FD1C3A}</a:tableStyleId>
              </a:tblPr>
              <a:tblGrid>
                <a:gridCol w="2610450"/>
                <a:gridCol w="5873513"/>
                <a:gridCol w="2610450"/>
              </a:tblGrid>
              <a:tr h="565785">
                <a:tc>
                  <a:txBody>
                    <a:bodyPr wrap="square"/>
                    <a:lstStyle/>
                    <a:p>
                      <a:r>
                        <a:rPr sz="1600" b="1">
                          <a:solidFill>
                            <a:srgbClr val="FFFFFF"/>
                          </a:solidFill>
                          <a:latin typeface="Calibri"/>
                        </a:rPr>
                        <a:t>OSI layer</a:t>
                      </a:r>
                    </a:p>
                  </a:txBody>
                  <a:tcPr marL="91440" marR="91440" anchor="ctr">
                    <a:solidFill>
                      <a:srgbClr val="03306E"/>
                    </a:solidFill>
                  </a:tcPr>
                </a:tc>
                <a:tc>
                  <a:txBody>
                    <a:bodyPr wrap="square"/>
                    <a:lstStyle/>
                    <a:p>
                      <a:r>
                        <a:rPr sz="1600" b="1">
                          <a:solidFill>
                            <a:srgbClr val="FFFFFF"/>
                          </a:solidFill>
                          <a:latin typeface="Calibri"/>
                        </a:rPr>
                        <a:t>Job</a:t>
                      </a:r>
                    </a:p>
                  </a:txBody>
                  <a:tcPr marL="91440" marR="91440" anchor="ctr">
                    <a:solidFill>
                      <a:srgbClr val="03306E"/>
                    </a:solidFill>
                  </a:tcPr>
                </a:tc>
                <a:tc>
                  <a:txBody>
                    <a:bodyPr wrap="square"/>
                    <a:lstStyle/>
                    <a:p>
                      <a:r>
                        <a:rPr sz="1600" b="1">
                          <a:solidFill>
                            <a:srgbClr val="FFFFFF"/>
                          </a:solidFill>
                          <a:latin typeface="Calibri"/>
                        </a:rPr>
                        <a:t>TCP/IP layer</a:t>
                      </a:r>
                    </a:p>
                  </a:txBody>
                  <a:tcPr marL="91440" marR="91440" anchor="ctr">
                    <a:solidFill>
                      <a:srgbClr val="03306E"/>
                    </a:solidFill>
                  </a:tcPr>
                </a:tc>
              </a:tr>
              <a:tr h="565785">
                <a:tc>
                  <a:txBody>
                    <a:bodyPr wrap="square"/>
                    <a:lstStyle/>
                    <a:p>
                      <a:r>
                        <a:rPr sz="1600" b="1">
                          <a:solidFill>
                            <a:srgbClr val="03306E"/>
                          </a:solidFill>
                          <a:latin typeface="Calibri"/>
                        </a:rPr>
                        <a:t>7 Application</a:t>
                      </a:r>
                    </a:p>
                  </a:txBody>
                  <a:tcPr marL="91440" marR="91440" anchor="ctr">
                    <a:solidFill>
                      <a:srgbClr val="FFFFFF"/>
                    </a:solidFill>
                  </a:tcPr>
                </a:tc>
                <a:tc>
                  <a:txBody>
                    <a:bodyPr wrap="square"/>
                    <a:lstStyle/>
                    <a:p>
                      <a:r>
                        <a:rPr sz="1600" b="0">
                          <a:solidFill>
                            <a:srgbClr val="202122"/>
                          </a:solidFill>
                          <a:latin typeface="Calibri"/>
                        </a:rPr>
                        <a:t>Services for applications</a:t>
                      </a:r>
                    </a:p>
                  </a:txBody>
                  <a:tcPr marL="91440" marR="91440" anchor="ctr">
                    <a:solidFill>
                      <a:srgbClr val="FFFFFF"/>
                    </a:solidFill>
                  </a:tcPr>
                </a:tc>
                <a:tc>
                  <a:txBody>
                    <a:bodyPr wrap="square"/>
                    <a:lstStyle/>
                    <a:p>
                      <a:r>
                        <a:rPr sz="1600" b="0">
                          <a:solidFill>
                            <a:srgbClr val="202122"/>
                          </a:solidFill>
                          <a:latin typeface="Calibri"/>
                        </a:rPr>
                        <a:t>Application</a:t>
                      </a:r>
                    </a:p>
                  </a:txBody>
                  <a:tcPr marL="91440" marR="91440" anchor="ctr">
                    <a:solidFill>
                      <a:srgbClr val="FFFFFF"/>
                    </a:solidFill>
                  </a:tcPr>
                </a:tc>
              </a:tr>
              <a:tr h="565785">
                <a:tc>
                  <a:txBody>
                    <a:bodyPr wrap="square"/>
                    <a:lstStyle/>
                    <a:p>
                      <a:r>
                        <a:rPr sz="1600" b="1">
                          <a:solidFill>
                            <a:srgbClr val="03306E"/>
                          </a:solidFill>
                          <a:latin typeface="Calibri"/>
                        </a:rPr>
                        <a:t>6 Presentation</a:t>
                      </a:r>
                    </a:p>
                  </a:txBody>
                  <a:tcPr marL="91440" marR="91440" anchor="ctr">
                    <a:solidFill>
                      <a:srgbClr val="EAF3FF"/>
                    </a:solidFill>
                  </a:tcPr>
                </a:tc>
                <a:tc>
                  <a:txBody>
                    <a:bodyPr wrap="square"/>
                    <a:lstStyle/>
                    <a:p>
                      <a:r>
                        <a:rPr sz="1600" b="0">
                          <a:solidFill>
                            <a:srgbClr val="202122"/>
                          </a:solidFill>
                          <a:latin typeface="Calibri"/>
                        </a:rPr>
                        <a:t>Formatting, encryption</a:t>
                      </a:r>
                    </a:p>
                  </a:txBody>
                  <a:tcPr marL="91440" marR="91440" anchor="ctr">
                    <a:solidFill>
                      <a:srgbClr val="EAF3FF"/>
                    </a:solidFill>
                  </a:tcPr>
                </a:tc>
                <a:tc>
                  <a:txBody>
                    <a:bodyPr wrap="square"/>
                    <a:lstStyle/>
                    <a:p>
                      <a:r>
                        <a:rPr sz="1600" b="0">
                          <a:solidFill>
                            <a:srgbClr val="202122"/>
                          </a:solidFill>
                          <a:latin typeface="Calibri"/>
                        </a:rPr>
                        <a:t>Application</a:t>
                      </a:r>
                    </a:p>
                  </a:txBody>
                  <a:tcPr marL="91440" marR="91440" anchor="ctr">
                    <a:solidFill>
                      <a:srgbClr val="EAF3FF"/>
                    </a:solidFill>
                  </a:tcPr>
                </a:tc>
              </a:tr>
              <a:tr h="565785">
                <a:tc>
                  <a:txBody>
                    <a:bodyPr wrap="square"/>
                    <a:lstStyle/>
                    <a:p>
                      <a:r>
                        <a:rPr sz="1600" b="1">
                          <a:solidFill>
                            <a:srgbClr val="03306E"/>
                          </a:solidFill>
                          <a:latin typeface="Calibri"/>
                        </a:rPr>
                        <a:t>5 Session</a:t>
                      </a:r>
                    </a:p>
                  </a:txBody>
                  <a:tcPr marL="91440" marR="91440" anchor="ctr">
                    <a:solidFill>
                      <a:srgbClr val="FFFFFF"/>
                    </a:solidFill>
                  </a:tcPr>
                </a:tc>
                <a:tc>
                  <a:txBody>
                    <a:bodyPr wrap="square"/>
                    <a:lstStyle/>
                    <a:p>
                      <a:r>
                        <a:rPr sz="1600" b="0">
                          <a:solidFill>
                            <a:srgbClr val="202122"/>
                          </a:solidFill>
                          <a:latin typeface="Calibri"/>
                        </a:rPr>
                        <a:t>Manages sessions</a:t>
                      </a:r>
                    </a:p>
                  </a:txBody>
                  <a:tcPr marL="91440" marR="91440" anchor="ctr">
                    <a:solidFill>
                      <a:srgbClr val="FFFFFF"/>
                    </a:solidFill>
                  </a:tcPr>
                </a:tc>
                <a:tc>
                  <a:txBody>
                    <a:bodyPr wrap="square"/>
                    <a:lstStyle/>
                    <a:p>
                      <a:r>
                        <a:rPr sz="1600" b="0">
                          <a:solidFill>
                            <a:srgbClr val="202122"/>
                          </a:solidFill>
                          <a:latin typeface="Calibri"/>
                        </a:rPr>
                        <a:t>Application</a:t>
                      </a:r>
                    </a:p>
                  </a:txBody>
                  <a:tcPr marL="91440" marR="91440" anchor="ctr">
                    <a:solidFill>
                      <a:srgbClr val="FFFFFF"/>
                    </a:solidFill>
                  </a:tcPr>
                </a:tc>
              </a:tr>
              <a:tr h="565785">
                <a:tc>
                  <a:txBody>
                    <a:bodyPr wrap="square"/>
                    <a:lstStyle/>
                    <a:p>
                      <a:r>
                        <a:rPr sz="1600" b="1">
                          <a:solidFill>
                            <a:srgbClr val="03306E"/>
                          </a:solidFill>
                          <a:latin typeface="Calibri"/>
                        </a:rPr>
                        <a:t>4 Transport</a:t>
                      </a:r>
                    </a:p>
                  </a:txBody>
                  <a:tcPr marL="91440" marR="91440" anchor="ctr">
                    <a:solidFill>
                      <a:srgbClr val="EAF3FF"/>
                    </a:solidFill>
                  </a:tcPr>
                </a:tc>
                <a:tc>
                  <a:txBody>
                    <a:bodyPr wrap="square"/>
                    <a:lstStyle/>
                    <a:p>
                      <a:r>
                        <a:rPr sz="1600" b="0">
                          <a:solidFill>
                            <a:srgbClr val="202122"/>
                          </a:solidFill>
                          <a:latin typeface="Calibri"/>
                        </a:rPr>
                        <a:t>Reliable delivery, ports</a:t>
                      </a:r>
                    </a:p>
                  </a:txBody>
                  <a:tcPr marL="91440" marR="91440" anchor="ctr">
                    <a:solidFill>
                      <a:srgbClr val="EAF3FF"/>
                    </a:solidFill>
                  </a:tcPr>
                </a:tc>
                <a:tc>
                  <a:txBody>
                    <a:bodyPr wrap="square"/>
                    <a:lstStyle/>
                    <a:p>
                      <a:r>
                        <a:rPr sz="1600" b="0">
                          <a:solidFill>
                            <a:srgbClr val="202122"/>
                          </a:solidFill>
                          <a:latin typeface="Calibri"/>
                        </a:rPr>
                        <a:t>Transport</a:t>
                      </a:r>
                    </a:p>
                  </a:txBody>
                  <a:tcPr marL="91440" marR="91440" anchor="ctr">
                    <a:solidFill>
                      <a:srgbClr val="EAF3FF"/>
                    </a:solidFill>
                  </a:tcPr>
                </a:tc>
              </a:tr>
              <a:tr h="565785">
                <a:tc>
                  <a:txBody>
                    <a:bodyPr wrap="square"/>
                    <a:lstStyle/>
                    <a:p>
                      <a:r>
                        <a:rPr sz="1600" b="1">
                          <a:solidFill>
                            <a:srgbClr val="03306E"/>
                          </a:solidFill>
                          <a:latin typeface="Calibri"/>
                        </a:rPr>
                        <a:t>3 Network</a:t>
                      </a:r>
                    </a:p>
                  </a:txBody>
                  <a:tcPr marL="91440" marR="91440" anchor="ctr">
                    <a:solidFill>
                      <a:srgbClr val="FFFFFF"/>
                    </a:solidFill>
                  </a:tcPr>
                </a:tc>
                <a:tc>
                  <a:txBody>
                    <a:bodyPr wrap="square"/>
                    <a:lstStyle/>
                    <a:p>
                      <a:r>
                        <a:rPr sz="1600" b="0">
                          <a:solidFill>
                            <a:srgbClr val="202122"/>
                          </a:solidFill>
                          <a:latin typeface="Calibri"/>
                        </a:rPr>
                        <a:t>Addressing and routing</a:t>
                      </a:r>
                    </a:p>
                  </a:txBody>
                  <a:tcPr marL="91440" marR="91440" anchor="ctr">
                    <a:solidFill>
                      <a:srgbClr val="FFFFFF"/>
                    </a:solidFill>
                  </a:tcPr>
                </a:tc>
                <a:tc>
                  <a:txBody>
                    <a:bodyPr wrap="square"/>
                    <a:lstStyle/>
                    <a:p>
                      <a:r>
                        <a:rPr sz="1600" b="0">
                          <a:solidFill>
                            <a:srgbClr val="202122"/>
                          </a:solidFill>
                          <a:latin typeface="Calibri"/>
                        </a:rPr>
                        <a:t>Internet</a:t>
                      </a:r>
                    </a:p>
                  </a:txBody>
                  <a:tcPr marL="91440" marR="91440" anchor="ctr">
                    <a:solidFill>
                      <a:srgbClr val="FFFFFF"/>
                    </a:solidFill>
                  </a:tcPr>
                </a:tc>
              </a:tr>
              <a:tr h="565785">
                <a:tc>
                  <a:txBody>
                    <a:bodyPr wrap="square"/>
                    <a:lstStyle/>
                    <a:p>
                      <a:r>
                        <a:rPr sz="1600" b="1">
                          <a:solidFill>
                            <a:srgbClr val="03306E"/>
                          </a:solidFill>
                          <a:latin typeface="Calibri"/>
                        </a:rPr>
                        <a:t>2 Data link</a:t>
                      </a:r>
                    </a:p>
                  </a:txBody>
                  <a:tcPr marL="91440" marR="91440" anchor="ctr">
                    <a:solidFill>
                      <a:srgbClr val="EAF3FF"/>
                    </a:solidFill>
                  </a:tcPr>
                </a:tc>
                <a:tc>
                  <a:txBody>
                    <a:bodyPr wrap="square"/>
                    <a:lstStyle/>
                    <a:p>
                      <a:r>
                        <a:rPr sz="1600" b="0">
                          <a:solidFill>
                            <a:srgbClr val="202122"/>
                          </a:solidFill>
                          <a:latin typeface="Calibri"/>
                        </a:rPr>
                        <a:t>Frames, MAC addresses</a:t>
                      </a:r>
                    </a:p>
                  </a:txBody>
                  <a:tcPr marL="91440" marR="91440" anchor="ctr">
                    <a:solidFill>
                      <a:srgbClr val="EAF3FF"/>
                    </a:solidFill>
                  </a:tcPr>
                </a:tc>
                <a:tc>
                  <a:txBody>
                    <a:bodyPr wrap="square"/>
                    <a:lstStyle/>
                    <a:p>
                      <a:r>
                        <a:rPr sz="1600" b="0">
                          <a:solidFill>
                            <a:srgbClr val="202122"/>
                          </a:solidFill>
                          <a:latin typeface="Calibri"/>
                        </a:rPr>
                        <a:t>Network</a:t>
                      </a:r>
                    </a:p>
                  </a:txBody>
                  <a:tcPr marL="91440" marR="91440" anchor="ctr">
                    <a:solidFill>
                      <a:srgbClr val="EAF3FF"/>
                    </a:solidFill>
                  </a:tcPr>
                </a:tc>
              </a:tr>
              <a:tr h="565785">
                <a:tc>
                  <a:txBody>
                    <a:bodyPr wrap="square"/>
                    <a:lstStyle/>
                    <a:p>
                      <a:r>
                        <a:rPr sz="1600" b="1">
                          <a:solidFill>
                            <a:srgbClr val="03306E"/>
                          </a:solidFill>
                          <a:latin typeface="Calibri"/>
                        </a:rPr>
                        <a:t>1 Physical</a:t>
                      </a:r>
                    </a:p>
                  </a:txBody>
                  <a:tcPr marL="91440" marR="91440" anchor="ctr">
                    <a:solidFill>
                      <a:srgbClr val="FFFFFF"/>
                    </a:solidFill>
                  </a:tcPr>
                </a:tc>
                <a:tc>
                  <a:txBody>
                    <a:bodyPr wrap="square"/>
                    <a:lstStyle/>
                    <a:p>
                      <a:r>
                        <a:rPr sz="1600" b="0">
                          <a:solidFill>
                            <a:srgbClr val="202122"/>
                          </a:solidFill>
                          <a:latin typeface="Calibri"/>
                        </a:rPr>
                        <a:t>Cables and signals</a:t>
                      </a:r>
                    </a:p>
                  </a:txBody>
                  <a:tcPr marL="91440" marR="91440" anchor="ctr">
                    <a:solidFill>
                      <a:srgbClr val="FFFFFF"/>
                    </a:solidFill>
                  </a:tcPr>
                </a:tc>
                <a:tc>
                  <a:txBody>
                    <a:bodyPr wrap="square"/>
                    <a:lstStyle/>
                    <a:p>
                      <a:r>
                        <a:rPr sz="1600" b="0">
                          <a:solidFill>
                            <a:srgbClr val="202122"/>
                          </a:solidFill>
                          <a:latin typeface="Calibri"/>
                        </a:rPr>
                        <a:t>Network</a:t>
                      </a:r>
                    </a:p>
                  </a:txBody>
                  <a:tcPr marL="91440" marR="9144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packets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Data is sent in packets. Each has a header (source and destination addresses, packet number, protocol), a payload (the data) and a trailer with error checking.</a:t>
            </a:r>
          </a:p>
          <a:p>
            <a:pPr>
              <a:spcAft>
                <a:spcPts val="1320"/>
              </a:spcAft>
            </a:pPr>
            <a:r>
              <a:rPr sz="2200" b="0">
                <a:solidFill>
                  <a:srgbClr val="202122"/>
                </a:solidFill>
                <a:latin typeface="Calibri"/>
              </a:rPr>
              <a:t>Packets may take different routes and are reassembled in order. A cyclic redundancy check (CRC) detects damaged packets so they can be resent. Packets can be lost through congestion or faults.</a:t>
            </a:r>
          </a:p>
          <a:p>
            <a:pPr>
              <a:spcAft>
                <a:spcPts val="1320"/>
              </a:spcAft>
            </a:pPr>
            <a:r>
              <a:rPr sz="2200" b="0">
                <a:solidFill>
                  <a:srgbClr val="202122"/>
                </a:solidFill>
                <a:latin typeface="Calibri"/>
              </a:rPr>
              <a:t>Bandwidth is how much data can flow; latency is the delay. High latency makes apps feel slow even on a fast connection.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multiplayer game sends small, frequent packets. Low latency matters more than high bandwidth, or players see lag.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packets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1">
                <a:solidFill>
                  <a:srgbClr val="202122"/>
                </a:solidFill>
                <a:latin typeface="Calibri"/>
              </a:rPr>
              <a:t>Header:</a:t>
            </a:r>
            <a:r>
              <a:rPr sz="2400" b="0">
                <a:solidFill>
                  <a:srgbClr val="202122"/>
                </a:solidFill>
                <a:latin typeface="Calibri"/>
              </a:rPr>
              <a:t> source and destination addresses, packet number, protocol.</a:t>
            </a:r>
          </a:p>
          <a:p>
            <a:pPr marL="274320" indent="-274320">
              <a:spcAft>
                <a:spcPts val="1080"/>
              </a:spcAft>
              <a:buClr>
                <a:srgbClr val="0645AD"/>
              </a:buClr>
              <a:buFont typeface="Arial"/>
              <a:buChar char="•"/>
            </a:pPr>
            <a:r>
              <a:rPr sz="2400" b="1">
                <a:solidFill>
                  <a:srgbClr val="202122"/>
                </a:solidFill>
                <a:latin typeface="Calibri"/>
              </a:rPr>
              <a:t>Payload:</a:t>
            </a:r>
            <a:r>
              <a:rPr sz="2400" b="0">
                <a:solidFill>
                  <a:srgbClr val="202122"/>
                </a:solidFill>
                <a:latin typeface="Calibri"/>
              </a:rPr>
              <a:t> the data itself.</a:t>
            </a:r>
          </a:p>
          <a:p>
            <a:pPr marL="274320" indent="-274320">
              <a:spcAft>
                <a:spcPts val="1080"/>
              </a:spcAft>
              <a:buClr>
                <a:srgbClr val="0645AD"/>
              </a:buClr>
              <a:buFont typeface="Arial"/>
              <a:buChar char="•"/>
            </a:pPr>
            <a:r>
              <a:rPr sz="2400" b="1">
                <a:solidFill>
                  <a:srgbClr val="202122"/>
                </a:solidFill>
                <a:latin typeface="Calibri"/>
              </a:rPr>
              <a:t>Trailer:</a:t>
            </a:r>
            <a:r>
              <a:rPr sz="2400" b="0">
                <a:solidFill>
                  <a:srgbClr val="202122"/>
                </a:solidFill>
                <a:latin typeface="Calibri"/>
              </a:rPr>
              <a:t> error checking, e.g. a cyclic redundancy check (CRC).</a:t>
            </a:r>
          </a:p>
          <a:p>
            <a:pPr marL="274320" indent="-274320">
              <a:spcAft>
                <a:spcPts val="1080"/>
              </a:spcAft>
              <a:buClr>
                <a:srgbClr val="0645AD"/>
              </a:buClr>
              <a:buFont typeface="Arial"/>
              <a:buChar char="•"/>
            </a:pPr>
            <a:r>
              <a:rPr sz="2400" b="1">
                <a:solidFill>
                  <a:srgbClr val="202122"/>
                </a:solidFill>
                <a:latin typeface="Calibri"/>
              </a:rPr>
              <a:t>Packet switching:</a:t>
            </a:r>
            <a:r>
              <a:rPr sz="2400" b="0">
                <a:solidFill>
                  <a:srgbClr val="202122"/>
                </a:solidFill>
                <a:latin typeface="Calibri"/>
              </a:rPr>
              <a:t> packets take different routes and are reassembled.</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Bandwidth is how much data can flow; latency is the delay. Both affect how fast your app feels.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packets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a packet header contain?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 CRC for?</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does latency matter for games?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Common protocols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HTTP transfers web pages and API requests; HTTPS encrypts them. SMTP sends email; POP downloads it; IMAP keeps it on the server and syncs. RIP and OSPF let routers share routes. FTP transfers files and SFTP does so securely. DHCP gives devices IP addresses. DNS turns domain names into IP addresses.</a:t>
            </a:r>
          </a:p>
          <a:p>
            <a:pPr>
              <a:spcAft>
                <a:spcPts val="1320"/>
              </a:spcAft>
            </a:pPr>
            <a:r>
              <a:rPr sz="2200" b="0">
                <a:solidFill>
                  <a:srgbClr val="202122"/>
                </a:solidFill>
                <a:latin typeface="Calibri"/>
              </a:rPr>
              <a:t>Developers meet HTTPS and DNS constantly: every API call looks up a name and sends an encrypted request.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When an app calls a weather API, DNS first finds the server's IP address, then HTTPS sends the request and receives the forecast securely.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Common protocols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2064077"/>
                <a:gridCol w="3354125"/>
                <a:gridCol w="5676212"/>
              </a:tblGrid>
              <a:tr h="905256">
                <a:tc>
                  <a:txBody>
                    <a:bodyPr wrap="square"/>
                    <a:lstStyle/>
                    <a:p>
                      <a:r>
                        <a:rPr sz="1600" b="1">
                          <a:solidFill>
                            <a:srgbClr val="FFFFFF"/>
                          </a:solidFill>
                          <a:latin typeface="Calibri"/>
                        </a:rPr>
                        <a:t>Group</a:t>
                      </a:r>
                    </a:p>
                  </a:txBody>
                  <a:tcPr marL="91440" marR="91440" anchor="ctr">
                    <a:solidFill>
                      <a:srgbClr val="03306E"/>
                    </a:solidFill>
                  </a:tcPr>
                </a:tc>
                <a:tc>
                  <a:txBody>
                    <a:bodyPr wrap="square"/>
                    <a:lstStyle/>
                    <a:p>
                      <a:r>
                        <a:rPr sz="1600" b="1">
                          <a:solidFill>
                            <a:srgbClr val="FFFFFF"/>
                          </a:solidFill>
                          <a:latin typeface="Calibri"/>
                        </a:rPr>
                        <a:t>Protocols</a:t>
                      </a:r>
                    </a:p>
                  </a:txBody>
                  <a:tcPr marL="91440" marR="91440" anchor="ctr">
                    <a:solidFill>
                      <a:srgbClr val="03306E"/>
                    </a:solidFill>
                  </a:tcPr>
                </a:tc>
                <a:tc>
                  <a:txBody>
                    <a:bodyPr wrap="square"/>
                    <a:lstStyle/>
                    <a:p>
                      <a:r>
                        <a:rPr sz="1600" b="1">
                          <a:solidFill>
                            <a:srgbClr val="FFFFFF"/>
                          </a:solidFill>
                          <a:latin typeface="Calibri"/>
                        </a:rPr>
                        <a:t>Purpose</a:t>
                      </a:r>
                    </a:p>
                  </a:txBody>
                  <a:tcPr marL="91440" marR="91440" anchor="ctr">
                    <a:solidFill>
                      <a:srgbClr val="03306E"/>
                    </a:solidFill>
                  </a:tcPr>
                </a:tc>
              </a:tr>
              <a:tr h="905256">
                <a:tc>
                  <a:txBody>
                    <a:bodyPr wrap="square"/>
                    <a:lstStyle/>
                    <a:p>
                      <a:r>
                        <a:rPr sz="1600" b="1">
                          <a:solidFill>
                            <a:srgbClr val="03306E"/>
                          </a:solidFill>
                          <a:latin typeface="Calibri"/>
                        </a:rPr>
                        <a:t>Web</a:t>
                      </a:r>
                    </a:p>
                  </a:txBody>
                  <a:tcPr marL="91440" marR="91440" anchor="ctr">
                    <a:solidFill>
                      <a:srgbClr val="FFFFFF"/>
                    </a:solidFill>
                  </a:tcPr>
                </a:tc>
                <a:tc>
                  <a:txBody>
                    <a:bodyPr wrap="square"/>
                    <a:lstStyle/>
                    <a:p>
                      <a:r>
                        <a:rPr sz="1600" b="0">
                          <a:solidFill>
                            <a:srgbClr val="202122"/>
                          </a:solidFill>
                          <a:latin typeface="Calibri"/>
                        </a:rPr>
                        <a:t>HTTP, HTTPS</a:t>
                      </a:r>
                    </a:p>
                  </a:txBody>
                  <a:tcPr marL="91440" marR="91440" anchor="ctr">
                    <a:solidFill>
                      <a:srgbClr val="FFFFFF"/>
                    </a:solidFill>
                  </a:tcPr>
                </a:tc>
                <a:tc>
                  <a:txBody>
                    <a:bodyPr wrap="square"/>
                    <a:lstStyle/>
                    <a:p>
                      <a:r>
                        <a:rPr sz="1600" b="0">
                          <a:solidFill>
                            <a:srgbClr val="202122"/>
                          </a:solidFill>
                          <a:latin typeface="Calibri"/>
                        </a:rPr>
                        <a:t>Web pages and APIs; HTTPS is encrypted</a:t>
                      </a:r>
                    </a:p>
                  </a:txBody>
                  <a:tcPr marL="91440" marR="91440" anchor="ctr">
                    <a:solidFill>
                      <a:srgbClr val="FFFFFF"/>
                    </a:solidFill>
                  </a:tcPr>
                </a:tc>
              </a:tr>
              <a:tr h="905256">
                <a:tc>
                  <a:txBody>
                    <a:bodyPr wrap="square"/>
                    <a:lstStyle/>
                    <a:p>
                      <a:r>
                        <a:rPr sz="1600" b="1">
                          <a:solidFill>
                            <a:srgbClr val="03306E"/>
                          </a:solidFill>
                          <a:latin typeface="Calibri"/>
                        </a:rPr>
                        <a:t>Mail</a:t>
                      </a:r>
                    </a:p>
                  </a:txBody>
                  <a:tcPr marL="91440" marR="91440" anchor="ctr">
                    <a:solidFill>
                      <a:srgbClr val="EAF3FF"/>
                    </a:solidFill>
                  </a:tcPr>
                </a:tc>
                <a:tc>
                  <a:txBody>
                    <a:bodyPr wrap="square"/>
                    <a:lstStyle/>
                    <a:p>
                      <a:r>
                        <a:rPr sz="1600" b="0">
                          <a:solidFill>
                            <a:srgbClr val="202122"/>
                          </a:solidFill>
                          <a:latin typeface="Calibri"/>
                        </a:rPr>
                        <a:t>SMTP, POP, IMAP</a:t>
                      </a:r>
                    </a:p>
                  </a:txBody>
                  <a:tcPr marL="91440" marR="91440" anchor="ctr">
                    <a:solidFill>
                      <a:srgbClr val="EAF3FF"/>
                    </a:solidFill>
                  </a:tcPr>
                </a:tc>
                <a:tc>
                  <a:txBody>
                    <a:bodyPr wrap="square"/>
                    <a:lstStyle/>
                    <a:p>
                      <a:r>
                        <a:rPr sz="1600" b="0">
                          <a:solidFill>
                            <a:srgbClr val="202122"/>
                          </a:solidFill>
                          <a:latin typeface="Calibri"/>
                        </a:rPr>
                        <a:t>Send, download or sync mail</a:t>
                      </a:r>
                    </a:p>
                  </a:txBody>
                  <a:tcPr marL="91440" marR="91440" anchor="ctr">
                    <a:solidFill>
                      <a:srgbClr val="EAF3FF"/>
                    </a:solidFill>
                  </a:tcPr>
                </a:tc>
              </a:tr>
              <a:tr h="905256">
                <a:tc>
                  <a:txBody>
                    <a:bodyPr wrap="square"/>
                    <a:lstStyle/>
                    <a:p>
                      <a:r>
                        <a:rPr sz="1600" b="1">
                          <a:solidFill>
                            <a:srgbClr val="03306E"/>
                          </a:solidFill>
                          <a:latin typeface="Calibri"/>
                        </a:rPr>
                        <a:t>Routing</a:t>
                      </a:r>
                    </a:p>
                  </a:txBody>
                  <a:tcPr marL="91440" marR="91440" anchor="ctr">
                    <a:solidFill>
                      <a:srgbClr val="FFFFFF"/>
                    </a:solidFill>
                  </a:tcPr>
                </a:tc>
                <a:tc>
                  <a:txBody>
                    <a:bodyPr wrap="square"/>
                    <a:lstStyle/>
                    <a:p>
                      <a:r>
                        <a:rPr sz="1600" b="0">
                          <a:solidFill>
                            <a:srgbClr val="202122"/>
                          </a:solidFill>
                          <a:latin typeface="Calibri"/>
                        </a:rPr>
                        <a:t>RIP, OSPF</a:t>
                      </a:r>
                    </a:p>
                  </a:txBody>
                  <a:tcPr marL="91440" marR="91440" anchor="ctr">
                    <a:solidFill>
                      <a:srgbClr val="FFFFFF"/>
                    </a:solidFill>
                  </a:tcPr>
                </a:tc>
                <a:tc>
                  <a:txBody>
                    <a:bodyPr wrap="square"/>
                    <a:lstStyle/>
                    <a:p>
                      <a:r>
                        <a:rPr sz="1600" b="0">
                          <a:solidFill>
                            <a:srgbClr val="202122"/>
                          </a:solidFill>
                          <a:latin typeface="Calibri"/>
                        </a:rPr>
                        <a:t>Routers share routes</a:t>
                      </a:r>
                    </a:p>
                  </a:txBody>
                  <a:tcPr marL="91440" marR="91440" anchor="ctr">
                    <a:solidFill>
                      <a:srgbClr val="FFFFFF"/>
                    </a:solidFill>
                  </a:tcPr>
                </a:tc>
              </a:tr>
              <a:tr h="905256">
                <a:tc>
                  <a:txBody>
                    <a:bodyPr wrap="square"/>
                    <a:lstStyle/>
                    <a:p>
                      <a:r>
                        <a:rPr sz="1600" b="1">
                          <a:solidFill>
                            <a:srgbClr val="03306E"/>
                          </a:solidFill>
                          <a:latin typeface="Calibri"/>
                        </a:rPr>
                        <a:t>Application</a:t>
                      </a:r>
                    </a:p>
                  </a:txBody>
                  <a:tcPr marL="91440" marR="91440" anchor="ctr">
                    <a:solidFill>
                      <a:srgbClr val="EAF3FF"/>
                    </a:solidFill>
                  </a:tcPr>
                </a:tc>
                <a:tc>
                  <a:txBody>
                    <a:bodyPr wrap="square"/>
                    <a:lstStyle/>
                    <a:p>
                      <a:r>
                        <a:rPr sz="1600" b="0">
                          <a:solidFill>
                            <a:srgbClr val="202122"/>
                          </a:solidFill>
                          <a:latin typeface="Calibri"/>
                        </a:rPr>
                        <a:t>FTP, SFTP, DHCP, DNS</a:t>
                      </a:r>
                    </a:p>
                  </a:txBody>
                  <a:tcPr marL="91440" marR="91440" anchor="ctr">
                    <a:solidFill>
                      <a:srgbClr val="EAF3FF"/>
                    </a:solidFill>
                  </a:tcPr>
                </a:tc>
                <a:tc>
                  <a:txBody>
                    <a:bodyPr wrap="square"/>
                    <a:lstStyle/>
                    <a:p>
                      <a:r>
                        <a:rPr sz="1600" b="0">
                          <a:solidFill>
                            <a:srgbClr val="202122"/>
                          </a:solidFill>
                          <a:latin typeface="Calibri"/>
                        </a:rPr>
                        <a:t>File transfer, IP addresses, name lookup</a:t>
                      </a:r>
                    </a:p>
                  </a:txBody>
                  <a:tcPr marL="91440" marR="91440" anchor="ctr">
                    <a:solidFill>
                      <a:srgbClr val="EAF3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Common protocols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protocol should APIs use?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DNS do?</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FTP and SFTP?</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Which layer handles routing in the OSI model?</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is a CRC for?</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Which protocol turns a domain name into an IP address?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What is latency?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Which layer handles routing in the OSI model?</a:t>
            </a:r>
          </a:p>
          <a:p>
            <a:r>
              <a:rPr sz="1800" b="1">
                <a:solidFill>
                  <a:srgbClr val="03306E"/>
                </a:solidFill>
                <a:latin typeface="Calibri"/>
              </a:rPr>
              <a:t>Layer 3, network.</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is a CRC for?</a:t>
            </a:r>
          </a:p>
          <a:p>
            <a:r>
              <a:rPr sz="1800" b="1">
                <a:solidFill>
                  <a:srgbClr val="03306E"/>
                </a:solidFill>
                <a:latin typeface="Calibri"/>
              </a:rPr>
              <a:t>Detecting errors in transmitted data.</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Which protocol turns a domain name into an IP address?</a:t>
            </a:r>
          </a:p>
          <a:p>
            <a:r>
              <a:rPr sz="1800" b="1">
                <a:solidFill>
                  <a:srgbClr val="03306E"/>
                </a:solidFill>
                <a:latin typeface="Calibri"/>
              </a:rPr>
              <a:t>DNS.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What is latency?</a:t>
            </a:r>
          </a:p>
          <a:p>
            <a:r>
              <a:rPr sz="1800" b="1">
                <a:solidFill>
                  <a:srgbClr val="03306E"/>
                </a:solidFill>
                <a:latin typeface="Calibri"/>
              </a:rPr>
              <a:t>The delay before data arrives.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Trace an API call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Networks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Draw what happens when an app requests weather data from an API.</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Label the protocols used (DNS, HTTPS, TCP/IP).</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Show which OSI layers are involved.</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Suggest what the app should do if packets are lost.</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DNS lookup included</a:t>
            </a:r>
          </a:p>
          <a:p>
            <a:pPr marL="274320" indent="-274320">
              <a:spcAft>
                <a:spcPts val="810"/>
              </a:spcAft>
              <a:buClr>
                <a:srgbClr val="0645AD"/>
              </a:buClr>
              <a:buFont typeface="Arial"/>
              <a:buChar char="•"/>
            </a:pPr>
            <a:r>
              <a:rPr sz="1800" b="0">
                <a:solidFill>
                  <a:srgbClr val="202122"/>
                </a:solidFill>
                <a:latin typeface="Calibri"/>
              </a:rPr>
              <a:t>Layers in the right order</a:t>
            </a:r>
          </a:p>
          <a:p>
            <a:pPr marL="274320" indent="-274320">
              <a:spcAft>
                <a:spcPts val="810"/>
              </a:spcAft>
              <a:buClr>
                <a:srgbClr val="0645AD"/>
              </a:buClr>
              <a:buFont typeface="Arial"/>
              <a:buChar char="•"/>
            </a:pPr>
            <a:r>
              <a:rPr sz="1800" b="0">
                <a:solidFill>
                  <a:srgbClr val="202122"/>
                </a:solidFill>
                <a:latin typeface="Calibri"/>
              </a:rPr>
              <a:t>Sensible error handling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use HTTPS for an API?</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packet switching?</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Give one benefit of client-server networks.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Business Context, Data, Digital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Networks</dc:title>
  <dc:subject>Digital Software Development T Level: Core Paper 2</dc:subject>
  <dc:creator>Samuel O'Connell</dc:creator>
  <cp:keywords>T Level; Digital Software Development; lesson slides; 7.3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