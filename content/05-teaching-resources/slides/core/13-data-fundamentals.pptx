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Context.</a:t>
            </a:r>
          </a:p>
          <a:p>
            <a:r>
              <a:t>2. Understanding applied to information to make decisions.</a:t>
            </a:r>
          </a:p>
          <a:p>
            <a:r>
              <a:t>3.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Discrete.</a:t>
            </a:r>
          </a:p>
          <a:p>
            <a:r>
              <a:t>2. Qualitative.</a:t>
            </a:r>
          </a:p>
          <a:p>
            <a:r>
              <a:t>3. By codifying it, e.g. tagging.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JSON.</a:t>
            </a:r>
          </a:p>
          <a:p>
            <a:r>
              <a:t>2. It supports characters from every language.</a:t>
            </a:r>
          </a:p>
          <a:p>
            <a:r>
              <a:t>3. A binary large object, such as an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Data Fundamentals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6.1 to 6.6</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Distinguish between data, information and knowledge.</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sources of data and how organisations use it.</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Classify data and choose suitable data types and formats.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structures for storing data.</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'15, 22, 9'. Is that data or information? What would make it useful?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information and knowledge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Data is raw facts with no context, such as 15, 22, 9.</a:t>
            </a:r>
          </a:p>
          <a:p>
            <a:pPr>
              <a:spcAft>
                <a:spcPts val="1320"/>
              </a:spcAft>
            </a:pPr>
            <a:r>
              <a:rPr sz="2200" b="1">
                <a:solidFill>
                  <a:srgbClr val="202122"/>
                </a:solidFill>
                <a:latin typeface="Calibri"/>
              </a:rPr>
              <a:t>Information is data with context:</a:t>
            </a:r>
            <a:r>
              <a:rPr sz="2200" b="0">
                <a:solidFill>
                  <a:srgbClr val="202122"/>
                </a:solidFill>
                <a:latin typeface="Calibri"/>
              </a:rPr>
              <a:t> 'minutes each user spent in the app today'.</a:t>
            </a:r>
          </a:p>
          <a:p>
            <a:pPr>
              <a:spcAft>
                <a:spcPts val="1320"/>
              </a:spcAft>
            </a:pPr>
            <a:r>
              <a:rPr sz="2200" b="0">
                <a:solidFill>
                  <a:srgbClr val="202122"/>
                </a:solidFill>
                <a:latin typeface="Calibri"/>
              </a:rPr>
              <a:t>Knowledge is understanding applied to information to make decisions: 'users drop off after 10 minutes, so simplify the menu'.</a:t>
            </a:r>
          </a:p>
          <a:p>
            <a:pPr>
              <a:spcAft>
                <a:spcPts val="1320"/>
              </a:spcAft>
            </a:pPr>
            <a:r>
              <a:rPr sz="2200" b="0">
                <a:solidFill>
                  <a:srgbClr val="202122"/>
                </a:solidFill>
                <a:latin typeface="Calibri"/>
              </a:rPr>
              <a:t>Apps collect data so it can become information and, eventually, knowledge that improves the product.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Data: 3, 3, 3 taps. Information: users tap 'Back' three times to find settings. Knowledge: move settings to the home screen.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information and knowledge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ectangle 5"/>
          <p:cNvSpPr/>
          <p:nvPr/>
        </p:nvSpPr>
        <p:spPr>
          <a:xfrm>
            <a:off x="2351989" y="2793492"/>
            <a:ext cx="748771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031949"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3606698" cy="731520"/>
          </a:xfrm>
          <a:prstGeom prst="rect">
            <a:avLst/>
          </a:prstGeom>
          <a:noFill/>
        </p:spPr>
        <p:txBody>
          <a:bodyPr wrap="square" anchor="t" lIns="0" rIns="0" tIns="0" bIns="0"/>
          <a:lstStyle/>
          <a:p>
            <a:pPr algn="ctr"/>
            <a:r>
              <a:rPr sz="1700" b="1" i="0">
                <a:solidFill>
                  <a:srgbClr val="03306E"/>
                </a:solidFill>
                <a:latin typeface="Calibri"/>
              </a:rPr>
              <a:t>Data</a:t>
            </a:r>
          </a:p>
        </p:txBody>
      </p:sp>
      <p:sp>
        <p:nvSpPr>
          <p:cNvPr id="9" name="Rounded Rectangle 8"/>
          <p:cNvSpPr/>
          <p:nvPr/>
        </p:nvSpPr>
        <p:spPr>
          <a:xfrm>
            <a:off x="548640" y="404622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3332378" cy="960119"/>
          </a:xfrm>
          <a:prstGeom prst="rect">
            <a:avLst/>
          </a:prstGeom>
          <a:noFill/>
        </p:spPr>
        <p:txBody>
          <a:bodyPr wrap="square" anchor="t" lIns="0" rIns="0" tIns="0" bIns="0"/>
          <a:lstStyle/>
          <a:p>
            <a:pPr algn="l"/>
            <a:r>
              <a:rPr sz="1800" b="0" i="0">
                <a:solidFill>
                  <a:srgbClr val="202122"/>
                </a:solidFill>
                <a:latin typeface="Calibri"/>
              </a:rPr>
              <a:t>Raw facts with no context: 15, 22, 9</a:t>
            </a:r>
          </a:p>
        </p:txBody>
      </p:sp>
      <p:sp>
        <p:nvSpPr>
          <p:cNvPr id="11" name="Oval 10"/>
          <p:cNvSpPr/>
          <p:nvPr/>
        </p:nvSpPr>
        <p:spPr>
          <a:xfrm>
            <a:off x="5775807"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4292498" y="3268979"/>
            <a:ext cx="3606698" cy="731520"/>
          </a:xfrm>
          <a:prstGeom prst="rect">
            <a:avLst/>
          </a:prstGeom>
          <a:noFill/>
        </p:spPr>
        <p:txBody>
          <a:bodyPr wrap="square" anchor="t" lIns="0" rIns="0" tIns="0" bIns="0"/>
          <a:lstStyle/>
          <a:p>
            <a:pPr algn="ctr"/>
            <a:r>
              <a:rPr sz="1700" b="1" i="0">
                <a:solidFill>
                  <a:srgbClr val="03306E"/>
                </a:solidFill>
                <a:latin typeface="Calibri"/>
              </a:rPr>
              <a:t>Information</a:t>
            </a:r>
          </a:p>
        </p:txBody>
      </p:sp>
      <p:sp>
        <p:nvSpPr>
          <p:cNvPr id="13" name="Rounded Rectangle 12"/>
          <p:cNvSpPr/>
          <p:nvPr/>
        </p:nvSpPr>
        <p:spPr>
          <a:xfrm>
            <a:off x="4292498" y="404622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29658" y="4183380"/>
            <a:ext cx="3332378" cy="960119"/>
          </a:xfrm>
          <a:prstGeom prst="rect">
            <a:avLst/>
          </a:prstGeom>
          <a:noFill/>
        </p:spPr>
        <p:txBody>
          <a:bodyPr wrap="square" anchor="t" lIns="0" rIns="0" tIns="0" bIns="0"/>
          <a:lstStyle/>
          <a:p>
            <a:pPr algn="l"/>
            <a:r>
              <a:rPr sz="1800" b="0" i="0">
                <a:solidFill>
                  <a:srgbClr val="202122"/>
                </a:solidFill>
                <a:latin typeface="Calibri"/>
              </a:rPr>
              <a:t>Data with context: minutes each user spent in the app today</a:t>
            </a:r>
          </a:p>
        </p:txBody>
      </p:sp>
      <p:sp>
        <p:nvSpPr>
          <p:cNvPr id="15" name="Oval 14"/>
          <p:cNvSpPr/>
          <p:nvPr/>
        </p:nvSpPr>
        <p:spPr>
          <a:xfrm>
            <a:off x="9519666" y="249174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8036356" y="3268979"/>
            <a:ext cx="3606698" cy="731520"/>
          </a:xfrm>
          <a:prstGeom prst="rect">
            <a:avLst/>
          </a:prstGeom>
          <a:noFill/>
        </p:spPr>
        <p:txBody>
          <a:bodyPr wrap="square" anchor="t" lIns="0" rIns="0" tIns="0" bIns="0"/>
          <a:lstStyle/>
          <a:p>
            <a:pPr algn="ctr"/>
            <a:r>
              <a:rPr sz="1700" b="1" i="0">
                <a:solidFill>
                  <a:srgbClr val="03306E"/>
                </a:solidFill>
                <a:latin typeface="Calibri"/>
              </a:rPr>
              <a:t>Knowledge</a:t>
            </a:r>
          </a:p>
        </p:txBody>
      </p:sp>
      <p:sp>
        <p:nvSpPr>
          <p:cNvPr id="17" name="Rounded Rectangle 16"/>
          <p:cNvSpPr/>
          <p:nvPr/>
        </p:nvSpPr>
        <p:spPr>
          <a:xfrm>
            <a:off x="8036356" y="4046220"/>
            <a:ext cx="3606698"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73516" y="4183380"/>
            <a:ext cx="3332378" cy="960119"/>
          </a:xfrm>
          <a:prstGeom prst="rect">
            <a:avLst/>
          </a:prstGeom>
          <a:noFill/>
        </p:spPr>
        <p:txBody>
          <a:bodyPr wrap="square" anchor="t" lIns="0" rIns="0" tIns="0" bIns="0"/>
          <a:lstStyle/>
          <a:p>
            <a:pPr algn="l"/>
            <a:r>
              <a:rPr sz="1800" b="0" i="0">
                <a:solidFill>
                  <a:srgbClr val="202122"/>
                </a:solidFill>
                <a:latin typeface="Calibri"/>
              </a:rPr>
              <a:t>Understanding applied: users drop off after 10 minutes, so simplify the menu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information and knowledge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turns data into information?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knowledge?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Is '15, 22, 9' data or information?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Sources and uses of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Sources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Humans (forms), AI (beware feedback loops), sensors, IoT devices, transactions.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Value</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Judged on quantity, timeframe, source and veracity, used ethically.</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Uses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Pattern analysis, system performance, user monitoring, targeted marketing, threat assessment.</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Transforming data</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Manipulating, analysing and processing.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taxonomy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1">
                <a:solidFill>
                  <a:srgbClr val="202122"/>
                </a:solidFill>
                <a:latin typeface="Calibri"/>
              </a:rPr>
              <a:t>Quantitative data is structured:</a:t>
            </a:r>
            <a:r>
              <a:rPr sz="2200" b="0">
                <a:solidFill>
                  <a:srgbClr val="202122"/>
                </a:solidFill>
                <a:latin typeface="Calibri"/>
              </a:rPr>
              <a:t> numbers and categories that fit neatly in tables. It can be discrete (whole counts, like downloads), continuous (measurements, like response time) or categorical (fixed groups, like device type).</a:t>
            </a:r>
          </a:p>
          <a:p>
            <a:pPr>
              <a:spcAft>
                <a:spcPts val="1320"/>
              </a:spcAft>
            </a:pPr>
            <a:r>
              <a:rPr sz="2200" b="1">
                <a:solidFill>
                  <a:srgbClr val="202122"/>
                </a:solidFill>
                <a:latin typeface="Calibri"/>
              </a:rPr>
              <a:t>Qualitative data is unstructured:</a:t>
            </a:r>
            <a:r>
              <a:rPr sz="2200" b="0">
                <a:solidFill>
                  <a:srgbClr val="202122"/>
                </a:solidFill>
                <a:latin typeface="Calibri"/>
              </a:rPr>
              <a:t> free text, images, audio and video. It's stored as a whole object, or codified into structured data, for example by tagging reviews as positive or negative.</a:t>
            </a:r>
          </a:p>
          <a:p>
            <a:pPr>
              <a:spcAft>
                <a:spcPts val="1320"/>
              </a:spcAft>
            </a:pPr>
            <a:r>
              <a:rPr sz="2200" b="0">
                <a:solidFill>
                  <a:srgbClr val="202122"/>
                </a:solidFill>
                <a:latin typeface="Calibri"/>
              </a:rPr>
              <a:t>The type of data affects how you store, search and analyse it.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App store data: star rating (categorical), number of reviews (discrete), load time (continuous), review text (qualitative).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taxonomy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Quantitative (structured)</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Discrete:</a:t>
            </a:r>
            <a:r>
              <a:rPr sz="2200" b="0">
                <a:solidFill>
                  <a:srgbClr val="202122"/>
                </a:solidFill>
                <a:latin typeface="Calibri"/>
              </a:rPr>
              <a:t> whole counts</a:t>
            </a:r>
          </a:p>
          <a:p>
            <a:pPr marL="274320" indent="-274320">
              <a:spcAft>
                <a:spcPts val="990"/>
              </a:spcAft>
              <a:buClr>
                <a:srgbClr val="0645AD"/>
              </a:buClr>
              <a:buFont typeface="Arial"/>
              <a:buChar char="•"/>
            </a:pPr>
            <a:r>
              <a:rPr sz="2200" b="1">
                <a:solidFill>
                  <a:srgbClr val="202122"/>
                </a:solidFill>
                <a:latin typeface="Calibri"/>
              </a:rPr>
              <a:t>Continuous:</a:t>
            </a:r>
            <a:r>
              <a:rPr sz="2200" b="0">
                <a:solidFill>
                  <a:srgbClr val="202122"/>
                </a:solidFill>
                <a:latin typeface="Calibri"/>
              </a:rPr>
              <a:t> measured values</a:t>
            </a:r>
          </a:p>
          <a:p>
            <a:pPr marL="274320" indent="-274320">
              <a:spcAft>
                <a:spcPts val="990"/>
              </a:spcAft>
              <a:buClr>
                <a:srgbClr val="0645AD"/>
              </a:buClr>
              <a:buFont typeface="Arial"/>
              <a:buChar char="•"/>
            </a:pPr>
            <a:r>
              <a:rPr sz="2200" b="1">
                <a:solidFill>
                  <a:srgbClr val="202122"/>
                </a:solidFill>
                <a:latin typeface="Calibri"/>
              </a:rPr>
              <a:t>Categorical:</a:t>
            </a:r>
            <a:r>
              <a:rPr sz="2200" b="0">
                <a:solidFill>
                  <a:srgbClr val="202122"/>
                </a:solidFill>
                <a:latin typeface="Calibri"/>
              </a:rPr>
              <a:t> fixed groups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Qualitative (unstructured)</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Text, images, audio, video</a:t>
            </a:r>
          </a:p>
          <a:p>
            <a:pPr marL="274320" indent="-274320">
              <a:spcAft>
                <a:spcPts val="990"/>
              </a:spcAft>
              <a:buClr>
                <a:srgbClr val="0645AD"/>
              </a:buClr>
              <a:buFont typeface="Arial"/>
              <a:buChar char="•"/>
            </a:pPr>
            <a:r>
              <a:rPr sz="2200" b="0">
                <a:solidFill>
                  <a:srgbClr val="202122"/>
                </a:solidFill>
                <a:latin typeface="Calibri"/>
              </a:rPr>
              <a:t>Stored and retrieved as a single object</a:t>
            </a:r>
          </a:p>
          <a:p>
            <a:pPr marL="274320" indent="-274320">
              <a:spcAft>
                <a:spcPts val="990"/>
              </a:spcAft>
              <a:buClr>
                <a:srgbClr val="0645AD"/>
              </a:buClr>
              <a:buFont typeface="Arial"/>
              <a:buChar char="•"/>
            </a:pPr>
            <a:r>
              <a:rPr sz="2200" b="0">
                <a:solidFill>
                  <a:srgbClr val="202122"/>
                </a:solidFill>
                <a:latin typeface="Calibri"/>
              </a:rPr>
              <a:t>Or codified into structured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taxonomy</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'number of downloads' discrete or continuous?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Is a written review quantitative or qualitative?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can qualitative data be structured?</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types and formats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Data types include integer and real (numbers), character and string (text), Boolean (true or false), date, and Blob (binary objects such as images).</a:t>
            </a:r>
          </a:p>
          <a:p>
            <a:pPr>
              <a:spcAft>
                <a:spcPts val="1320"/>
              </a:spcAft>
            </a:pPr>
            <a:r>
              <a:rPr sz="2200" b="0">
                <a:solidFill>
                  <a:srgbClr val="202122"/>
                </a:solidFill>
                <a:latin typeface="Calibri"/>
              </a:rPr>
              <a:t>Data formats decide how data is saved or sent. CSV stores comma-separated values, one record per line. JSON stores key and value pairs and is the standard for web APIs. XML wraps data in named tags. Plain text suits logs. ASCII and UTF-8 are character encodings; UTF-8 supports every language, so it's used on the web.</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The same product as JSON: {"name": "Mug", "price": 6.5, "in_stock": true}. As CSV: Mug,6.5,True.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types and formats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5547207"/>
                <a:gridCol w="5547207"/>
              </a:tblGrid>
              <a:tr h="754380">
                <a:tc>
                  <a:txBody>
                    <a:bodyPr wrap="square"/>
                    <a:lstStyle/>
                    <a:p>
                      <a:r>
                        <a:rPr sz="1600" b="1">
                          <a:solidFill>
                            <a:srgbClr val="FFFFFF"/>
                          </a:solidFill>
                          <a:latin typeface="Calibri"/>
                        </a:rPr>
                        <a:t>Data types</a:t>
                      </a:r>
                    </a:p>
                  </a:txBody>
                  <a:tcPr marL="91440" marR="91440" anchor="ctr">
                    <a:solidFill>
                      <a:srgbClr val="03306E"/>
                    </a:solidFill>
                  </a:tcPr>
                </a:tc>
                <a:tc>
                  <a:txBody>
                    <a:bodyPr wrap="square"/>
                    <a:lstStyle/>
                    <a:p>
                      <a:r>
                        <a:rPr sz="1600" b="1">
                          <a:solidFill>
                            <a:srgbClr val="FFFFFF"/>
                          </a:solidFill>
                          <a:latin typeface="Calibri"/>
                        </a:rPr>
                        <a:t>Data formats</a:t>
                      </a:r>
                    </a:p>
                  </a:txBody>
                  <a:tcPr marL="91440" marR="91440" anchor="ctr">
                    <a:solidFill>
                      <a:srgbClr val="03306E"/>
                    </a:solidFill>
                  </a:tcPr>
                </a:tc>
              </a:tr>
              <a:tr h="754380">
                <a:tc>
                  <a:txBody>
                    <a:bodyPr wrap="square"/>
                    <a:lstStyle/>
                    <a:p>
                      <a:r>
                        <a:rPr sz="1600" b="1">
                          <a:solidFill>
                            <a:srgbClr val="03306E"/>
                          </a:solidFill>
                          <a:latin typeface="Calibri"/>
                        </a:rPr>
                        <a:t>Integer, real: numbers</a:t>
                      </a:r>
                    </a:p>
                  </a:txBody>
                  <a:tcPr marL="91440" marR="91440" anchor="ctr">
                    <a:solidFill>
                      <a:srgbClr val="FFFFFF"/>
                    </a:solidFill>
                  </a:tcPr>
                </a:tc>
                <a:tc>
                  <a:txBody>
                    <a:bodyPr wrap="square"/>
                    <a:lstStyle/>
                    <a:p>
                      <a:r>
                        <a:rPr sz="1600" b="0">
                          <a:solidFill>
                            <a:srgbClr val="202122"/>
                          </a:solidFill>
                          <a:latin typeface="Calibri"/>
                        </a:rPr>
                        <a:t>CSV: comma-separated values</a:t>
                      </a:r>
                    </a:p>
                  </a:txBody>
                  <a:tcPr marL="91440" marR="91440" anchor="ctr">
                    <a:solidFill>
                      <a:srgbClr val="FFFFFF"/>
                    </a:solidFill>
                  </a:tcPr>
                </a:tc>
              </a:tr>
              <a:tr h="754380">
                <a:tc>
                  <a:txBody>
                    <a:bodyPr wrap="square"/>
                    <a:lstStyle/>
                    <a:p>
                      <a:r>
                        <a:rPr sz="1600" b="1">
                          <a:solidFill>
                            <a:srgbClr val="03306E"/>
                          </a:solidFill>
                          <a:latin typeface="Calibri"/>
                        </a:rPr>
                        <a:t>Character, string: text</a:t>
                      </a:r>
                    </a:p>
                  </a:txBody>
                  <a:tcPr marL="91440" marR="91440" anchor="ctr">
                    <a:solidFill>
                      <a:srgbClr val="EAF3FF"/>
                    </a:solidFill>
                  </a:tcPr>
                </a:tc>
                <a:tc>
                  <a:txBody>
                    <a:bodyPr wrap="square"/>
                    <a:lstStyle/>
                    <a:p>
                      <a:r>
                        <a:rPr sz="1600" b="0">
                          <a:solidFill>
                            <a:srgbClr val="202122"/>
                          </a:solidFill>
                          <a:latin typeface="Calibri"/>
                        </a:rPr>
                        <a:t>JSON: key and value pairs for web APIs</a:t>
                      </a:r>
                    </a:p>
                  </a:txBody>
                  <a:tcPr marL="91440" marR="91440" anchor="ctr">
                    <a:solidFill>
                      <a:srgbClr val="EAF3FF"/>
                    </a:solidFill>
                  </a:tcPr>
                </a:tc>
              </a:tr>
              <a:tr h="754380">
                <a:tc>
                  <a:txBody>
                    <a:bodyPr wrap="square"/>
                    <a:lstStyle/>
                    <a:p>
                      <a:r>
                        <a:rPr sz="1600" b="1">
                          <a:solidFill>
                            <a:srgbClr val="03306E"/>
                          </a:solidFill>
                          <a:latin typeface="Calibri"/>
                        </a:rPr>
                        <a:t>Boolean: true or false</a:t>
                      </a:r>
                    </a:p>
                  </a:txBody>
                  <a:tcPr marL="91440" marR="91440" anchor="ctr">
                    <a:solidFill>
                      <a:srgbClr val="FFFFFF"/>
                    </a:solidFill>
                  </a:tcPr>
                </a:tc>
                <a:tc>
                  <a:txBody>
                    <a:bodyPr wrap="square"/>
                    <a:lstStyle/>
                    <a:p>
                      <a:r>
                        <a:rPr sz="1600" b="0">
                          <a:solidFill>
                            <a:srgbClr val="202122"/>
                          </a:solidFill>
                          <a:latin typeface="Calibri"/>
                        </a:rPr>
                        <a:t>XML: data in named tags</a:t>
                      </a:r>
                    </a:p>
                  </a:txBody>
                  <a:tcPr marL="91440" marR="91440" anchor="ctr">
                    <a:solidFill>
                      <a:srgbClr val="FFFFFF"/>
                    </a:solidFill>
                  </a:tcPr>
                </a:tc>
              </a:tr>
              <a:tr h="754380">
                <a:tc>
                  <a:txBody>
                    <a:bodyPr wrap="square"/>
                    <a:lstStyle/>
                    <a:p>
                      <a:r>
                        <a:rPr sz="1600" b="1">
                          <a:solidFill>
                            <a:srgbClr val="03306E"/>
                          </a:solidFill>
                          <a:latin typeface="Calibri"/>
                        </a:rPr>
                        <a:t>Date: calendar dates and times</a:t>
                      </a:r>
                    </a:p>
                  </a:txBody>
                  <a:tcPr marL="91440" marR="91440" anchor="ctr">
                    <a:solidFill>
                      <a:srgbClr val="EAF3FF"/>
                    </a:solidFill>
                  </a:tcPr>
                </a:tc>
                <a:tc>
                  <a:txBody>
                    <a:bodyPr wrap="square"/>
                    <a:lstStyle/>
                    <a:p>
                      <a:r>
                        <a:rPr sz="1600" b="0">
                          <a:solidFill>
                            <a:srgbClr val="202122"/>
                          </a:solidFill>
                          <a:latin typeface="Calibri"/>
                        </a:rPr>
                        <a:t>Text file: plain text</a:t>
                      </a:r>
                    </a:p>
                  </a:txBody>
                  <a:tcPr marL="91440" marR="91440" anchor="ctr">
                    <a:solidFill>
                      <a:srgbClr val="EAF3FF"/>
                    </a:solidFill>
                  </a:tcPr>
                </a:tc>
              </a:tr>
              <a:tr h="754380">
                <a:tc>
                  <a:txBody>
                    <a:bodyPr wrap="square"/>
                    <a:lstStyle/>
                    <a:p>
                      <a:r>
                        <a:rPr sz="1600" b="1">
                          <a:solidFill>
                            <a:srgbClr val="03306E"/>
                          </a:solidFill>
                          <a:latin typeface="Calibri"/>
                        </a:rPr>
                        <a:t>Blob: binary objects such as images</a:t>
                      </a:r>
                    </a:p>
                  </a:txBody>
                  <a:tcPr marL="91440" marR="91440" anchor="ctr">
                    <a:solidFill>
                      <a:srgbClr val="FFFFFF"/>
                    </a:solidFill>
                  </a:tcPr>
                </a:tc>
                <a:tc>
                  <a:txBody>
                    <a:bodyPr wrap="square"/>
                    <a:lstStyle/>
                    <a:p>
                      <a:r>
                        <a:rPr sz="1600" b="0">
                          <a:solidFill>
                            <a:srgbClr val="202122"/>
                          </a:solidFill>
                          <a:latin typeface="Calibri"/>
                        </a:rPr>
                        <a:t>ASCII and UTF-8: character encodings</a:t>
                      </a:r>
                    </a:p>
                  </a:txBody>
                  <a:tcPr marL="91440" marR="91440"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types and formats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format is used by most web APIs?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use UTF-8?</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Blob?</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Structures for storing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Metadata</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Data about data that gives it context.</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File based</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Data in individual files.</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Directory based</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Files organised into folders.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Hierarchy based</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Parent and child levels, like a tree.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turns data into information?</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Is 'number of downloads' discrete or continuous?</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Which format is common for web APIs?</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What does UTF-8 support that ASCII does not?</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is metadata?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What turns data into information?</a:t>
            </a:r>
          </a:p>
          <a:p>
            <a:r>
              <a:rPr sz="1800" b="1">
                <a:solidFill>
                  <a:srgbClr val="03306E"/>
                </a:solidFill>
                <a:latin typeface="Calibri"/>
              </a:rPr>
              <a:t>Context and meaning.</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Is 'number of downloads' discrete or continuous?</a:t>
            </a:r>
          </a:p>
          <a:p>
            <a:r>
              <a:rPr sz="1800" b="1">
                <a:solidFill>
                  <a:srgbClr val="03306E"/>
                </a:solidFill>
                <a:latin typeface="Calibri"/>
              </a:rPr>
              <a:t>Discrete.</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Which format is common for web APIs?</a:t>
            </a:r>
          </a:p>
          <a:p>
            <a:r>
              <a:rPr sz="1800" b="1">
                <a:solidFill>
                  <a:srgbClr val="03306E"/>
                </a:solidFill>
                <a:latin typeface="Calibri"/>
              </a:rPr>
              <a:t>JSON.</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What does UTF-8 support that ASCII does not?</a:t>
            </a:r>
          </a:p>
          <a:p>
            <a:r>
              <a:rPr sz="1800" b="1">
                <a:solidFill>
                  <a:srgbClr val="03306E"/>
                </a:solidFill>
                <a:latin typeface="Calibri"/>
              </a:rPr>
              <a:t>Characters from every language (Unicode).</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is metadata?</a:t>
            </a:r>
          </a:p>
          <a:p>
            <a:r>
              <a:rPr sz="1800" b="1">
                <a:solidFill>
                  <a:srgbClr val="03306E"/>
                </a:solidFill>
                <a:latin typeface="Calibri"/>
              </a:rPr>
              <a:t>Data describing other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CSV to JSON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Data Fundamentals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 in Python</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Create a CSV of five products: name, price, in stock.</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Read it in Python and convert each row to the right data types.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Output the same data as JSON using the json module.</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Explain which format suits which purpose.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Types converted correctly</a:t>
            </a:r>
          </a:p>
          <a:p>
            <a:pPr marL="274320" indent="-274320">
              <a:spcAft>
                <a:spcPts val="810"/>
              </a:spcAft>
              <a:buClr>
                <a:srgbClr val="0645AD"/>
              </a:buClr>
              <a:buFont typeface="Arial"/>
              <a:buChar char="•"/>
            </a:pPr>
            <a:r>
              <a:rPr sz="1800" b="0">
                <a:solidFill>
                  <a:srgbClr val="202122"/>
                </a:solidFill>
                <a:latin typeface="Calibri"/>
              </a:rPr>
              <a:t>Valid JSON output</a:t>
            </a:r>
          </a:p>
          <a:p>
            <a:pPr marL="274320" indent="-274320">
              <a:spcAft>
                <a:spcPts val="810"/>
              </a:spcAft>
              <a:buClr>
                <a:srgbClr val="0645AD"/>
              </a:buClr>
              <a:buFont typeface="Arial"/>
              <a:buChar char="•"/>
            </a:pPr>
            <a:r>
              <a:rPr sz="1800" b="0">
                <a:solidFill>
                  <a:srgbClr val="202122"/>
                </a:solidFill>
                <a:latin typeface="Calibri"/>
              </a:rPr>
              <a:t>Clear justification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Give an example of knowledge from app data.</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is AI-generated data risky?</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When would you choose XML over JSON?</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Business Context, Data, Digital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Fundamentals</dc:title>
  <dc:subject>Digital Software Development T Level: Core Paper 2</dc:subject>
  <dc:creator>Samuel O'Connell</dc:creator>
  <cp:keywords>T Level; Digital Software Development; lesson slides; 6.1 to 6.6</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