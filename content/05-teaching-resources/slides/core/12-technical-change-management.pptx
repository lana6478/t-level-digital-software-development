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Political, Economic, Social, Technological, Legal, Environmental.</a:t>
            </a:r>
          </a:p>
          <a:p>
            <a:r>
              <a:t>2. E.g. expansion, restructuring, a cyber attack.</a:t>
            </a:r>
          </a:p>
          <a:p>
            <a:r>
              <a:t>3. Technological.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SMARTER: specific, measurable, achievable, realistic, time-bound, evaluated, reviewed. Rollback needs a backup method, a backup location and a recovery plan.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Reviews, prioritises and approves change requests.</a:t>
            </a:r>
          </a:p>
          <a:p>
            <a:r>
              <a:t>2. To undo the change if it fails.</a:t>
            </a:r>
          </a:p>
          <a:p>
            <a:r>
              <a:t>3. Tracks every change and lets you return to earlier versions.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a:t>
            </a:r>
          </a:p>
          <a:p>
            <a:r>
              <a:t>1. Direct.</a:t>
            </a:r>
          </a:p>
          <a:p>
            <a:r>
              <a:t>2. Parallel.</a:t>
            </a:r>
          </a:p>
          <a:p>
            <a:r>
              <a:t>3. One team or site uses the system first.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answer on mini whiteboards or paper, then reveal the answers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Talk through any answers the class found difficult.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answer on a sticky note or in the chat before leaving.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Oval 1"/>
          <p:cNvSpPr/>
          <p:nvPr/>
        </p:nvSpPr>
        <p:spPr>
          <a:xfrm>
            <a:off x="8595360" y="1005840"/>
            <a:ext cx="3291840" cy="3291840"/>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00400"/>
            <a:ext cx="2377440" cy="23774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Oval 3"/>
          <p:cNvSpPr/>
          <p:nvPr/>
        </p:nvSpPr>
        <p:spPr>
          <a:xfrm>
            <a:off x="8138160" y="4023360"/>
            <a:ext cx="1371600" cy="1371600"/>
          </a:xfrm>
          <a:prstGeom prst="ellipse">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914400"/>
            <a:ext cx="7315200" cy="365760"/>
          </a:xfrm>
          <a:prstGeom prst="rect">
            <a:avLst/>
          </a:prstGeom>
          <a:noFill/>
        </p:spPr>
        <p:txBody>
          <a:bodyPr wrap="square" anchor="t" lIns="0" rIns="0" tIns="0" bIns="0"/>
          <a:lstStyle/>
          <a:p>
            <a:pPr algn="l"/>
            <a:r>
              <a:rPr sz="1400" b="1" i="0">
                <a:solidFill>
                  <a:srgbClr val="F2B705"/>
                </a:solidFill>
                <a:latin typeface="Calibri"/>
              </a:rPr>
              <a:t>CORE COMPONENT</a:t>
            </a:r>
          </a:p>
        </p:txBody>
      </p:sp>
      <p:sp>
        <p:nvSpPr>
          <p:cNvPr id="6" name="TextBox 5"/>
          <p:cNvSpPr txBox="1"/>
          <p:nvPr/>
        </p:nvSpPr>
        <p:spPr>
          <a:xfrm>
            <a:off x="548640" y="1371600"/>
            <a:ext cx="7315200" cy="2286000"/>
          </a:xfrm>
          <a:prstGeom prst="rect">
            <a:avLst/>
          </a:prstGeom>
          <a:noFill/>
        </p:spPr>
        <p:txBody>
          <a:bodyPr wrap="square" anchor="b" lIns="0" rIns="0" tIns="0" bIns="0"/>
          <a:lstStyle/>
          <a:p>
            <a:pPr algn="l"/>
            <a:r>
              <a:rPr sz="4400" b="1" i="0">
                <a:solidFill>
                  <a:srgbClr val="FFFFFF"/>
                </a:solidFill>
                <a:latin typeface="Cambria"/>
              </a:rPr>
              <a:t>Technical Change Management</a:t>
            </a:r>
          </a:p>
        </p:txBody>
      </p:sp>
      <p:sp>
        <p:nvSpPr>
          <p:cNvPr id="7" name="TextBox 6"/>
          <p:cNvSpPr txBox="1"/>
          <p:nvPr/>
        </p:nvSpPr>
        <p:spPr>
          <a:xfrm>
            <a:off x="548640" y="3840480"/>
            <a:ext cx="7315200" cy="457200"/>
          </a:xfrm>
          <a:prstGeom prst="rect">
            <a:avLst/>
          </a:prstGeom>
          <a:noFill/>
        </p:spPr>
        <p:txBody>
          <a:bodyPr wrap="square" anchor="t" lIns="0" rIns="0" tIns="0" bIns="0"/>
          <a:lstStyle/>
          <a:p>
            <a:pPr algn="l"/>
            <a:r>
              <a:rPr sz="1800" b="0" i="0">
                <a:solidFill>
                  <a:srgbClr val="A9C8F0"/>
                </a:solidFill>
                <a:latin typeface="Calibri"/>
              </a:rPr>
              <a:t>Core Paper 2</a:t>
            </a:r>
          </a:p>
        </p:txBody>
      </p:sp>
      <p:sp>
        <p:nvSpPr>
          <p:cNvPr id="8" name="TextBox 7"/>
          <p:cNvSpPr txBox="1"/>
          <p:nvPr/>
        </p:nvSpPr>
        <p:spPr>
          <a:xfrm>
            <a:off x="548640" y="4297680"/>
            <a:ext cx="7315200" cy="457200"/>
          </a:xfrm>
          <a:prstGeom prst="rect">
            <a:avLst/>
          </a:prstGeom>
          <a:noFill/>
        </p:spPr>
        <p:txBody>
          <a:bodyPr wrap="square" anchor="t" lIns="0" rIns="0" tIns="0" bIns="0"/>
          <a:lstStyle/>
          <a:p>
            <a:pPr algn="l"/>
            <a:r>
              <a:rPr sz="1400" b="0" i="0">
                <a:solidFill>
                  <a:srgbClr val="A9C8F0"/>
                </a:solidFill>
                <a:latin typeface="Calibri"/>
              </a:rPr>
              <a:t>Specification reference: 5.4</a:t>
            </a:r>
          </a:p>
        </p:txBody>
      </p:sp>
      <p:sp>
        <p:nvSpPr>
          <p:cNvPr id="9" name="TextBox 8"/>
          <p:cNvSpPr txBox="1"/>
          <p:nvPr/>
        </p:nvSpPr>
        <p:spPr>
          <a:xfrm>
            <a:off x="548640" y="5760720"/>
            <a:ext cx="7498079" cy="640080"/>
          </a:xfrm>
          <a:prstGeom prst="rect">
            <a:avLst/>
          </a:prstGeom>
          <a:noFill/>
        </p:spPr>
        <p:txBody>
          <a:bodyPr wrap="square" anchor="t" lIns="0" rIns="0" tIns="0" bIns="0"/>
          <a:lstStyle/>
          <a:p>
            <a:pPr algn="l"/>
            <a:r>
              <a:rPr sz="1100" b="0" i="0">
                <a:solidFill>
                  <a:srgbClr val="A9C8F0"/>
                </a:solidFill>
                <a:latin typeface="Calibri"/>
              </a:rPr>
              <a:t>Digital Software Development T Level  ·  Lesson slides</a:t>
            </a:r>
          </a:p>
          <a:p>
            <a:pPr algn="l"/>
            <a:r>
              <a:rPr sz="1100" b="0" i="0">
                <a:solidFill>
                  <a:srgbClr val="A9C8F0"/>
                </a:solidFill>
                <a:latin typeface="Calibri"/>
              </a:rPr>
              <a:t>Unofficial teaching resource. Check the official Pearson specification for assessment detail.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Learning objectives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2</a:t>
            </a:r>
          </a:p>
        </p:txBody>
      </p:sp>
      <p:sp>
        <p:nvSpPr>
          <p:cNvPr id="6" name="TextBox 5"/>
          <p:cNvSpPr txBox="1"/>
          <p:nvPr/>
        </p:nvSpPr>
        <p:spPr>
          <a:xfrm>
            <a:off x="548640" y="1508760"/>
            <a:ext cx="6766560" cy="365760"/>
          </a:xfrm>
          <a:prstGeom prst="rect">
            <a:avLst/>
          </a:prstGeom>
          <a:noFill/>
        </p:spPr>
        <p:txBody>
          <a:bodyPr wrap="square" anchor="t" lIns="0" rIns="0" tIns="0" bIns="0"/>
          <a:lstStyle/>
          <a:p>
            <a:pPr algn="l"/>
            <a:r>
              <a:rPr sz="1600" b="0" i="1">
                <a:solidFill>
                  <a:srgbClr val="54595D"/>
                </a:solidFill>
                <a:latin typeface="Calibri"/>
              </a:rPr>
              <a:t>By the end of this lesson you should be able to:</a:t>
            </a:r>
          </a:p>
        </p:txBody>
      </p:sp>
      <p:sp>
        <p:nvSpPr>
          <p:cNvPr id="7" name="Oval 6"/>
          <p:cNvSpPr/>
          <p:nvPr/>
        </p:nvSpPr>
        <p:spPr>
          <a:xfrm>
            <a:off x="548640" y="223456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8" name="TextBox 7"/>
          <p:cNvSpPr txBox="1"/>
          <p:nvPr/>
        </p:nvSpPr>
        <p:spPr>
          <a:xfrm>
            <a:off x="1234440" y="2011680"/>
            <a:ext cx="6035040" cy="902969"/>
          </a:xfrm>
          <a:prstGeom prst="rect">
            <a:avLst/>
          </a:prstGeom>
          <a:noFill/>
        </p:spPr>
        <p:txBody>
          <a:bodyPr wrap="square" anchor="ctr" lIns="0" rIns="0" tIns="0" bIns="0"/>
          <a:lstStyle/>
          <a:p>
            <a:pPr algn="l"/>
            <a:r>
              <a:rPr sz="2000" b="0" i="0">
                <a:solidFill>
                  <a:srgbClr val="202122"/>
                </a:solidFill>
                <a:latin typeface="Calibri"/>
              </a:rPr>
              <a:t>Identify internal and external triggers for change.</a:t>
            </a:r>
          </a:p>
        </p:txBody>
      </p:sp>
      <p:sp>
        <p:nvSpPr>
          <p:cNvPr id="9" name="Oval 8"/>
          <p:cNvSpPr/>
          <p:nvPr/>
        </p:nvSpPr>
        <p:spPr>
          <a:xfrm>
            <a:off x="548640" y="327469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10" name="TextBox 9"/>
          <p:cNvSpPr txBox="1"/>
          <p:nvPr/>
        </p:nvSpPr>
        <p:spPr>
          <a:xfrm>
            <a:off x="1234440" y="3051810"/>
            <a:ext cx="6035040" cy="902969"/>
          </a:xfrm>
          <a:prstGeom prst="rect">
            <a:avLst/>
          </a:prstGeom>
          <a:noFill/>
        </p:spPr>
        <p:txBody>
          <a:bodyPr wrap="square" anchor="ctr" lIns="0" rIns="0" tIns="0" bIns="0"/>
          <a:lstStyle/>
          <a:p>
            <a:pPr algn="l"/>
            <a:r>
              <a:rPr sz="2000" b="0" i="0">
                <a:solidFill>
                  <a:srgbClr val="202122"/>
                </a:solidFill>
                <a:latin typeface="Calibri"/>
              </a:rPr>
              <a:t>Explain the change management process and the role of the CAB.</a:t>
            </a:r>
          </a:p>
        </p:txBody>
      </p:sp>
      <p:sp>
        <p:nvSpPr>
          <p:cNvPr id="11" name="Oval 10"/>
          <p:cNvSpPr/>
          <p:nvPr/>
        </p:nvSpPr>
        <p:spPr>
          <a:xfrm>
            <a:off x="548640" y="4314825"/>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2" name="TextBox 11"/>
          <p:cNvSpPr txBox="1"/>
          <p:nvPr/>
        </p:nvSpPr>
        <p:spPr>
          <a:xfrm>
            <a:off x="1234440" y="4091939"/>
            <a:ext cx="6035040" cy="902969"/>
          </a:xfrm>
          <a:prstGeom prst="rect">
            <a:avLst/>
          </a:prstGeom>
          <a:noFill/>
        </p:spPr>
        <p:txBody>
          <a:bodyPr wrap="square" anchor="ctr" lIns="0" rIns="0" tIns="0" bIns="0"/>
          <a:lstStyle/>
          <a:p>
            <a:pPr algn="l"/>
            <a:r>
              <a:rPr sz="2000" b="0" i="0">
                <a:solidFill>
                  <a:srgbClr val="202122"/>
                </a:solidFill>
                <a:latin typeface="Calibri"/>
              </a:rPr>
              <a:t>Compare implementation methods and plan for rollback.</a:t>
            </a:r>
          </a:p>
        </p:txBody>
      </p:sp>
      <p:sp>
        <p:nvSpPr>
          <p:cNvPr id="13" name="Oval 12"/>
          <p:cNvSpPr/>
          <p:nvPr/>
        </p:nvSpPr>
        <p:spPr>
          <a:xfrm>
            <a:off x="548640" y="5354954"/>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4</a:t>
            </a:r>
          </a:p>
        </p:txBody>
      </p:sp>
      <p:sp>
        <p:nvSpPr>
          <p:cNvPr id="14" name="TextBox 13"/>
          <p:cNvSpPr txBox="1"/>
          <p:nvPr/>
        </p:nvSpPr>
        <p:spPr>
          <a:xfrm>
            <a:off x="1234440" y="5132069"/>
            <a:ext cx="6035040" cy="902969"/>
          </a:xfrm>
          <a:prstGeom prst="rect">
            <a:avLst/>
          </a:prstGeom>
          <a:noFill/>
        </p:spPr>
        <p:txBody>
          <a:bodyPr wrap="square" anchor="ctr" lIns="0" rIns="0" tIns="0" bIns="0"/>
          <a:lstStyle/>
          <a:p>
            <a:pPr algn="l"/>
            <a:r>
              <a:rPr sz="2000" b="0" i="0">
                <a:solidFill>
                  <a:srgbClr val="202122"/>
                </a:solidFill>
                <a:latin typeface="Calibri"/>
              </a:rPr>
              <a:t>Assess the feasibility of a digital project.</a:t>
            </a:r>
          </a:p>
        </p:txBody>
      </p:sp>
      <p:sp>
        <p:nvSpPr>
          <p:cNvPr id="15" name="Rounded Rectangle 14"/>
          <p:cNvSpPr/>
          <p:nvPr/>
        </p:nvSpPr>
        <p:spPr>
          <a:xfrm>
            <a:off x="7772400" y="1508760"/>
            <a:ext cx="3867912" cy="452628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STARTER</a:t>
            </a:r>
          </a:p>
        </p:txBody>
      </p:sp>
      <p:sp>
        <p:nvSpPr>
          <p:cNvPr id="17" name="TextBox 16"/>
          <p:cNvSpPr txBox="1"/>
          <p:nvPr/>
        </p:nvSpPr>
        <p:spPr>
          <a:xfrm>
            <a:off x="8046720" y="2194560"/>
            <a:ext cx="3291840" cy="3657600"/>
          </a:xfrm>
          <a:prstGeom prst="rect">
            <a:avLst/>
          </a:prstGeom>
          <a:noFill/>
        </p:spPr>
        <p:txBody>
          <a:bodyPr wrap="square" anchor="t" lIns="0" rIns="0" tIns="0" bIns="0"/>
          <a:lstStyle/>
          <a:p>
            <a:pPr algn="l"/>
            <a:r>
              <a:rPr sz="2200" b="0" i="0">
                <a:solidFill>
                  <a:srgbClr val="03306E"/>
                </a:solidFill>
                <a:latin typeface="Cambria"/>
              </a:rPr>
              <a:t>Your school switches to a new online homework system overnight. What could go wrong?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Triggers for change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3</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Organisations change their systems when something pushes them.</a:t>
            </a:r>
          </a:p>
          <a:p>
            <a:pPr>
              <a:spcAft>
                <a:spcPts val="1320"/>
              </a:spcAft>
            </a:pPr>
            <a:r>
              <a:rPr sz="2200" b="0">
                <a:solidFill>
                  <a:srgbClr val="202122"/>
                </a:solidFill>
                <a:latin typeface="Calibri"/>
              </a:rPr>
              <a:t>Internal triggers include restructuring, expansion or downsizing, new strategic objectives, and crises such as a cyber attack.</a:t>
            </a:r>
          </a:p>
          <a:p>
            <a:pPr>
              <a:spcAft>
                <a:spcPts val="1320"/>
              </a:spcAft>
            </a:pPr>
            <a:r>
              <a:rPr sz="2200" b="0">
                <a:solidFill>
                  <a:srgbClr val="202122"/>
                </a:solidFill>
                <a:latin typeface="Calibri"/>
              </a:rPr>
              <a:t>External triggers are summed up by PESTLE: Political (new government policy), Economic (recession, competitors), Social (trends such as remote working), Technological (new technology, zero-day vulnerabilities), Legal (new laws) and Environmental (sustainability targets).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New accessibility regulations (legal) force a council to redesign its online forms.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Triggers for change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4</a:t>
            </a:r>
          </a:p>
        </p:txBody>
      </p:sp>
      <p:sp>
        <p:nvSpPr>
          <p:cNvPr id="6" name="Rounded Rectangle 5"/>
          <p:cNvSpPr/>
          <p:nvPr/>
        </p:nvSpPr>
        <p:spPr>
          <a:xfrm>
            <a:off x="548640" y="1600200"/>
            <a:ext cx="5364327" cy="640080"/>
          </a:xfrm>
          <a:prstGeom prst="roundRect">
            <a:avLst>
              <a:gd name="adj" fmla="val 15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77240" y="1600200"/>
            <a:ext cx="4907127" cy="640080"/>
          </a:xfrm>
          <a:prstGeom prst="rect">
            <a:avLst/>
          </a:prstGeom>
          <a:noFill/>
        </p:spPr>
        <p:txBody>
          <a:bodyPr wrap="square" anchor="ctr" lIns="0" rIns="0" tIns="0" bIns="0"/>
          <a:lstStyle/>
          <a:p>
            <a:pPr algn="l"/>
            <a:r>
              <a:rPr sz="2000" b="1" i="0">
                <a:solidFill>
                  <a:srgbClr val="FFFFFF"/>
                </a:solidFill>
                <a:latin typeface="Calibri"/>
              </a:rPr>
              <a:t>Internal</a:t>
            </a:r>
          </a:p>
        </p:txBody>
      </p:sp>
      <p:sp>
        <p:nvSpPr>
          <p:cNvPr id="8" name="Rounded Rectangle 7"/>
          <p:cNvSpPr/>
          <p:nvPr/>
        </p:nvSpPr>
        <p:spPr>
          <a:xfrm>
            <a:off x="548640"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59"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0">
                <a:solidFill>
                  <a:srgbClr val="202122"/>
                </a:solidFill>
                <a:latin typeface="Calibri"/>
              </a:rPr>
              <a:t>Restructuring, expansion or downsizing</a:t>
            </a:r>
          </a:p>
          <a:p>
            <a:pPr marL="274320" indent="-274320">
              <a:spcAft>
                <a:spcPts val="990"/>
              </a:spcAft>
              <a:buClr>
                <a:srgbClr val="0645AD"/>
              </a:buClr>
              <a:buFont typeface="Arial"/>
              <a:buChar char="•"/>
            </a:pPr>
            <a:r>
              <a:rPr sz="2200" b="0">
                <a:solidFill>
                  <a:srgbClr val="202122"/>
                </a:solidFill>
                <a:latin typeface="Calibri"/>
              </a:rPr>
              <a:t>New strategic objectives</a:t>
            </a:r>
          </a:p>
          <a:p>
            <a:pPr marL="274320" indent="-274320">
              <a:spcAft>
                <a:spcPts val="990"/>
              </a:spcAft>
              <a:buClr>
                <a:srgbClr val="0645AD"/>
              </a:buClr>
              <a:buFont typeface="Arial"/>
              <a:buChar char="•"/>
            </a:pPr>
            <a:r>
              <a:rPr sz="2200" b="0">
                <a:solidFill>
                  <a:srgbClr val="202122"/>
                </a:solidFill>
                <a:latin typeface="Calibri"/>
              </a:rPr>
              <a:t>Crises and system failures</a:t>
            </a:r>
          </a:p>
        </p:txBody>
      </p:sp>
      <p:sp>
        <p:nvSpPr>
          <p:cNvPr id="10" name="Rounded Rectangle 9"/>
          <p:cNvSpPr/>
          <p:nvPr/>
        </p:nvSpPr>
        <p:spPr>
          <a:xfrm>
            <a:off x="6278727" y="1600200"/>
            <a:ext cx="5364327" cy="640080"/>
          </a:xfrm>
          <a:prstGeom prst="roundRect">
            <a:avLst>
              <a:gd name="adj" fmla="val 15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07327" y="1600200"/>
            <a:ext cx="4907127" cy="640080"/>
          </a:xfrm>
          <a:prstGeom prst="rect">
            <a:avLst/>
          </a:prstGeom>
          <a:noFill/>
        </p:spPr>
        <p:txBody>
          <a:bodyPr wrap="square" anchor="ctr" lIns="0" rIns="0" tIns="0" bIns="0"/>
          <a:lstStyle/>
          <a:p>
            <a:pPr algn="l"/>
            <a:r>
              <a:rPr sz="2000" b="1" i="0">
                <a:solidFill>
                  <a:srgbClr val="FFFFFF"/>
                </a:solidFill>
                <a:latin typeface="Calibri"/>
              </a:rPr>
              <a:t>External (PESTLE)</a:t>
            </a:r>
          </a:p>
        </p:txBody>
      </p:sp>
      <p:sp>
        <p:nvSpPr>
          <p:cNvPr id="12" name="Rounded Rectangle 11"/>
          <p:cNvSpPr/>
          <p:nvPr/>
        </p:nvSpPr>
        <p:spPr>
          <a:xfrm>
            <a:off x="6278727" y="2377440"/>
            <a:ext cx="5364327" cy="3794760"/>
          </a:xfrm>
          <a:prstGeom prst="roundRect">
            <a:avLst>
              <a:gd name="adj" fmla="val 4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553047" y="2606040"/>
            <a:ext cx="4815687" cy="3337560"/>
          </a:xfrm>
          <a:prstGeom prst="rect">
            <a:avLst/>
          </a:prstGeom>
          <a:noFill/>
        </p:spPr>
        <p:txBody>
          <a:bodyPr wrap="square" lIns="0" rIns="0" tIns="0" bIns="0">
            <a:spAutoFit/>
          </a:bodyPr>
          <a:lstStyle/>
          <a:p>
            <a:pPr marL="274320" indent="-274320">
              <a:spcAft>
                <a:spcPts val="990"/>
              </a:spcAft>
              <a:buClr>
                <a:srgbClr val="0645AD"/>
              </a:buClr>
              <a:buFont typeface="Arial"/>
              <a:buChar char="•"/>
            </a:pPr>
            <a:r>
              <a:rPr sz="2200" b="1">
                <a:solidFill>
                  <a:srgbClr val="202122"/>
                </a:solidFill>
                <a:latin typeface="Calibri"/>
              </a:rPr>
              <a:t>Political and legal:</a:t>
            </a:r>
            <a:r>
              <a:rPr sz="2200" b="0">
                <a:solidFill>
                  <a:srgbClr val="202122"/>
                </a:solidFill>
                <a:latin typeface="Calibri"/>
              </a:rPr>
              <a:t> new laws</a:t>
            </a:r>
          </a:p>
          <a:p>
            <a:pPr marL="274320" indent="-274320">
              <a:spcAft>
                <a:spcPts val="990"/>
              </a:spcAft>
              <a:buClr>
                <a:srgbClr val="0645AD"/>
              </a:buClr>
              <a:buFont typeface="Arial"/>
              <a:buChar char="•"/>
            </a:pPr>
            <a:r>
              <a:rPr sz="2200" b="1">
                <a:solidFill>
                  <a:srgbClr val="202122"/>
                </a:solidFill>
                <a:latin typeface="Calibri"/>
              </a:rPr>
              <a:t>Economic:</a:t>
            </a:r>
            <a:r>
              <a:rPr sz="2200" b="0">
                <a:solidFill>
                  <a:srgbClr val="202122"/>
                </a:solidFill>
                <a:latin typeface="Calibri"/>
              </a:rPr>
              <a:t> recession, competitors</a:t>
            </a:r>
          </a:p>
          <a:p>
            <a:pPr marL="274320" indent="-274320">
              <a:spcAft>
                <a:spcPts val="990"/>
              </a:spcAft>
              <a:buClr>
                <a:srgbClr val="0645AD"/>
              </a:buClr>
              <a:buFont typeface="Arial"/>
              <a:buChar char="•"/>
            </a:pPr>
            <a:r>
              <a:rPr sz="2200" b="1">
                <a:solidFill>
                  <a:srgbClr val="202122"/>
                </a:solidFill>
                <a:latin typeface="Calibri"/>
              </a:rPr>
              <a:t>Social:</a:t>
            </a:r>
            <a:r>
              <a:rPr sz="2200" b="0">
                <a:solidFill>
                  <a:srgbClr val="202122"/>
                </a:solidFill>
                <a:latin typeface="Calibri"/>
              </a:rPr>
              <a:t> remote working, trends</a:t>
            </a:r>
          </a:p>
          <a:p>
            <a:pPr marL="274320" indent="-274320">
              <a:spcAft>
                <a:spcPts val="990"/>
              </a:spcAft>
              <a:buClr>
                <a:srgbClr val="0645AD"/>
              </a:buClr>
              <a:buFont typeface="Arial"/>
              <a:buChar char="•"/>
            </a:pPr>
            <a:r>
              <a:rPr sz="2200" b="1">
                <a:solidFill>
                  <a:srgbClr val="202122"/>
                </a:solidFill>
                <a:latin typeface="Calibri"/>
              </a:rPr>
              <a:t>Technological:</a:t>
            </a:r>
            <a:r>
              <a:rPr sz="2200" b="0">
                <a:solidFill>
                  <a:srgbClr val="202122"/>
                </a:solidFill>
                <a:latin typeface="Calibri"/>
              </a:rPr>
              <a:t> new tech, zero-days</a:t>
            </a:r>
          </a:p>
          <a:p>
            <a:pPr marL="274320" indent="-274320">
              <a:spcAft>
                <a:spcPts val="990"/>
              </a:spcAft>
              <a:buClr>
                <a:srgbClr val="0645AD"/>
              </a:buClr>
              <a:buFont typeface="Arial"/>
              <a:buChar char="•"/>
            </a:pPr>
            <a:r>
              <a:rPr sz="2200" b="1">
                <a:solidFill>
                  <a:srgbClr val="202122"/>
                </a:solidFill>
                <a:latin typeface="Calibri"/>
              </a:rPr>
              <a:t>Environmental:</a:t>
            </a:r>
            <a:r>
              <a:rPr sz="2200" b="0">
                <a:solidFill>
                  <a:srgbClr val="202122"/>
                </a:solidFill>
                <a:latin typeface="Calibri"/>
              </a:rPr>
              <a:t> sustainability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Triggers for change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5</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PESTLE stand for?</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Give one internal trigger.</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Which PESTLE factor is a zero-day vulnerability?</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change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6</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0">
                <a:solidFill>
                  <a:srgbClr val="202122"/>
                </a:solidFill>
                <a:latin typeface="Calibri"/>
              </a:rPr>
              <a:t>Changing live software safely follows a process.</a:t>
            </a:r>
          </a:p>
          <a:p>
            <a:pPr>
              <a:spcAft>
                <a:spcPts val="1320"/>
              </a:spcAft>
            </a:pPr>
            <a:r>
              <a:rPr sz="2200" b="0">
                <a:solidFill>
                  <a:srgbClr val="202122"/>
                </a:solidFill>
                <a:latin typeface="Calibri"/>
              </a:rPr>
              <a:t>Identify the change and have the Change Advisory Board (CAB) review, prioritise and approve it. Set SMARTER objectives, forecast the impact and allocate resources. Communicate risks and impact to stakeholders. Configure and fully test the new system in a test environment. Choose an implementation method. Document everything, plan a rollback, train users, monitor progress, and use version control software to track every change and return to earlier versions if needed.</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Version control means a release that breaks the checkout can be rolled back to yesterday's working version in minutes.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The change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7</a:t>
            </a:r>
          </a:p>
        </p:txBody>
      </p:sp>
      <p:sp>
        <p:nvSpPr>
          <p:cNvPr id="6" name="Rectangle 5"/>
          <p:cNvSpPr/>
          <p:nvPr/>
        </p:nvSpPr>
        <p:spPr>
          <a:xfrm>
            <a:off x="1416024" y="2717292"/>
            <a:ext cx="9359646" cy="36576"/>
          </a:xfrm>
          <a:prstGeom prst="rect">
            <a:avLst/>
          </a:prstGeom>
          <a:solidFill>
            <a:srgbClr val="A9C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1095984"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1</a:t>
            </a:r>
          </a:p>
        </p:txBody>
      </p:sp>
      <p:sp>
        <p:nvSpPr>
          <p:cNvPr id="8" name="TextBox 7"/>
          <p:cNvSpPr txBox="1"/>
          <p:nvPr/>
        </p:nvSpPr>
        <p:spPr>
          <a:xfrm>
            <a:off x="548640" y="3192780"/>
            <a:ext cx="1734769" cy="731520"/>
          </a:xfrm>
          <a:prstGeom prst="rect">
            <a:avLst/>
          </a:prstGeom>
          <a:noFill/>
        </p:spPr>
        <p:txBody>
          <a:bodyPr wrap="square" anchor="t" lIns="0" rIns="0" tIns="0" bIns="0"/>
          <a:lstStyle/>
          <a:p>
            <a:pPr algn="ctr"/>
            <a:r>
              <a:rPr sz="1700" b="1" i="0">
                <a:solidFill>
                  <a:srgbClr val="03306E"/>
                </a:solidFill>
                <a:latin typeface="Calibri"/>
              </a:rPr>
              <a:t>Identify</a:t>
            </a:r>
          </a:p>
        </p:txBody>
      </p:sp>
      <p:sp>
        <p:nvSpPr>
          <p:cNvPr id="9" name="Rounded Rectangle 8"/>
          <p:cNvSpPr/>
          <p:nvPr/>
        </p:nvSpPr>
        <p:spPr>
          <a:xfrm>
            <a:off x="548640"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85800" y="4107180"/>
            <a:ext cx="1460449" cy="1112520"/>
          </a:xfrm>
          <a:prstGeom prst="rect">
            <a:avLst/>
          </a:prstGeom>
          <a:noFill/>
        </p:spPr>
        <p:txBody>
          <a:bodyPr wrap="square" anchor="t" lIns="0" rIns="0" tIns="0" bIns="0"/>
          <a:lstStyle/>
          <a:p>
            <a:pPr algn="l"/>
            <a:r>
              <a:rPr sz="1600" b="0" i="0">
                <a:solidFill>
                  <a:srgbClr val="202122"/>
                </a:solidFill>
                <a:latin typeface="Calibri"/>
              </a:rPr>
              <a:t>New system or amendment? CAB reviews and approves.</a:t>
            </a:r>
          </a:p>
        </p:txBody>
      </p:sp>
      <p:sp>
        <p:nvSpPr>
          <p:cNvPr id="11" name="Oval 10"/>
          <p:cNvSpPr/>
          <p:nvPr/>
        </p:nvSpPr>
        <p:spPr>
          <a:xfrm>
            <a:off x="2967913"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2</a:t>
            </a:r>
          </a:p>
        </p:txBody>
      </p:sp>
      <p:sp>
        <p:nvSpPr>
          <p:cNvPr id="12" name="TextBox 11"/>
          <p:cNvSpPr txBox="1"/>
          <p:nvPr/>
        </p:nvSpPr>
        <p:spPr>
          <a:xfrm>
            <a:off x="2420569" y="3192780"/>
            <a:ext cx="1734769" cy="731520"/>
          </a:xfrm>
          <a:prstGeom prst="rect">
            <a:avLst/>
          </a:prstGeom>
          <a:noFill/>
        </p:spPr>
        <p:txBody>
          <a:bodyPr wrap="square" anchor="t" lIns="0" rIns="0" tIns="0" bIns="0"/>
          <a:lstStyle/>
          <a:p>
            <a:pPr algn="ctr"/>
            <a:r>
              <a:rPr sz="1700" b="1" i="0">
                <a:solidFill>
                  <a:srgbClr val="03306E"/>
                </a:solidFill>
                <a:latin typeface="Calibri"/>
              </a:rPr>
              <a:t>Plan</a:t>
            </a:r>
          </a:p>
        </p:txBody>
      </p:sp>
      <p:sp>
        <p:nvSpPr>
          <p:cNvPr id="13" name="Rounded Rectangle 12"/>
          <p:cNvSpPr/>
          <p:nvPr/>
        </p:nvSpPr>
        <p:spPr>
          <a:xfrm>
            <a:off x="2420569"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557729" y="4107180"/>
            <a:ext cx="1460449" cy="1112520"/>
          </a:xfrm>
          <a:prstGeom prst="rect">
            <a:avLst/>
          </a:prstGeom>
          <a:noFill/>
        </p:spPr>
        <p:txBody>
          <a:bodyPr wrap="square" anchor="t" lIns="0" rIns="0" tIns="0" bIns="0"/>
          <a:lstStyle/>
          <a:p>
            <a:pPr algn="l"/>
            <a:r>
              <a:rPr sz="1600" b="0" i="0">
                <a:solidFill>
                  <a:srgbClr val="202122"/>
                </a:solidFill>
                <a:latin typeface="Calibri"/>
              </a:rPr>
              <a:t>SMARTER objectives, impact, resources.</a:t>
            </a:r>
          </a:p>
        </p:txBody>
      </p:sp>
      <p:sp>
        <p:nvSpPr>
          <p:cNvPr id="15" name="Oval 14"/>
          <p:cNvSpPr/>
          <p:nvPr/>
        </p:nvSpPr>
        <p:spPr>
          <a:xfrm>
            <a:off x="4839843"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3</a:t>
            </a:r>
          </a:p>
        </p:txBody>
      </p:sp>
      <p:sp>
        <p:nvSpPr>
          <p:cNvPr id="16" name="TextBox 15"/>
          <p:cNvSpPr txBox="1"/>
          <p:nvPr/>
        </p:nvSpPr>
        <p:spPr>
          <a:xfrm>
            <a:off x="4292498" y="3192780"/>
            <a:ext cx="1734769" cy="731520"/>
          </a:xfrm>
          <a:prstGeom prst="rect">
            <a:avLst/>
          </a:prstGeom>
          <a:noFill/>
        </p:spPr>
        <p:txBody>
          <a:bodyPr wrap="square" anchor="t" lIns="0" rIns="0" tIns="0" bIns="0"/>
          <a:lstStyle/>
          <a:p>
            <a:pPr algn="ctr"/>
            <a:r>
              <a:rPr sz="1700" b="1" i="0">
                <a:solidFill>
                  <a:srgbClr val="03306E"/>
                </a:solidFill>
                <a:latin typeface="Calibri"/>
              </a:rPr>
              <a:t>Communicate</a:t>
            </a:r>
          </a:p>
        </p:txBody>
      </p:sp>
      <p:sp>
        <p:nvSpPr>
          <p:cNvPr id="17" name="Rounded Rectangle 16"/>
          <p:cNvSpPr/>
          <p:nvPr/>
        </p:nvSpPr>
        <p:spPr>
          <a:xfrm>
            <a:off x="4292498"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429658" y="4107180"/>
            <a:ext cx="1460449" cy="1112520"/>
          </a:xfrm>
          <a:prstGeom prst="rect">
            <a:avLst/>
          </a:prstGeom>
          <a:noFill/>
        </p:spPr>
        <p:txBody>
          <a:bodyPr wrap="square" anchor="t" lIns="0" rIns="0" tIns="0" bIns="0"/>
          <a:lstStyle/>
          <a:p>
            <a:pPr algn="l"/>
            <a:r>
              <a:rPr sz="1600" b="0" i="0">
                <a:solidFill>
                  <a:srgbClr val="202122"/>
                </a:solidFill>
                <a:latin typeface="Calibri"/>
              </a:rPr>
              <a:t>Share risks and impact with stakeholders.</a:t>
            </a:r>
          </a:p>
        </p:txBody>
      </p:sp>
      <p:sp>
        <p:nvSpPr>
          <p:cNvPr id="19" name="Oval 18"/>
          <p:cNvSpPr/>
          <p:nvPr/>
        </p:nvSpPr>
        <p:spPr>
          <a:xfrm>
            <a:off x="6711772"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4</a:t>
            </a:r>
          </a:p>
        </p:txBody>
      </p:sp>
      <p:sp>
        <p:nvSpPr>
          <p:cNvPr id="20" name="TextBox 19"/>
          <p:cNvSpPr txBox="1"/>
          <p:nvPr/>
        </p:nvSpPr>
        <p:spPr>
          <a:xfrm>
            <a:off x="6164427" y="3192780"/>
            <a:ext cx="1734769" cy="731520"/>
          </a:xfrm>
          <a:prstGeom prst="rect">
            <a:avLst/>
          </a:prstGeom>
          <a:noFill/>
        </p:spPr>
        <p:txBody>
          <a:bodyPr wrap="square" anchor="t" lIns="0" rIns="0" tIns="0" bIns="0"/>
          <a:lstStyle/>
          <a:p>
            <a:pPr algn="ctr"/>
            <a:r>
              <a:rPr sz="1700" b="1" i="0">
                <a:solidFill>
                  <a:srgbClr val="03306E"/>
                </a:solidFill>
                <a:latin typeface="Calibri"/>
              </a:rPr>
              <a:t>Build and test</a:t>
            </a:r>
          </a:p>
        </p:txBody>
      </p:sp>
      <p:sp>
        <p:nvSpPr>
          <p:cNvPr id="21" name="Rounded Rectangle 20"/>
          <p:cNvSpPr/>
          <p:nvPr/>
        </p:nvSpPr>
        <p:spPr>
          <a:xfrm>
            <a:off x="6164427"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301587" y="4107180"/>
            <a:ext cx="1460449" cy="1112520"/>
          </a:xfrm>
          <a:prstGeom prst="rect">
            <a:avLst/>
          </a:prstGeom>
          <a:noFill/>
        </p:spPr>
        <p:txBody>
          <a:bodyPr wrap="square" anchor="t" lIns="0" rIns="0" tIns="0" bIns="0"/>
          <a:lstStyle/>
          <a:p>
            <a:pPr algn="l"/>
            <a:r>
              <a:rPr sz="1600" b="0" i="0">
                <a:solidFill>
                  <a:srgbClr val="202122"/>
                </a:solidFill>
                <a:latin typeface="Calibri"/>
              </a:rPr>
              <a:t>Configure and fully test the new system.</a:t>
            </a:r>
          </a:p>
        </p:txBody>
      </p:sp>
      <p:sp>
        <p:nvSpPr>
          <p:cNvPr id="23" name="Oval 22"/>
          <p:cNvSpPr/>
          <p:nvPr/>
        </p:nvSpPr>
        <p:spPr>
          <a:xfrm>
            <a:off x="8583701"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5</a:t>
            </a:r>
          </a:p>
        </p:txBody>
      </p:sp>
      <p:sp>
        <p:nvSpPr>
          <p:cNvPr id="24" name="TextBox 23"/>
          <p:cNvSpPr txBox="1"/>
          <p:nvPr/>
        </p:nvSpPr>
        <p:spPr>
          <a:xfrm>
            <a:off x="8036356" y="3192780"/>
            <a:ext cx="1734769" cy="731520"/>
          </a:xfrm>
          <a:prstGeom prst="rect">
            <a:avLst/>
          </a:prstGeom>
          <a:noFill/>
        </p:spPr>
        <p:txBody>
          <a:bodyPr wrap="square" anchor="t" lIns="0" rIns="0" tIns="0" bIns="0"/>
          <a:lstStyle/>
          <a:p>
            <a:pPr algn="ctr"/>
            <a:r>
              <a:rPr sz="1700" b="1" i="0">
                <a:solidFill>
                  <a:srgbClr val="03306E"/>
                </a:solidFill>
                <a:latin typeface="Calibri"/>
              </a:rPr>
              <a:t>Implement</a:t>
            </a:r>
          </a:p>
        </p:txBody>
      </p:sp>
      <p:sp>
        <p:nvSpPr>
          <p:cNvPr id="25" name="Rounded Rectangle 24"/>
          <p:cNvSpPr/>
          <p:nvPr/>
        </p:nvSpPr>
        <p:spPr>
          <a:xfrm>
            <a:off x="8036356"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173516" y="4107180"/>
            <a:ext cx="1460449" cy="1112520"/>
          </a:xfrm>
          <a:prstGeom prst="rect">
            <a:avLst/>
          </a:prstGeom>
          <a:noFill/>
        </p:spPr>
        <p:txBody>
          <a:bodyPr wrap="square" anchor="t" lIns="0" rIns="0" tIns="0" bIns="0"/>
          <a:lstStyle/>
          <a:p>
            <a:pPr algn="l"/>
            <a:r>
              <a:rPr sz="1600" b="0" i="0">
                <a:solidFill>
                  <a:srgbClr val="202122"/>
                </a:solidFill>
                <a:latin typeface="Calibri"/>
              </a:rPr>
              <a:t>Parallel, phased, direct or pilot.</a:t>
            </a:r>
          </a:p>
        </p:txBody>
      </p:sp>
      <p:sp>
        <p:nvSpPr>
          <p:cNvPr id="27" name="Oval 26"/>
          <p:cNvSpPr/>
          <p:nvPr/>
        </p:nvSpPr>
        <p:spPr>
          <a:xfrm>
            <a:off x="10455630" y="2415540"/>
            <a:ext cx="640080" cy="6400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202122"/>
                </a:solidFill>
                <a:latin typeface="Calibri"/>
              </a:rPr>
              <a:t>6</a:t>
            </a:r>
          </a:p>
        </p:txBody>
      </p:sp>
      <p:sp>
        <p:nvSpPr>
          <p:cNvPr id="28" name="TextBox 27"/>
          <p:cNvSpPr txBox="1"/>
          <p:nvPr/>
        </p:nvSpPr>
        <p:spPr>
          <a:xfrm>
            <a:off x="9908286" y="3192780"/>
            <a:ext cx="1734769" cy="731520"/>
          </a:xfrm>
          <a:prstGeom prst="rect">
            <a:avLst/>
          </a:prstGeom>
          <a:noFill/>
        </p:spPr>
        <p:txBody>
          <a:bodyPr wrap="square" anchor="t" lIns="0" rIns="0" tIns="0" bIns="0"/>
          <a:lstStyle/>
          <a:p>
            <a:pPr algn="ctr"/>
            <a:r>
              <a:rPr sz="1700" b="1" i="0">
                <a:solidFill>
                  <a:srgbClr val="03306E"/>
                </a:solidFill>
                <a:latin typeface="Calibri"/>
              </a:rPr>
              <a:t>Review</a:t>
            </a:r>
          </a:p>
        </p:txBody>
      </p:sp>
      <p:sp>
        <p:nvSpPr>
          <p:cNvPr id="29" name="Rounded Rectangle 28"/>
          <p:cNvSpPr/>
          <p:nvPr/>
        </p:nvSpPr>
        <p:spPr>
          <a:xfrm>
            <a:off x="9908286" y="3970020"/>
            <a:ext cx="1734769" cy="138684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10045446" y="4107180"/>
            <a:ext cx="1460449" cy="1112520"/>
          </a:xfrm>
          <a:prstGeom prst="rect">
            <a:avLst/>
          </a:prstGeom>
          <a:noFill/>
        </p:spPr>
        <p:txBody>
          <a:bodyPr wrap="square" anchor="t" lIns="0" rIns="0" tIns="0" bIns="0"/>
          <a:lstStyle/>
          <a:p>
            <a:pPr algn="l"/>
            <a:r>
              <a:rPr sz="1600" b="0" i="0">
                <a:solidFill>
                  <a:srgbClr val="202122"/>
                </a:solidFill>
                <a:latin typeface="Calibri"/>
              </a:rPr>
              <a:t>Document, train, monitor, version control.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The change management process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8</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What does the CAB do?</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Why plan a rollback?</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How does version control help?</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Implementation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9</a:t>
            </a:r>
          </a:p>
        </p:txBody>
      </p:sp>
      <p:sp>
        <p:nvSpPr>
          <p:cNvPr id="6" name="TextBox 5"/>
          <p:cNvSpPr txBox="1"/>
          <p:nvPr/>
        </p:nvSpPr>
        <p:spPr>
          <a:xfrm>
            <a:off x="548640" y="1554480"/>
            <a:ext cx="6720840" cy="4617720"/>
          </a:xfrm>
          <a:prstGeom prst="rect">
            <a:avLst/>
          </a:prstGeom>
          <a:noFill/>
        </p:spPr>
        <p:txBody>
          <a:bodyPr wrap="square" lIns="0" rIns="0" tIns="0" bIns="0">
            <a:spAutoFit/>
          </a:bodyPr>
          <a:lstStyle/>
          <a:p>
            <a:pPr>
              <a:spcAft>
                <a:spcPts val="1320"/>
              </a:spcAft>
            </a:pPr>
            <a:r>
              <a:rPr sz="2200" b="1">
                <a:solidFill>
                  <a:srgbClr val="202122"/>
                </a:solidFill>
                <a:latin typeface="Calibri"/>
              </a:rPr>
              <a:t>Direct:</a:t>
            </a:r>
            <a:r>
              <a:rPr sz="2200" b="0">
                <a:solidFill>
                  <a:srgbClr val="202122"/>
                </a:solidFill>
                <a:latin typeface="Calibri"/>
              </a:rPr>
              <a:t> switch the old system off and the new one on at once. Fast and cheap, but risky.</a:t>
            </a:r>
          </a:p>
          <a:p>
            <a:pPr>
              <a:spcAft>
                <a:spcPts val="1320"/>
              </a:spcAft>
            </a:pPr>
            <a:r>
              <a:rPr sz="2200" b="1">
                <a:solidFill>
                  <a:srgbClr val="202122"/>
                </a:solidFill>
                <a:latin typeface="Calibri"/>
              </a:rPr>
              <a:t>Parallel:</a:t>
            </a:r>
            <a:r>
              <a:rPr sz="2200" b="0">
                <a:solidFill>
                  <a:srgbClr val="202122"/>
                </a:solidFill>
                <a:latin typeface="Calibri"/>
              </a:rPr>
              <a:t> run both together for a while. Safe, but staff do double the work.</a:t>
            </a:r>
          </a:p>
          <a:p>
            <a:pPr>
              <a:spcAft>
                <a:spcPts val="1320"/>
              </a:spcAft>
            </a:pPr>
            <a:r>
              <a:rPr sz="2200" b="1">
                <a:solidFill>
                  <a:srgbClr val="202122"/>
                </a:solidFill>
                <a:latin typeface="Calibri"/>
              </a:rPr>
              <a:t>Phased:</a:t>
            </a:r>
            <a:r>
              <a:rPr sz="2200" b="0">
                <a:solidFill>
                  <a:srgbClr val="202122"/>
                </a:solidFill>
                <a:latin typeface="Calibri"/>
              </a:rPr>
              <a:t> introduce the system one part at a time. Lower risk, but slower.</a:t>
            </a:r>
          </a:p>
          <a:p>
            <a:pPr>
              <a:spcAft>
                <a:spcPts val="1320"/>
              </a:spcAft>
            </a:pPr>
            <a:r>
              <a:rPr sz="2200" b="1">
                <a:solidFill>
                  <a:srgbClr val="202122"/>
                </a:solidFill>
                <a:latin typeface="Calibri"/>
              </a:rPr>
              <a:t>Pilot:</a:t>
            </a:r>
            <a:r>
              <a:rPr sz="2200" b="0">
                <a:solidFill>
                  <a:srgbClr val="202122"/>
                </a:solidFill>
                <a:latin typeface="Calibri"/>
              </a:rPr>
              <a:t> one team or site tries it first. Problems are found on a small scale before everyone switches.</a:t>
            </a:r>
          </a:p>
        </p:txBody>
      </p:sp>
      <p:sp>
        <p:nvSpPr>
          <p:cNvPr id="7" name="Rounded Rectangle 6"/>
          <p:cNvSpPr/>
          <p:nvPr/>
        </p:nvSpPr>
        <p:spPr>
          <a:xfrm>
            <a:off x="7772400" y="1554480"/>
            <a:ext cx="3867912" cy="4526280"/>
          </a:xfrm>
          <a:prstGeom prst="roundRect">
            <a:avLst>
              <a:gd name="adj" fmla="val 8000"/>
            </a:avLst>
          </a:prstGeom>
          <a:solidFill>
            <a:srgbClr val="0330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8046720" y="1828800"/>
            <a:ext cx="548640" cy="54864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202122"/>
                </a:solidFill>
                <a:latin typeface="Calibri"/>
              </a:rPr>
              <a:t>e.g.</a:t>
            </a:r>
          </a:p>
        </p:txBody>
      </p:sp>
      <p:sp>
        <p:nvSpPr>
          <p:cNvPr id="9" name="TextBox 8"/>
          <p:cNvSpPr txBox="1"/>
          <p:nvPr/>
        </p:nvSpPr>
        <p:spPr>
          <a:xfrm>
            <a:off x="8046720" y="2560320"/>
            <a:ext cx="3291840" cy="365760"/>
          </a:xfrm>
          <a:prstGeom prst="rect">
            <a:avLst/>
          </a:prstGeom>
          <a:noFill/>
        </p:spPr>
        <p:txBody>
          <a:bodyPr wrap="square" anchor="t" lIns="0" rIns="0" tIns="0" bIns="0"/>
          <a:lstStyle/>
          <a:p>
            <a:pPr algn="l"/>
            <a:r>
              <a:rPr sz="1300" b="1" i="0">
                <a:solidFill>
                  <a:srgbClr val="A9C8F0"/>
                </a:solidFill>
                <a:latin typeface="Calibri"/>
              </a:rPr>
              <a:t>EXAMPLE</a:t>
            </a:r>
          </a:p>
        </p:txBody>
      </p:sp>
      <p:sp>
        <p:nvSpPr>
          <p:cNvPr id="10" name="TextBox 9"/>
          <p:cNvSpPr txBox="1"/>
          <p:nvPr/>
        </p:nvSpPr>
        <p:spPr>
          <a:xfrm>
            <a:off x="8046720" y="2971800"/>
            <a:ext cx="3291840" cy="2971800"/>
          </a:xfrm>
          <a:prstGeom prst="rect">
            <a:avLst/>
          </a:prstGeom>
          <a:noFill/>
        </p:spPr>
        <p:txBody>
          <a:bodyPr wrap="square" anchor="t" lIns="0" rIns="0" tIns="0" bIns="0"/>
          <a:lstStyle/>
          <a:p>
            <a:pPr algn="l"/>
            <a:r>
              <a:rPr sz="1900" b="0" i="0">
                <a:solidFill>
                  <a:srgbClr val="FFFFFF"/>
                </a:solidFill>
                <a:latin typeface="Cambria"/>
              </a:rPr>
              <a:t>A new school app is piloted with one year group, fixed based on their feedback, then rolled out to everyone.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Implementation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10</a:t>
            </a:r>
          </a:p>
        </p:txBody>
      </p:sp>
      <p:graphicFrame>
        <p:nvGraphicFramePr>
          <p:cNvPr id="6" name="Table 5"/>
          <p:cNvGraphicFramePr>
            <a:graphicFrameLocks noGrp="1"/>
          </p:cNvGraphicFramePr>
          <p:nvPr/>
        </p:nvGraphicFramePr>
        <p:xfrm>
          <a:off x="548640" y="1600200"/>
          <a:ext cx="11094414" cy="4526280"/>
        </p:xfrm>
        <a:graphic>
          <a:graphicData uri="http://schemas.openxmlformats.org/drawingml/2006/table">
            <a:tbl>
              <a:tblPr firstRow="1" bandRow="1">
                <a:tableStyleId>{5C22544A-7EE6-4342-B048-85BDC9FD1C3A}</a:tableStyleId>
              </a:tblPr>
              <a:tblGrid>
                <a:gridCol w="1891093"/>
                <a:gridCol w="4790770"/>
                <a:gridCol w="4412551"/>
              </a:tblGrid>
              <a:tr h="905256">
                <a:tc>
                  <a:txBody>
                    <a:bodyPr wrap="square"/>
                    <a:lstStyle/>
                    <a:p>
                      <a:r>
                        <a:rPr sz="1600" b="1">
                          <a:solidFill>
                            <a:srgbClr val="FFFFFF"/>
                          </a:solidFill>
                          <a:latin typeface="Calibri"/>
                        </a:rPr>
                        <a:t>Method</a:t>
                      </a:r>
                    </a:p>
                  </a:txBody>
                  <a:tcPr marL="91440" marR="91440" anchor="ctr">
                    <a:solidFill>
                      <a:srgbClr val="03306E"/>
                    </a:solidFill>
                  </a:tcPr>
                </a:tc>
                <a:tc>
                  <a:txBody>
                    <a:bodyPr wrap="square"/>
                    <a:lstStyle/>
                    <a:p>
                      <a:r>
                        <a:rPr sz="1600" b="1">
                          <a:solidFill>
                            <a:srgbClr val="FFFFFF"/>
                          </a:solidFill>
                          <a:latin typeface="Calibri"/>
                        </a:rPr>
                        <a:t>How it works</a:t>
                      </a:r>
                    </a:p>
                  </a:txBody>
                  <a:tcPr marL="91440" marR="91440" anchor="ctr">
                    <a:solidFill>
                      <a:srgbClr val="03306E"/>
                    </a:solidFill>
                  </a:tcPr>
                </a:tc>
                <a:tc>
                  <a:txBody>
                    <a:bodyPr wrap="square"/>
                    <a:lstStyle/>
                    <a:p>
                      <a:r>
                        <a:rPr sz="1600" b="1">
                          <a:solidFill>
                            <a:srgbClr val="FFFFFF"/>
                          </a:solidFill>
                          <a:latin typeface="Calibri"/>
                        </a:rPr>
                        <a:t>Trade-off</a:t>
                      </a:r>
                    </a:p>
                  </a:txBody>
                  <a:tcPr marL="91440" marR="91440" anchor="ctr">
                    <a:solidFill>
                      <a:srgbClr val="03306E"/>
                    </a:solidFill>
                  </a:tcPr>
                </a:tc>
              </a:tr>
              <a:tr h="905256">
                <a:tc>
                  <a:txBody>
                    <a:bodyPr wrap="square"/>
                    <a:lstStyle/>
                    <a:p>
                      <a:r>
                        <a:rPr sz="1600" b="1">
                          <a:solidFill>
                            <a:srgbClr val="03306E"/>
                          </a:solidFill>
                          <a:latin typeface="Calibri"/>
                        </a:rPr>
                        <a:t>Direct</a:t>
                      </a:r>
                    </a:p>
                  </a:txBody>
                  <a:tcPr marL="91440" marR="91440" anchor="ctr">
                    <a:solidFill>
                      <a:srgbClr val="FFFFFF"/>
                    </a:solidFill>
                  </a:tcPr>
                </a:tc>
                <a:tc>
                  <a:txBody>
                    <a:bodyPr wrap="square"/>
                    <a:lstStyle/>
                    <a:p>
                      <a:r>
                        <a:rPr sz="1600" b="0">
                          <a:solidFill>
                            <a:srgbClr val="202122"/>
                          </a:solidFill>
                          <a:latin typeface="Calibri"/>
                        </a:rPr>
                        <a:t>Switch old off and new on</a:t>
                      </a:r>
                    </a:p>
                  </a:txBody>
                  <a:tcPr marL="91440" marR="91440" anchor="ctr">
                    <a:solidFill>
                      <a:srgbClr val="FFFFFF"/>
                    </a:solidFill>
                  </a:tcPr>
                </a:tc>
                <a:tc>
                  <a:txBody>
                    <a:bodyPr wrap="square"/>
                    <a:lstStyle/>
                    <a:p>
                      <a:r>
                        <a:rPr sz="1600" b="0">
                          <a:solidFill>
                            <a:srgbClr val="202122"/>
                          </a:solidFill>
                          <a:latin typeface="Calibri"/>
                        </a:rPr>
                        <a:t>Fast and cheap, high risk</a:t>
                      </a:r>
                    </a:p>
                  </a:txBody>
                  <a:tcPr marL="91440" marR="91440" anchor="ctr">
                    <a:solidFill>
                      <a:srgbClr val="FFFFFF"/>
                    </a:solidFill>
                  </a:tcPr>
                </a:tc>
              </a:tr>
              <a:tr h="905256">
                <a:tc>
                  <a:txBody>
                    <a:bodyPr wrap="square"/>
                    <a:lstStyle/>
                    <a:p>
                      <a:r>
                        <a:rPr sz="1600" b="1">
                          <a:solidFill>
                            <a:srgbClr val="03306E"/>
                          </a:solidFill>
                          <a:latin typeface="Calibri"/>
                        </a:rPr>
                        <a:t>Parallel</a:t>
                      </a:r>
                    </a:p>
                  </a:txBody>
                  <a:tcPr marL="91440" marR="91440" anchor="ctr">
                    <a:solidFill>
                      <a:srgbClr val="EAF3FF"/>
                    </a:solidFill>
                  </a:tcPr>
                </a:tc>
                <a:tc>
                  <a:txBody>
                    <a:bodyPr wrap="square"/>
                    <a:lstStyle/>
                    <a:p>
                      <a:r>
                        <a:rPr sz="1600" b="0">
                          <a:solidFill>
                            <a:srgbClr val="202122"/>
                          </a:solidFill>
                          <a:latin typeface="Calibri"/>
                        </a:rPr>
                        <a:t>Run both side by side</a:t>
                      </a:r>
                    </a:p>
                  </a:txBody>
                  <a:tcPr marL="91440" marR="91440" anchor="ctr">
                    <a:solidFill>
                      <a:srgbClr val="EAF3FF"/>
                    </a:solidFill>
                  </a:tcPr>
                </a:tc>
                <a:tc>
                  <a:txBody>
                    <a:bodyPr wrap="square"/>
                    <a:lstStyle/>
                    <a:p>
                      <a:r>
                        <a:rPr sz="1600" b="0">
                          <a:solidFill>
                            <a:srgbClr val="202122"/>
                          </a:solidFill>
                          <a:latin typeface="Calibri"/>
                        </a:rPr>
                        <a:t>Safe fallback, double the work</a:t>
                      </a:r>
                    </a:p>
                  </a:txBody>
                  <a:tcPr marL="91440" marR="91440" anchor="ctr">
                    <a:solidFill>
                      <a:srgbClr val="EAF3FF"/>
                    </a:solidFill>
                  </a:tcPr>
                </a:tc>
              </a:tr>
              <a:tr h="905256">
                <a:tc>
                  <a:txBody>
                    <a:bodyPr wrap="square"/>
                    <a:lstStyle/>
                    <a:p>
                      <a:r>
                        <a:rPr sz="1600" b="1">
                          <a:solidFill>
                            <a:srgbClr val="03306E"/>
                          </a:solidFill>
                          <a:latin typeface="Calibri"/>
                        </a:rPr>
                        <a:t>Phased</a:t>
                      </a:r>
                    </a:p>
                  </a:txBody>
                  <a:tcPr marL="91440" marR="91440" anchor="ctr">
                    <a:solidFill>
                      <a:srgbClr val="FFFFFF"/>
                    </a:solidFill>
                  </a:tcPr>
                </a:tc>
                <a:tc>
                  <a:txBody>
                    <a:bodyPr wrap="square"/>
                    <a:lstStyle/>
                    <a:p>
                      <a:r>
                        <a:rPr sz="1600" b="0">
                          <a:solidFill>
                            <a:srgbClr val="202122"/>
                          </a:solidFill>
                          <a:latin typeface="Calibri"/>
                        </a:rPr>
                        <a:t>One part at a time</a:t>
                      </a:r>
                    </a:p>
                  </a:txBody>
                  <a:tcPr marL="91440" marR="91440" anchor="ctr">
                    <a:solidFill>
                      <a:srgbClr val="FFFFFF"/>
                    </a:solidFill>
                  </a:tcPr>
                </a:tc>
                <a:tc>
                  <a:txBody>
                    <a:bodyPr wrap="square"/>
                    <a:lstStyle/>
                    <a:p>
                      <a:r>
                        <a:rPr sz="1600" b="0">
                          <a:solidFill>
                            <a:srgbClr val="202122"/>
                          </a:solidFill>
                          <a:latin typeface="Calibri"/>
                        </a:rPr>
                        <a:t>Lower risk, slower</a:t>
                      </a:r>
                    </a:p>
                  </a:txBody>
                  <a:tcPr marL="91440" marR="91440" anchor="ctr">
                    <a:solidFill>
                      <a:srgbClr val="FFFFFF"/>
                    </a:solidFill>
                  </a:tcPr>
                </a:tc>
              </a:tr>
              <a:tr h="905256">
                <a:tc>
                  <a:txBody>
                    <a:bodyPr wrap="square"/>
                    <a:lstStyle/>
                    <a:p>
                      <a:r>
                        <a:rPr sz="1600" b="1">
                          <a:solidFill>
                            <a:srgbClr val="03306E"/>
                          </a:solidFill>
                          <a:latin typeface="Calibri"/>
                        </a:rPr>
                        <a:t>Pilot</a:t>
                      </a:r>
                    </a:p>
                  </a:txBody>
                  <a:tcPr marL="91440" marR="91440" anchor="ctr">
                    <a:solidFill>
                      <a:srgbClr val="EAF3FF"/>
                    </a:solidFill>
                  </a:tcPr>
                </a:tc>
                <a:tc>
                  <a:txBody>
                    <a:bodyPr wrap="square"/>
                    <a:lstStyle/>
                    <a:p>
                      <a:r>
                        <a:rPr sz="1600" b="0">
                          <a:solidFill>
                            <a:srgbClr val="202122"/>
                          </a:solidFill>
                          <a:latin typeface="Calibri"/>
                        </a:rPr>
                        <a:t>One team or site first</a:t>
                      </a:r>
                    </a:p>
                  </a:txBody>
                  <a:tcPr marL="91440" marR="91440" anchor="ctr">
                    <a:solidFill>
                      <a:srgbClr val="EAF3FF"/>
                    </a:solidFill>
                  </a:tcPr>
                </a:tc>
                <a:tc>
                  <a:txBody>
                    <a:bodyPr wrap="square"/>
                    <a:lstStyle/>
                    <a:p>
                      <a:r>
                        <a:rPr sz="1600" b="0">
                          <a:solidFill>
                            <a:srgbClr val="202122"/>
                          </a:solidFill>
                          <a:latin typeface="Calibri"/>
                        </a:rPr>
                        <a:t>Problems found early, slow rollout</a:t>
                      </a:r>
                    </a:p>
                  </a:txBody>
                  <a:tcPr marL="91440" marR="91440" anchor="ctr">
                    <a:solidFill>
                      <a:srgbClr val="EAF3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Quick check: Implementation methods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11</a:t>
            </a:r>
          </a:p>
        </p:txBody>
      </p:sp>
      <p:sp>
        <p:nvSpPr>
          <p:cNvPr id="6" name="Oval 5"/>
          <p:cNvSpPr/>
          <p:nvPr/>
        </p:nvSpPr>
        <p:spPr>
          <a:xfrm>
            <a:off x="548640" y="169164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1</a:t>
            </a:r>
          </a:p>
        </p:txBody>
      </p:sp>
      <p:sp>
        <p:nvSpPr>
          <p:cNvPr id="7" name="TextBox 6"/>
          <p:cNvSpPr txBox="1"/>
          <p:nvPr/>
        </p:nvSpPr>
        <p:spPr>
          <a:xfrm>
            <a:off x="1371600" y="1645920"/>
            <a:ext cx="10271455" cy="1188720"/>
          </a:xfrm>
          <a:prstGeom prst="rect">
            <a:avLst/>
          </a:prstGeom>
          <a:noFill/>
        </p:spPr>
        <p:txBody>
          <a:bodyPr wrap="square" anchor="t" lIns="0" rIns="0" tIns="0" bIns="0"/>
          <a:lstStyle/>
          <a:p>
            <a:pPr algn="l"/>
            <a:r>
              <a:rPr sz="2400" b="0" i="0">
                <a:solidFill>
                  <a:srgbClr val="202122"/>
                </a:solidFill>
                <a:latin typeface="Calibri"/>
              </a:rPr>
              <a:t>Which method is riskiest?</a:t>
            </a:r>
          </a:p>
        </p:txBody>
      </p:sp>
      <p:sp>
        <p:nvSpPr>
          <p:cNvPr id="8" name="Oval 7"/>
          <p:cNvSpPr/>
          <p:nvPr/>
        </p:nvSpPr>
        <p:spPr>
          <a:xfrm>
            <a:off x="548640" y="31089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2</a:t>
            </a:r>
          </a:p>
        </p:txBody>
      </p:sp>
      <p:sp>
        <p:nvSpPr>
          <p:cNvPr id="9" name="TextBox 8"/>
          <p:cNvSpPr txBox="1"/>
          <p:nvPr/>
        </p:nvSpPr>
        <p:spPr>
          <a:xfrm>
            <a:off x="1371600" y="3063240"/>
            <a:ext cx="10271455" cy="1188720"/>
          </a:xfrm>
          <a:prstGeom prst="rect">
            <a:avLst/>
          </a:prstGeom>
          <a:noFill/>
        </p:spPr>
        <p:txBody>
          <a:bodyPr wrap="square" anchor="t" lIns="0" rIns="0" tIns="0" bIns="0"/>
          <a:lstStyle/>
          <a:p>
            <a:pPr algn="l"/>
            <a:r>
              <a:rPr sz="2400" b="0" i="0">
                <a:solidFill>
                  <a:srgbClr val="202122"/>
                </a:solidFill>
                <a:latin typeface="Calibri"/>
              </a:rPr>
              <a:t>Which method means double work for staff?</a:t>
            </a:r>
          </a:p>
        </p:txBody>
      </p:sp>
      <p:sp>
        <p:nvSpPr>
          <p:cNvPr id="10" name="Oval 9"/>
          <p:cNvSpPr/>
          <p:nvPr/>
        </p:nvSpPr>
        <p:spPr>
          <a:xfrm>
            <a:off x="548640" y="45262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202122"/>
                </a:solidFill>
                <a:latin typeface="Calibri"/>
              </a:rPr>
              <a:t>3</a:t>
            </a:r>
          </a:p>
        </p:txBody>
      </p:sp>
      <p:sp>
        <p:nvSpPr>
          <p:cNvPr id="11" name="TextBox 10"/>
          <p:cNvSpPr txBox="1"/>
          <p:nvPr/>
        </p:nvSpPr>
        <p:spPr>
          <a:xfrm>
            <a:off x="1371600" y="4480560"/>
            <a:ext cx="10271455" cy="1188720"/>
          </a:xfrm>
          <a:prstGeom prst="rect">
            <a:avLst/>
          </a:prstGeom>
          <a:noFill/>
        </p:spPr>
        <p:txBody>
          <a:bodyPr wrap="square" anchor="t" lIns="0" rIns="0" tIns="0" bIns="0"/>
          <a:lstStyle/>
          <a:p>
            <a:pPr algn="l"/>
            <a:r>
              <a:rPr sz="2400" b="0" i="0">
                <a:solidFill>
                  <a:srgbClr val="202122"/>
                </a:solidFill>
                <a:latin typeface="Calibri"/>
              </a:rPr>
              <a:t>What is a pilot?</a:t>
            </a:r>
          </a:p>
        </p:txBody>
      </p:sp>
      <p:sp>
        <p:nvSpPr>
          <p:cNvPr id="12" name="TextBox 11"/>
          <p:cNvSpPr txBox="1"/>
          <p:nvPr/>
        </p:nvSpPr>
        <p:spPr>
          <a:xfrm>
            <a:off x="548640" y="5852160"/>
            <a:ext cx="11094415" cy="365760"/>
          </a:xfrm>
          <a:prstGeom prst="rect">
            <a:avLst/>
          </a:prstGeom>
          <a:noFill/>
        </p:spPr>
        <p:txBody>
          <a:bodyPr wrap="square" anchor="t" lIns="0" rIns="0" tIns="0" bIns="0"/>
          <a:lstStyle/>
          <a:p>
            <a:pPr algn="l"/>
            <a:r>
              <a:rPr sz="1300" b="0" i="1">
                <a:solidFill>
                  <a:srgbClr val="54595D"/>
                </a:solidFill>
                <a:latin typeface="Calibri"/>
              </a:rPr>
              <a:t>Answer on mini whiteboards or in your book. Answers are in the speaker notes.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Feasibility</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12</a:t>
            </a:r>
          </a:p>
        </p:txBody>
      </p:sp>
      <p:sp>
        <p:nvSpPr>
          <p:cNvPr id="6" name="Rounded Rectangle 5"/>
          <p:cNvSpPr/>
          <p:nvPr/>
        </p:nvSpPr>
        <p:spPr>
          <a:xfrm>
            <a:off x="548640"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777240"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1</a:t>
            </a:r>
          </a:p>
        </p:txBody>
      </p:sp>
      <p:sp>
        <p:nvSpPr>
          <p:cNvPr id="8" name="TextBox 7"/>
          <p:cNvSpPr txBox="1"/>
          <p:nvPr/>
        </p:nvSpPr>
        <p:spPr>
          <a:xfrm>
            <a:off x="1371600" y="1801368"/>
            <a:ext cx="2509418" cy="512064"/>
          </a:xfrm>
          <a:prstGeom prst="rect">
            <a:avLst/>
          </a:prstGeom>
          <a:noFill/>
        </p:spPr>
        <p:txBody>
          <a:bodyPr wrap="square" anchor="ctr" lIns="0" rIns="0" tIns="0" bIns="0"/>
          <a:lstStyle/>
          <a:p>
            <a:pPr algn="l"/>
            <a:r>
              <a:rPr sz="1600" b="1" i="0">
                <a:solidFill>
                  <a:srgbClr val="03306E"/>
                </a:solidFill>
                <a:latin typeface="Calibri"/>
              </a:rPr>
              <a:t>Benefits and drawbacks</a:t>
            </a:r>
          </a:p>
        </p:txBody>
      </p:sp>
      <p:sp>
        <p:nvSpPr>
          <p:cNvPr id="9" name="TextBox 8"/>
          <p:cNvSpPr txBox="1"/>
          <p:nvPr/>
        </p:nvSpPr>
        <p:spPr>
          <a:xfrm>
            <a:off x="777240" y="2468880"/>
            <a:ext cx="3058058" cy="3566160"/>
          </a:xfrm>
          <a:prstGeom prst="rect">
            <a:avLst/>
          </a:prstGeom>
          <a:noFill/>
        </p:spPr>
        <p:txBody>
          <a:bodyPr wrap="square" anchor="t" lIns="0" rIns="0" tIns="0" bIns="0"/>
          <a:lstStyle/>
          <a:p>
            <a:pPr algn="l"/>
            <a:r>
              <a:rPr sz="2000" b="0" i="0">
                <a:solidFill>
                  <a:srgbClr val="202122"/>
                </a:solidFill>
                <a:latin typeface="Calibri"/>
              </a:rPr>
              <a:t>Savings against cost; impact on processes and reputation.</a:t>
            </a:r>
          </a:p>
        </p:txBody>
      </p:sp>
      <p:sp>
        <p:nvSpPr>
          <p:cNvPr id="10" name="Rounded Rectangle 9"/>
          <p:cNvSpPr/>
          <p:nvPr/>
        </p:nvSpPr>
        <p:spPr>
          <a:xfrm>
            <a:off x="4338218"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4566818"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2</a:t>
            </a:r>
          </a:p>
        </p:txBody>
      </p:sp>
      <p:sp>
        <p:nvSpPr>
          <p:cNvPr id="12" name="TextBox 11"/>
          <p:cNvSpPr txBox="1"/>
          <p:nvPr/>
        </p:nvSpPr>
        <p:spPr>
          <a:xfrm>
            <a:off x="5161178" y="1801368"/>
            <a:ext cx="2509418" cy="512064"/>
          </a:xfrm>
          <a:prstGeom prst="rect">
            <a:avLst/>
          </a:prstGeom>
          <a:noFill/>
        </p:spPr>
        <p:txBody>
          <a:bodyPr wrap="square" anchor="ctr" lIns="0" rIns="0" tIns="0" bIns="0"/>
          <a:lstStyle/>
          <a:p>
            <a:pPr algn="l"/>
            <a:r>
              <a:rPr sz="1900" b="1" i="0">
                <a:solidFill>
                  <a:srgbClr val="03306E"/>
                </a:solidFill>
                <a:latin typeface="Calibri"/>
              </a:rPr>
              <a:t>Risks</a:t>
            </a:r>
          </a:p>
        </p:txBody>
      </p:sp>
      <p:sp>
        <p:nvSpPr>
          <p:cNvPr id="13" name="TextBox 12"/>
          <p:cNvSpPr txBox="1"/>
          <p:nvPr/>
        </p:nvSpPr>
        <p:spPr>
          <a:xfrm>
            <a:off x="4566818" y="2468880"/>
            <a:ext cx="3058058" cy="3566160"/>
          </a:xfrm>
          <a:prstGeom prst="rect">
            <a:avLst/>
          </a:prstGeom>
          <a:noFill/>
        </p:spPr>
        <p:txBody>
          <a:bodyPr wrap="square" anchor="t" lIns="0" rIns="0" tIns="0" bIns="0"/>
          <a:lstStyle/>
          <a:p>
            <a:pPr algn="l"/>
            <a:r>
              <a:rPr sz="2000" b="0" i="0">
                <a:solidFill>
                  <a:srgbClr val="202122"/>
                </a:solidFill>
                <a:latin typeface="Calibri"/>
              </a:rPr>
              <a:t>Resistance, misuse, inadequate support or knowledge, disruption.</a:t>
            </a:r>
          </a:p>
        </p:txBody>
      </p:sp>
      <p:sp>
        <p:nvSpPr>
          <p:cNvPr id="14" name="Rounded Rectangle 13"/>
          <p:cNvSpPr/>
          <p:nvPr/>
        </p:nvSpPr>
        <p:spPr>
          <a:xfrm>
            <a:off x="8127796" y="1600200"/>
            <a:ext cx="3515258" cy="4572000"/>
          </a:xfrm>
          <a:prstGeom prst="roundRect">
            <a:avLst>
              <a:gd name="adj" fmla="val 6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8356396" y="1828800"/>
            <a:ext cx="457200" cy="45720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500" b="1">
                <a:solidFill>
                  <a:srgbClr val="202122"/>
                </a:solidFill>
                <a:latin typeface="Calibri"/>
              </a:rPr>
              <a:t>3</a:t>
            </a:r>
          </a:p>
        </p:txBody>
      </p:sp>
      <p:sp>
        <p:nvSpPr>
          <p:cNvPr id="16" name="TextBox 15"/>
          <p:cNvSpPr txBox="1"/>
          <p:nvPr/>
        </p:nvSpPr>
        <p:spPr>
          <a:xfrm>
            <a:off x="8950756" y="1801368"/>
            <a:ext cx="2509418" cy="512064"/>
          </a:xfrm>
          <a:prstGeom prst="rect">
            <a:avLst/>
          </a:prstGeom>
          <a:noFill/>
        </p:spPr>
        <p:txBody>
          <a:bodyPr wrap="square" anchor="ctr" lIns="0" rIns="0" tIns="0" bIns="0"/>
          <a:lstStyle/>
          <a:p>
            <a:pPr algn="l"/>
            <a:r>
              <a:rPr sz="1900" b="1" i="0">
                <a:solidFill>
                  <a:srgbClr val="03306E"/>
                </a:solidFill>
                <a:latin typeface="Calibri"/>
              </a:rPr>
              <a:t>Constraints</a:t>
            </a:r>
          </a:p>
        </p:txBody>
      </p:sp>
      <p:sp>
        <p:nvSpPr>
          <p:cNvPr id="17" name="TextBox 16"/>
          <p:cNvSpPr txBox="1"/>
          <p:nvPr/>
        </p:nvSpPr>
        <p:spPr>
          <a:xfrm>
            <a:off x="8356396" y="2468880"/>
            <a:ext cx="3058058" cy="3566160"/>
          </a:xfrm>
          <a:prstGeom prst="rect">
            <a:avLst/>
          </a:prstGeom>
          <a:noFill/>
        </p:spPr>
        <p:txBody>
          <a:bodyPr wrap="square" anchor="t" lIns="0" rIns="0" tIns="0" bIns="0"/>
          <a:lstStyle/>
          <a:p>
            <a:pPr algn="l"/>
            <a:r>
              <a:rPr sz="2000" b="0" i="0">
                <a:solidFill>
                  <a:srgbClr val="202122"/>
                </a:solidFill>
                <a:latin typeface="Calibri"/>
              </a:rPr>
              <a:t>Budget, time and resources.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Check your understanding</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13</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2200" b="0" i="0">
                <a:solidFill>
                  <a:srgbClr val="202122"/>
                </a:solidFill>
                <a:latin typeface="Calibri"/>
              </a:rPr>
              <a:t>What does the CAB do?</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2200" b="0" i="0">
                <a:solidFill>
                  <a:srgbClr val="202122"/>
                </a:solidFill>
                <a:latin typeface="Calibri"/>
              </a:rPr>
              <a:t>Which implementation method is riskiest?</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2200" b="0" i="0">
                <a:solidFill>
                  <a:srgbClr val="202122"/>
                </a:solidFill>
                <a:latin typeface="Calibri"/>
              </a:rPr>
              <a:t>Why plan a rollback?</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2200" b="0" i="0">
                <a:solidFill>
                  <a:srgbClr val="202122"/>
                </a:solidFill>
                <a:latin typeface="Calibri"/>
              </a:rPr>
              <a:t>How does version control software help change management?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Answers</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14</a:t>
            </a:r>
          </a:p>
        </p:txBody>
      </p:sp>
      <p:sp>
        <p:nvSpPr>
          <p:cNvPr id="6" name="Oval 5"/>
          <p:cNvSpPr/>
          <p:nvPr/>
        </p:nvSpPr>
        <p:spPr>
          <a:xfrm>
            <a:off x="548640" y="1618488"/>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1</a:t>
            </a:r>
          </a:p>
        </p:txBody>
      </p:sp>
      <p:sp>
        <p:nvSpPr>
          <p:cNvPr id="7" name="TextBox 6"/>
          <p:cNvSpPr txBox="1"/>
          <p:nvPr/>
        </p:nvSpPr>
        <p:spPr>
          <a:xfrm>
            <a:off x="1234440" y="1600200"/>
            <a:ext cx="10408615" cy="1030986"/>
          </a:xfrm>
          <a:prstGeom prst="rect">
            <a:avLst/>
          </a:prstGeom>
          <a:noFill/>
        </p:spPr>
        <p:txBody>
          <a:bodyPr wrap="square" anchor="t" lIns="0" rIns="0" tIns="0" bIns="0"/>
          <a:lstStyle/>
          <a:p>
            <a:pPr algn="l"/>
            <a:r>
              <a:rPr sz="1800" b="0" i="0">
                <a:solidFill>
                  <a:srgbClr val="54595D"/>
                </a:solidFill>
                <a:latin typeface="Calibri"/>
              </a:rPr>
              <a:t>What does the CAB do?</a:t>
            </a:r>
          </a:p>
          <a:p>
            <a:r>
              <a:rPr sz="1800" b="1">
                <a:solidFill>
                  <a:srgbClr val="03306E"/>
                </a:solidFill>
                <a:latin typeface="Calibri"/>
              </a:rPr>
              <a:t>Prioritises, reviews and approves change requests and monitors progress.</a:t>
            </a:r>
          </a:p>
        </p:txBody>
      </p:sp>
      <p:sp>
        <p:nvSpPr>
          <p:cNvPr id="8" name="Oval 7"/>
          <p:cNvSpPr/>
          <p:nvPr/>
        </p:nvSpPr>
        <p:spPr>
          <a:xfrm>
            <a:off x="548640" y="2814066"/>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2</a:t>
            </a:r>
          </a:p>
        </p:txBody>
      </p:sp>
      <p:sp>
        <p:nvSpPr>
          <p:cNvPr id="9" name="TextBox 8"/>
          <p:cNvSpPr txBox="1"/>
          <p:nvPr/>
        </p:nvSpPr>
        <p:spPr>
          <a:xfrm>
            <a:off x="1234440" y="2795778"/>
            <a:ext cx="10408615" cy="1030986"/>
          </a:xfrm>
          <a:prstGeom prst="rect">
            <a:avLst/>
          </a:prstGeom>
          <a:noFill/>
        </p:spPr>
        <p:txBody>
          <a:bodyPr wrap="square" anchor="t" lIns="0" rIns="0" tIns="0" bIns="0"/>
          <a:lstStyle/>
          <a:p>
            <a:pPr algn="l"/>
            <a:r>
              <a:rPr sz="1800" b="0" i="0">
                <a:solidFill>
                  <a:srgbClr val="54595D"/>
                </a:solidFill>
                <a:latin typeface="Calibri"/>
              </a:rPr>
              <a:t>Which implementation method is riskiest?</a:t>
            </a:r>
          </a:p>
          <a:p>
            <a:r>
              <a:rPr sz="1800" b="1">
                <a:solidFill>
                  <a:srgbClr val="03306E"/>
                </a:solidFill>
                <a:latin typeface="Calibri"/>
              </a:rPr>
              <a:t>Direct.</a:t>
            </a:r>
          </a:p>
        </p:txBody>
      </p:sp>
      <p:sp>
        <p:nvSpPr>
          <p:cNvPr id="10" name="Oval 9"/>
          <p:cNvSpPr/>
          <p:nvPr/>
        </p:nvSpPr>
        <p:spPr>
          <a:xfrm>
            <a:off x="548640" y="4009644"/>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3</a:t>
            </a:r>
          </a:p>
        </p:txBody>
      </p:sp>
      <p:sp>
        <p:nvSpPr>
          <p:cNvPr id="11" name="TextBox 10"/>
          <p:cNvSpPr txBox="1"/>
          <p:nvPr/>
        </p:nvSpPr>
        <p:spPr>
          <a:xfrm>
            <a:off x="1234440" y="3991356"/>
            <a:ext cx="10408615" cy="1030986"/>
          </a:xfrm>
          <a:prstGeom prst="rect">
            <a:avLst/>
          </a:prstGeom>
          <a:noFill/>
        </p:spPr>
        <p:txBody>
          <a:bodyPr wrap="square" anchor="t" lIns="0" rIns="0" tIns="0" bIns="0"/>
          <a:lstStyle/>
          <a:p>
            <a:pPr algn="l"/>
            <a:r>
              <a:rPr sz="1800" b="0" i="0">
                <a:solidFill>
                  <a:srgbClr val="54595D"/>
                </a:solidFill>
                <a:latin typeface="Calibri"/>
              </a:rPr>
              <a:t>Why plan a rollback?</a:t>
            </a:r>
          </a:p>
          <a:p>
            <a:r>
              <a:rPr sz="1800" b="1">
                <a:solidFill>
                  <a:srgbClr val="03306E"/>
                </a:solidFill>
                <a:latin typeface="Calibri"/>
              </a:rPr>
              <a:t>To restore the old system if the change fails.</a:t>
            </a:r>
          </a:p>
        </p:txBody>
      </p:sp>
      <p:sp>
        <p:nvSpPr>
          <p:cNvPr id="12" name="Oval 11"/>
          <p:cNvSpPr/>
          <p:nvPr/>
        </p:nvSpPr>
        <p:spPr>
          <a:xfrm>
            <a:off x="548640" y="5205221"/>
            <a:ext cx="411480" cy="41148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02122"/>
                </a:solidFill>
                <a:latin typeface="Calibri"/>
              </a:rPr>
              <a:t>4</a:t>
            </a:r>
          </a:p>
        </p:txBody>
      </p:sp>
      <p:sp>
        <p:nvSpPr>
          <p:cNvPr id="13" name="TextBox 12"/>
          <p:cNvSpPr txBox="1"/>
          <p:nvPr/>
        </p:nvSpPr>
        <p:spPr>
          <a:xfrm>
            <a:off x="1234440" y="5186933"/>
            <a:ext cx="10408615" cy="1030986"/>
          </a:xfrm>
          <a:prstGeom prst="rect">
            <a:avLst/>
          </a:prstGeom>
          <a:noFill/>
        </p:spPr>
        <p:txBody>
          <a:bodyPr wrap="square" anchor="t" lIns="0" rIns="0" tIns="0" bIns="0"/>
          <a:lstStyle/>
          <a:p>
            <a:pPr algn="l"/>
            <a:r>
              <a:rPr sz="1800" b="0" i="0">
                <a:solidFill>
                  <a:srgbClr val="54595D"/>
                </a:solidFill>
                <a:latin typeface="Calibri"/>
              </a:rPr>
              <a:t>How does version control software help change management?</a:t>
            </a:r>
          </a:p>
          <a:p>
            <a:r>
              <a:rPr sz="1800" b="1">
                <a:solidFill>
                  <a:srgbClr val="03306E"/>
                </a:solidFill>
                <a:latin typeface="Calibri"/>
              </a:rPr>
              <a:t>It tracks every change and lets you return to earlier versions.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54595D"/>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03306E"/>
                </a:solidFill>
                <a:latin typeface="Cambria"/>
              </a:rPr>
              <a:t>Activity: Plan a release</a:t>
            </a:r>
          </a:p>
        </p:txBody>
      </p:sp>
      <p:sp>
        <p:nvSpPr>
          <p:cNvPr id="4" name="TextBox 3"/>
          <p:cNvSpPr txBox="1"/>
          <p:nvPr/>
        </p:nvSpPr>
        <p:spPr>
          <a:xfrm>
            <a:off x="548640" y="6446520"/>
            <a:ext cx="8229600" cy="274320"/>
          </a:xfrm>
          <a:prstGeom prst="rect">
            <a:avLst/>
          </a:prstGeom>
          <a:noFill/>
        </p:spPr>
        <p:txBody>
          <a:bodyPr wrap="square" anchor="t" lIns="0" rIns="0" tIns="0" bIns="0"/>
          <a:lstStyle/>
          <a:p>
            <a:pPr algn="l"/>
            <a:r>
              <a:rPr sz="1000" b="0" i="0">
                <a:solidFill>
                  <a:srgbClr val="54595D"/>
                </a:solidFill>
                <a:latin typeface="Calibri"/>
              </a:rPr>
              <a:t>Digital Software Development T Level  ·  Technical Change Management</a:t>
            </a:r>
          </a:p>
        </p:txBody>
      </p:sp>
      <p:sp>
        <p:nvSpPr>
          <p:cNvPr id="5" name="TextBox 4"/>
          <p:cNvSpPr txBox="1"/>
          <p:nvPr/>
        </p:nvSpPr>
        <p:spPr>
          <a:xfrm>
            <a:off x="10728655" y="6446520"/>
            <a:ext cx="914400" cy="274320"/>
          </a:xfrm>
          <a:prstGeom prst="rect">
            <a:avLst/>
          </a:prstGeom>
          <a:noFill/>
        </p:spPr>
        <p:txBody>
          <a:bodyPr wrap="square" anchor="t" lIns="0" rIns="0" tIns="0" bIns="0"/>
          <a:lstStyle/>
          <a:p>
            <a:pPr algn="r"/>
            <a:r>
              <a:rPr sz="1000" b="0" i="0">
                <a:solidFill>
                  <a:srgbClr val="54595D"/>
                </a:solidFill>
                <a:latin typeface="Calibri"/>
              </a:rPr>
              <a:t>15</a:t>
            </a:r>
          </a:p>
        </p:txBody>
      </p:sp>
      <p:sp>
        <p:nvSpPr>
          <p:cNvPr id="6" name="Rounded Rectangle 5"/>
          <p:cNvSpPr/>
          <p:nvPr/>
        </p:nvSpPr>
        <p:spPr>
          <a:xfrm>
            <a:off x="548640" y="1508760"/>
            <a:ext cx="2011680" cy="457200"/>
          </a:xfrm>
          <a:prstGeom prst="roundRect">
            <a:avLst>
              <a:gd name="adj" fmla="val 50000"/>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1508760"/>
            <a:ext cx="2011680" cy="457200"/>
          </a:xfrm>
          <a:prstGeom prst="rect">
            <a:avLst/>
          </a:prstGeom>
          <a:noFill/>
        </p:spPr>
        <p:txBody>
          <a:bodyPr wrap="square" anchor="ctr" lIns="0" rIns="0" tIns="0" bIns="0"/>
          <a:lstStyle/>
          <a:p>
            <a:pPr algn="ctr"/>
            <a:r>
              <a:rPr sz="1400" b="1" i="0">
                <a:solidFill>
                  <a:srgbClr val="202122"/>
                </a:solidFill>
                <a:latin typeface="Calibri"/>
              </a:rPr>
              <a:t>25 minutes</a:t>
            </a:r>
          </a:p>
        </p:txBody>
      </p:sp>
      <p:sp>
        <p:nvSpPr>
          <p:cNvPr id="8" name="TextBox 7"/>
          <p:cNvSpPr txBox="1"/>
          <p:nvPr/>
        </p:nvSpPr>
        <p:spPr>
          <a:xfrm>
            <a:off x="2743200" y="1508760"/>
            <a:ext cx="4754880" cy="457200"/>
          </a:xfrm>
          <a:prstGeom prst="rect">
            <a:avLst/>
          </a:prstGeom>
          <a:noFill/>
        </p:spPr>
        <p:txBody>
          <a:bodyPr wrap="square" anchor="ctr" lIns="0" rIns="0" tIns="0" bIns="0"/>
          <a:lstStyle/>
          <a:p>
            <a:pPr algn="l"/>
            <a:r>
              <a:rPr sz="1400" b="0" i="1">
                <a:solidFill>
                  <a:srgbClr val="54595D"/>
                </a:solidFill>
                <a:latin typeface="Calibri"/>
              </a:rPr>
              <a:t>Small groups</a:t>
            </a:r>
          </a:p>
        </p:txBody>
      </p:sp>
      <p:sp>
        <p:nvSpPr>
          <p:cNvPr id="9" name="Oval 8"/>
          <p:cNvSpPr/>
          <p:nvPr/>
        </p:nvSpPr>
        <p:spPr>
          <a:xfrm>
            <a:off x="548640" y="2482596"/>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1</a:t>
            </a:r>
          </a:p>
        </p:txBody>
      </p:sp>
      <p:sp>
        <p:nvSpPr>
          <p:cNvPr id="10" name="TextBox 9"/>
          <p:cNvSpPr txBox="1"/>
          <p:nvPr/>
        </p:nvSpPr>
        <p:spPr>
          <a:xfrm>
            <a:off x="1143000" y="2240280"/>
            <a:ext cx="5943600" cy="868680"/>
          </a:xfrm>
          <a:prstGeom prst="rect">
            <a:avLst/>
          </a:prstGeom>
          <a:noFill/>
        </p:spPr>
        <p:txBody>
          <a:bodyPr wrap="square" anchor="ctr" lIns="0" rIns="0" tIns="0" bIns="0"/>
          <a:lstStyle/>
          <a:p>
            <a:pPr algn="l"/>
            <a:r>
              <a:rPr sz="1700" b="0" i="0">
                <a:solidFill>
                  <a:srgbClr val="202122"/>
                </a:solidFill>
                <a:latin typeface="Calibri"/>
              </a:rPr>
              <a:t>A college is replacing its paper attendance registers with an app.</a:t>
            </a:r>
          </a:p>
        </p:txBody>
      </p:sp>
      <p:sp>
        <p:nvSpPr>
          <p:cNvPr id="11" name="Oval 10"/>
          <p:cNvSpPr/>
          <p:nvPr/>
        </p:nvSpPr>
        <p:spPr>
          <a:xfrm>
            <a:off x="548640" y="3461004"/>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2</a:t>
            </a:r>
          </a:p>
        </p:txBody>
      </p:sp>
      <p:sp>
        <p:nvSpPr>
          <p:cNvPr id="12" name="TextBox 11"/>
          <p:cNvSpPr txBox="1"/>
          <p:nvPr/>
        </p:nvSpPr>
        <p:spPr>
          <a:xfrm>
            <a:off x="1143000" y="3218688"/>
            <a:ext cx="5943600" cy="868680"/>
          </a:xfrm>
          <a:prstGeom prst="rect">
            <a:avLst/>
          </a:prstGeom>
          <a:noFill/>
        </p:spPr>
        <p:txBody>
          <a:bodyPr wrap="square" anchor="ctr" lIns="0" rIns="0" tIns="0" bIns="0"/>
          <a:lstStyle/>
          <a:p>
            <a:pPr algn="l"/>
            <a:r>
              <a:rPr sz="1700" b="0" i="0">
                <a:solidFill>
                  <a:srgbClr val="202122"/>
                </a:solidFill>
                <a:latin typeface="Calibri"/>
              </a:rPr>
              <a:t>Write three SMARTER objectives.</a:t>
            </a:r>
          </a:p>
        </p:txBody>
      </p:sp>
      <p:sp>
        <p:nvSpPr>
          <p:cNvPr id="13" name="Oval 12"/>
          <p:cNvSpPr/>
          <p:nvPr/>
        </p:nvSpPr>
        <p:spPr>
          <a:xfrm>
            <a:off x="548640" y="4439412"/>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3</a:t>
            </a:r>
          </a:p>
        </p:txBody>
      </p:sp>
      <p:sp>
        <p:nvSpPr>
          <p:cNvPr id="14" name="TextBox 13"/>
          <p:cNvSpPr txBox="1"/>
          <p:nvPr/>
        </p:nvSpPr>
        <p:spPr>
          <a:xfrm>
            <a:off x="1143000" y="4197096"/>
            <a:ext cx="5943600" cy="868680"/>
          </a:xfrm>
          <a:prstGeom prst="rect">
            <a:avLst/>
          </a:prstGeom>
          <a:noFill/>
        </p:spPr>
        <p:txBody>
          <a:bodyPr wrap="square" anchor="ctr" lIns="0" rIns="0" tIns="0" bIns="0"/>
          <a:lstStyle/>
          <a:p>
            <a:pPr algn="l"/>
            <a:r>
              <a:rPr sz="1700" b="0" i="0">
                <a:solidFill>
                  <a:srgbClr val="202122"/>
                </a:solidFill>
                <a:latin typeface="Calibri"/>
              </a:rPr>
              <a:t>Choose an implementation method and justify it.</a:t>
            </a:r>
          </a:p>
        </p:txBody>
      </p:sp>
      <p:sp>
        <p:nvSpPr>
          <p:cNvPr id="15" name="Oval 14"/>
          <p:cNvSpPr/>
          <p:nvPr/>
        </p:nvSpPr>
        <p:spPr>
          <a:xfrm>
            <a:off x="548640" y="5417820"/>
            <a:ext cx="384048" cy="384048"/>
          </a:xfrm>
          <a:prstGeom prst="ellipse">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300" b="1">
                <a:solidFill>
                  <a:srgbClr val="FFFFFF"/>
                </a:solidFill>
                <a:latin typeface="Calibri"/>
              </a:rPr>
              <a:t>4</a:t>
            </a:r>
          </a:p>
        </p:txBody>
      </p:sp>
      <p:sp>
        <p:nvSpPr>
          <p:cNvPr id="16" name="TextBox 15"/>
          <p:cNvSpPr txBox="1"/>
          <p:nvPr/>
        </p:nvSpPr>
        <p:spPr>
          <a:xfrm>
            <a:off x="1143000" y="5175504"/>
            <a:ext cx="5943600" cy="868680"/>
          </a:xfrm>
          <a:prstGeom prst="rect">
            <a:avLst/>
          </a:prstGeom>
          <a:noFill/>
        </p:spPr>
        <p:txBody>
          <a:bodyPr wrap="square" anchor="ctr" lIns="0" rIns="0" tIns="0" bIns="0"/>
          <a:lstStyle/>
          <a:p>
            <a:pPr algn="l"/>
            <a:r>
              <a:rPr sz="1700" b="0" i="0">
                <a:solidFill>
                  <a:srgbClr val="202122"/>
                </a:solidFill>
                <a:latin typeface="Calibri"/>
              </a:rPr>
              <a:t>Write a rollback and training plan.</a:t>
            </a:r>
          </a:p>
        </p:txBody>
      </p:sp>
      <p:sp>
        <p:nvSpPr>
          <p:cNvPr id="17" name="Rounded Rectangle 16"/>
          <p:cNvSpPr/>
          <p:nvPr/>
        </p:nvSpPr>
        <p:spPr>
          <a:xfrm>
            <a:off x="7772400" y="1508760"/>
            <a:ext cx="3867912" cy="4572000"/>
          </a:xfrm>
          <a:prstGeom prst="roundRect">
            <a:avLst>
              <a:gd name="adj" fmla="val 8000"/>
            </a:avLst>
          </a:prstGeom>
          <a:solidFill>
            <a:srgbClr val="EAF3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046720" y="1737360"/>
            <a:ext cx="3291840" cy="365760"/>
          </a:xfrm>
          <a:prstGeom prst="rect">
            <a:avLst/>
          </a:prstGeom>
          <a:noFill/>
        </p:spPr>
        <p:txBody>
          <a:bodyPr wrap="square" anchor="t" lIns="0" rIns="0" tIns="0" bIns="0"/>
          <a:lstStyle/>
          <a:p>
            <a:pPr algn="l"/>
            <a:r>
              <a:rPr sz="1300" b="1" i="0">
                <a:solidFill>
                  <a:srgbClr val="0645AD"/>
                </a:solidFill>
                <a:latin typeface="Calibri"/>
              </a:rPr>
              <a:t>SUCCESS CRITERIA</a:t>
            </a:r>
          </a:p>
        </p:txBody>
      </p:sp>
      <p:sp>
        <p:nvSpPr>
          <p:cNvPr id="19" name="TextBox 18"/>
          <p:cNvSpPr txBox="1"/>
          <p:nvPr/>
        </p:nvSpPr>
        <p:spPr>
          <a:xfrm>
            <a:off x="8046720" y="2240280"/>
            <a:ext cx="3337560" cy="3657600"/>
          </a:xfrm>
          <a:prstGeom prst="rect">
            <a:avLst/>
          </a:prstGeom>
          <a:noFill/>
        </p:spPr>
        <p:txBody>
          <a:bodyPr wrap="square" lIns="0" rIns="0" tIns="0" bIns="0">
            <a:spAutoFit/>
          </a:bodyPr>
          <a:lstStyle/>
          <a:p>
            <a:pPr marL="274320" indent="-274320">
              <a:spcAft>
                <a:spcPts val="810"/>
              </a:spcAft>
              <a:buClr>
                <a:srgbClr val="0645AD"/>
              </a:buClr>
              <a:buFont typeface="Arial"/>
              <a:buChar char="•"/>
            </a:pPr>
            <a:r>
              <a:rPr sz="1800" b="0">
                <a:solidFill>
                  <a:srgbClr val="202122"/>
                </a:solidFill>
                <a:latin typeface="Calibri"/>
              </a:rPr>
              <a:t>Objectives are measurable</a:t>
            </a:r>
          </a:p>
          <a:p>
            <a:pPr marL="274320" indent="-274320">
              <a:spcAft>
                <a:spcPts val="810"/>
              </a:spcAft>
              <a:buClr>
                <a:srgbClr val="0645AD"/>
              </a:buClr>
              <a:buFont typeface="Arial"/>
              <a:buChar char="•"/>
            </a:pPr>
            <a:r>
              <a:rPr sz="1800" b="0">
                <a:solidFill>
                  <a:srgbClr val="202122"/>
                </a:solidFill>
                <a:latin typeface="Calibri"/>
              </a:rPr>
              <a:t>Method suits the risk</a:t>
            </a:r>
          </a:p>
          <a:p>
            <a:pPr marL="274320" indent="-274320">
              <a:spcAft>
                <a:spcPts val="810"/>
              </a:spcAft>
              <a:buClr>
                <a:srgbClr val="0645AD"/>
              </a:buClr>
              <a:buFont typeface="Arial"/>
              <a:buChar char="•"/>
            </a:pPr>
            <a:r>
              <a:rPr sz="1800" b="0">
                <a:solidFill>
                  <a:srgbClr val="202122"/>
                </a:solidFill>
                <a:latin typeface="Calibri"/>
              </a:rPr>
              <a:t>Rollback names what is backed up and where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3306E"/>
        </a:solidFill>
        <a:effectLst/>
      </p:bgPr>
    </p:bg>
    <p:spTree>
      <p:nvGrpSpPr>
        <p:cNvPr id="1" name=""/>
        <p:cNvGrpSpPr/>
        <p:nvPr/>
      </p:nvGrpSpPr>
      <p:grpSpPr/>
      <p:sp>
        <p:nvSpPr>
          <p:cNvPr id="2" name="TextBox 1"/>
          <p:cNvSpPr txBox="1"/>
          <p:nvPr/>
        </p:nvSpPr>
        <p:spPr>
          <a:xfrm>
            <a:off x="548640" y="320040"/>
            <a:ext cx="11094415" cy="274320"/>
          </a:xfrm>
          <a:prstGeom prst="rect">
            <a:avLst/>
          </a:prstGeom>
          <a:noFill/>
        </p:spPr>
        <p:txBody>
          <a:bodyPr wrap="square" anchor="t" lIns="0" rIns="0" tIns="0" bIns="0"/>
          <a:lstStyle/>
          <a:p>
            <a:pPr algn="l"/>
            <a:r>
              <a:rPr sz="1100" b="1" i="0">
                <a:solidFill>
                  <a:srgbClr val="A9C8F0"/>
                </a:solidFill>
                <a:latin typeface="Calibri"/>
              </a:rPr>
              <a:t>CORE COMPONENT  ·  Core Paper 2</a:t>
            </a:r>
          </a:p>
        </p:txBody>
      </p:sp>
      <p:sp>
        <p:nvSpPr>
          <p:cNvPr id="3" name="TextBox 2"/>
          <p:cNvSpPr txBox="1"/>
          <p:nvPr/>
        </p:nvSpPr>
        <p:spPr>
          <a:xfrm>
            <a:off x="548640" y="566928"/>
            <a:ext cx="11094415" cy="822960"/>
          </a:xfrm>
          <a:prstGeom prst="rect">
            <a:avLst/>
          </a:prstGeom>
          <a:noFill/>
        </p:spPr>
        <p:txBody>
          <a:bodyPr wrap="square" anchor="ctr" lIns="0" rIns="0" tIns="0" bIns="0"/>
          <a:lstStyle/>
          <a:p>
            <a:pPr algn="l"/>
            <a:r>
              <a:rPr sz="3200" b="1" i="0">
                <a:solidFill>
                  <a:srgbClr val="FFFFFF"/>
                </a:solidFill>
                <a:latin typeface="Cambria"/>
              </a:rPr>
              <a:t>Exit ticket</a:t>
            </a:r>
          </a:p>
        </p:txBody>
      </p:sp>
      <p:sp>
        <p:nvSpPr>
          <p:cNvPr id="4" name="Oval 3"/>
          <p:cNvSpPr/>
          <p:nvPr/>
        </p:nvSpPr>
        <p:spPr>
          <a:xfrm>
            <a:off x="548640" y="173736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1</a:t>
            </a:r>
          </a:p>
        </p:txBody>
      </p:sp>
      <p:sp>
        <p:nvSpPr>
          <p:cNvPr id="5" name="TextBox 4"/>
          <p:cNvSpPr txBox="1"/>
          <p:nvPr/>
        </p:nvSpPr>
        <p:spPr>
          <a:xfrm>
            <a:off x="1325880" y="1645920"/>
            <a:ext cx="6583680" cy="822960"/>
          </a:xfrm>
          <a:prstGeom prst="rect">
            <a:avLst/>
          </a:prstGeom>
          <a:noFill/>
        </p:spPr>
        <p:txBody>
          <a:bodyPr wrap="square" anchor="ctr" lIns="0" rIns="0" tIns="0" bIns="0"/>
          <a:lstStyle/>
          <a:p>
            <a:pPr algn="l"/>
            <a:r>
              <a:rPr sz="2000" b="0" i="0">
                <a:solidFill>
                  <a:srgbClr val="FFFFFF"/>
                </a:solidFill>
                <a:latin typeface="Calibri"/>
              </a:rPr>
              <a:t>Give one external trigger for change.</a:t>
            </a:r>
          </a:p>
        </p:txBody>
      </p:sp>
      <p:sp>
        <p:nvSpPr>
          <p:cNvPr id="6" name="Oval 5"/>
          <p:cNvSpPr/>
          <p:nvPr/>
        </p:nvSpPr>
        <p:spPr>
          <a:xfrm>
            <a:off x="548640" y="269748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2</a:t>
            </a:r>
          </a:p>
        </p:txBody>
      </p:sp>
      <p:sp>
        <p:nvSpPr>
          <p:cNvPr id="7" name="TextBox 6"/>
          <p:cNvSpPr txBox="1"/>
          <p:nvPr/>
        </p:nvSpPr>
        <p:spPr>
          <a:xfrm>
            <a:off x="1325880" y="2606040"/>
            <a:ext cx="6583680" cy="822960"/>
          </a:xfrm>
          <a:prstGeom prst="rect">
            <a:avLst/>
          </a:prstGeom>
          <a:noFill/>
        </p:spPr>
        <p:txBody>
          <a:bodyPr wrap="square" anchor="ctr" lIns="0" rIns="0" tIns="0" bIns="0"/>
          <a:lstStyle/>
          <a:p>
            <a:pPr algn="l"/>
            <a:r>
              <a:rPr sz="2000" b="0" i="0">
                <a:solidFill>
                  <a:srgbClr val="FFFFFF"/>
                </a:solidFill>
                <a:latin typeface="Calibri"/>
              </a:rPr>
              <a:t>When would a pilot be the best method?</a:t>
            </a:r>
          </a:p>
        </p:txBody>
      </p:sp>
      <p:sp>
        <p:nvSpPr>
          <p:cNvPr id="8" name="Oval 7"/>
          <p:cNvSpPr/>
          <p:nvPr/>
        </p:nvSpPr>
        <p:spPr>
          <a:xfrm>
            <a:off x="548640" y="3657600"/>
            <a:ext cx="502920" cy="502920"/>
          </a:xfrm>
          <a:prstGeom prst="ellipse">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202122"/>
                </a:solidFill>
                <a:latin typeface="Calibri"/>
              </a:rPr>
              <a:t>3</a:t>
            </a:r>
          </a:p>
        </p:txBody>
      </p:sp>
      <p:sp>
        <p:nvSpPr>
          <p:cNvPr id="9" name="TextBox 8"/>
          <p:cNvSpPr txBox="1"/>
          <p:nvPr/>
        </p:nvSpPr>
        <p:spPr>
          <a:xfrm>
            <a:off x="1325880" y="3566160"/>
            <a:ext cx="6583680" cy="822960"/>
          </a:xfrm>
          <a:prstGeom prst="rect">
            <a:avLst/>
          </a:prstGeom>
          <a:noFill/>
        </p:spPr>
        <p:txBody>
          <a:bodyPr wrap="square" anchor="ctr" lIns="0" rIns="0" tIns="0" bIns="0"/>
          <a:lstStyle/>
          <a:p>
            <a:pPr algn="l"/>
            <a:r>
              <a:rPr sz="2000" b="0" i="0">
                <a:solidFill>
                  <a:srgbClr val="FFFFFF"/>
                </a:solidFill>
                <a:latin typeface="Calibri"/>
              </a:rPr>
              <a:t>What goes in a post-implementation review?</a:t>
            </a:r>
          </a:p>
        </p:txBody>
      </p:sp>
      <p:sp>
        <p:nvSpPr>
          <p:cNvPr id="10" name="Rounded Rectangle 9"/>
          <p:cNvSpPr/>
          <p:nvPr/>
        </p:nvSpPr>
        <p:spPr>
          <a:xfrm>
            <a:off x="8229600" y="1645920"/>
            <a:ext cx="3410712" cy="2926080"/>
          </a:xfrm>
          <a:prstGeom prst="roundRect">
            <a:avLst>
              <a:gd name="adj" fmla="val 8000"/>
            </a:avLst>
          </a:prstGeom>
          <a:solidFill>
            <a:srgbClr val="0645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8503920" y="1874519"/>
            <a:ext cx="2926080" cy="365760"/>
          </a:xfrm>
          <a:prstGeom prst="rect">
            <a:avLst/>
          </a:prstGeom>
          <a:noFill/>
        </p:spPr>
        <p:txBody>
          <a:bodyPr wrap="square" anchor="t" lIns="0" rIns="0" tIns="0" bIns="0"/>
          <a:lstStyle/>
          <a:p>
            <a:pPr algn="l"/>
            <a:r>
              <a:rPr sz="1300" b="1" i="0">
                <a:solidFill>
                  <a:srgbClr val="A9C8F0"/>
                </a:solidFill>
                <a:latin typeface="Calibri"/>
              </a:rPr>
              <a:t>REVISE THIS TOPIC</a:t>
            </a:r>
          </a:p>
        </p:txBody>
      </p:sp>
      <p:sp>
        <p:nvSpPr>
          <p:cNvPr id="12" name="TextBox 11"/>
          <p:cNvSpPr txBox="1"/>
          <p:nvPr/>
        </p:nvSpPr>
        <p:spPr>
          <a:xfrm>
            <a:off x="8503920" y="2286000"/>
            <a:ext cx="2926080" cy="548640"/>
          </a:xfrm>
          <a:prstGeom prst="rect">
            <a:avLst/>
          </a:prstGeom>
          <a:noFill/>
        </p:spPr>
        <p:txBody>
          <a:bodyPr wrap="square" anchor="t" lIns="0" rIns="0" tIns="0" bIns="0"/>
          <a:lstStyle/>
          <a:p>
            <a:pPr algn="l"/>
            <a:r>
              <a:rPr sz="1400" b="0" i="0">
                <a:solidFill>
                  <a:srgbClr val="FFFFFF"/>
                </a:solidFill>
                <a:latin typeface="Calibri"/>
              </a:rPr>
              <a:t>Revision notes for this lesson are on the study wiki:</a:t>
            </a:r>
          </a:p>
        </p:txBody>
      </p:sp>
      <p:sp>
        <p:nvSpPr>
          <p:cNvPr id="13" name="TextBox 12"/>
          <p:cNvSpPr txBox="1"/>
          <p:nvPr/>
        </p:nvSpPr>
        <p:spPr>
          <a:xfrm>
            <a:off x="8503920" y="2926080"/>
            <a:ext cx="2926080" cy="1463040"/>
          </a:xfrm>
          <a:prstGeom prst="rect">
            <a:avLst/>
          </a:prstGeom>
          <a:noFill/>
        </p:spPr>
        <p:txBody>
          <a:bodyPr wrap="square" anchor="t" lIns="0" rIns="0" tIns="0" bIns="0"/>
          <a:lstStyle/>
          <a:p>
            <a:pPr algn="l"/>
            <a:r>
              <a:rPr sz="2000" b="1" i="0">
                <a:solidFill>
                  <a:srgbClr val="FFFFFF"/>
                </a:solidFill>
                <a:latin typeface="Cambria"/>
              </a:rPr>
              <a:t>Core Paper 2: Business Context, Data, Digital Environments and Security</a:t>
            </a:r>
          </a:p>
        </p:txBody>
      </p:sp>
      <p:sp>
        <p:nvSpPr>
          <p:cNvPr id="14" name="TextBox 13"/>
          <p:cNvSpPr txBox="1"/>
          <p:nvPr/>
        </p:nvSpPr>
        <p:spPr>
          <a:xfrm>
            <a:off x="548640" y="5669280"/>
            <a:ext cx="11094415" cy="548640"/>
          </a:xfrm>
          <a:prstGeom prst="rect">
            <a:avLst/>
          </a:prstGeom>
          <a:noFill/>
        </p:spPr>
        <p:txBody>
          <a:bodyPr wrap="square" anchor="t" lIns="0" rIns="0" tIns="0" bIns="0"/>
          <a:lstStyle/>
          <a:p>
            <a:pPr algn="l"/>
            <a:r>
              <a:rPr sz="1200" b="0" i="0">
                <a:solidFill>
                  <a:srgbClr val="A9C8F0"/>
                </a:solidFill>
                <a:latin typeface="Calibri"/>
              </a:rPr>
              <a:t>https://lana6478.github.io/T-level-Digital-Software-Development/#/01-core-component/02-core-paper-2.md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Technical Change Management</dc:title>
  <dc:subject>Digital Software Development T Level: Core Paper 2</dc:subject>
  <dc:creator>Samuel O'Connell</dc:creator>
  <cp:keywords>T Level; Digital Software Development; lesson slides; 5.4</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