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// is integer division, % is modulus (the remainder), ** is exponentiation.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Answers:</a:t>
            </a:r>
          </a:p>
          <a:p>
            <a:r>
              <a:t>1. 3.</a:t>
            </a:r>
          </a:p>
          <a:p>
            <a:r>
              <a:t>2. 2.</a:t>
            </a:r>
          </a:p>
          <a:p>
            <a:r>
              <a:t>3. = assigns a value; == compares two values.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Answers:</a:t>
            </a:r>
          </a:p>
          <a:p>
            <a:r>
              <a:t>1. 'a' (append).</a:t>
            </a:r>
          </a:p>
          <a:p>
            <a:r>
              <a:t>2. Splits a line into a list at each comma.</a:t>
            </a:r>
          </a:p>
          <a:p>
            <a:r>
              <a:t>3. Its contents are replaced.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Answers:</a:t>
            </a:r>
          </a:p>
          <a:p>
            <a:r>
              <a:t>1. Five.</a:t>
            </a:r>
          </a:p>
          <a:p>
            <a:r>
              <a:t>2. A while loop.</a:t>
            </a:r>
          </a:p>
          <a:p>
            <a:r>
              <a:t>3. The condition never becoming false.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Give students a few minutes to answer on mini whiteboards or paper, then reveal the answers on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Talk through any answers the class found difficult.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Students answer on a sticky note or in the chat before leaving.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30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1005840"/>
            <a:ext cx="3291840" cy="3291840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Oval 2"/>
          <p:cNvSpPr/>
          <p:nvPr/>
        </p:nvSpPr>
        <p:spPr>
          <a:xfrm>
            <a:off x="9966960" y="3200400"/>
            <a:ext cx="2377440" cy="237744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Oval 3"/>
          <p:cNvSpPr/>
          <p:nvPr/>
        </p:nvSpPr>
        <p:spPr>
          <a:xfrm>
            <a:off x="8138160" y="4023360"/>
            <a:ext cx="1371600" cy="1371600"/>
          </a:xfrm>
          <a:prstGeom prst="ellipse">
            <a:avLst/>
          </a:prstGeom>
          <a:solidFill>
            <a:srgbClr val="A9C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1" i="0">
                <a:solidFill>
                  <a:srgbClr val="F2B705"/>
                </a:solidFill>
                <a:latin typeface="Calibri"/>
              </a:rPr>
              <a:t>CORE COMPONENT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7315200" cy="2286000"/>
          </a:xfrm>
          <a:prstGeom prst="rect">
            <a:avLst/>
          </a:prstGeom>
          <a:noFill/>
        </p:spPr>
        <p:txBody>
          <a:bodyPr wrap="square" anchor="b" lIns="0" rIns="0" tIns="0" bIns="0"/>
          <a:lstStyle/>
          <a:p>
            <a:pPr algn="l"/>
            <a:r>
              <a:rPr sz="4400" b="1" i="0">
                <a:solidFill>
                  <a:srgbClr val="FFFFFF"/>
                </a:solidFill>
                <a:latin typeface="Cambria"/>
              </a:rPr>
              <a:t>Operators, Input, Output and Program Flow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84048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A9C8F0"/>
                </a:solidFill>
                <a:latin typeface="Calibri"/>
              </a:rPr>
              <a:t>Core Paper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29768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>
                <a:solidFill>
                  <a:srgbClr val="A9C8F0"/>
                </a:solidFill>
                <a:latin typeface="Calibri"/>
              </a:rPr>
              <a:t>Specification reference: 2.4, 2.5, 2.6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760720"/>
            <a:ext cx="7498079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0" i="0">
                <a:solidFill>
                  <a:srgbClr val="A9C8F0"/>
                </a:solidFill>
                <a:latin typeface="Calibri"/>
              </a:rPr>
              <a:t>Digital Software Development T Level  ·  Lesson slides</a:t>
            </a:r>
          </a:p>
          <a:p>
            <a:pPr algn="l"/>
            <a:r>
              <a:rPr sz="1100" b="0" i="0">
                <a:solidFill>
                  <a:srgbClr val="A9C8F0"/>
                </a:solidFill>
                <a:latin typeface="Calibri"/>
              </a:rPr>
              <a:t>Unofficial teaching resource. Check the official Pearson specification for assessment detail.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Learning 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Software Development T Level  ·  Operators, Input, Output and Program 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08760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1">
                <a:solidFill>
                  <a:srgbClr val="54595D"/>
                </a:solidFill>
                <a:latin typeface="Calibri"/>
              </a:rPr>
              <a:t>By the end of this lesson you should be able to: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24028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2011680"/>
            <a:ext cx="6035040" cy="9144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Use arithmetic, relational and Boolean operators.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329184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3063240"/>
            <a:ext cx="6035040" cy="9144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Implement input and output with the keyboard, screen and text files.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434340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4114800"/>
            <a:ext cx="6035040" cy="9144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Use sequence, selection and count and condition-controlled loops.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0" y="1508760"/>
            <a:ext cx="3867912" cy="4526280"/>
          </a:xfrm>
          <a:prstGeom prst="roundRect">
            <a:avLst>
              <a:gd name="adj" fmla="val 8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046720" y="173736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0645AD"/>
                </a:solidFill>
                <a:latin typeface="Calibri"/>
              </a:rPr>
              <a:t>STARTER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2194560"/>
            <a:ext cx="3291840" cy="3657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03306E"/>
                </a:solidFill>
                <a:latin typeface="Cambria"/>
              </a:rPr>
              <a:t>What does 17 // 5 give in Python? What about 17 % 5? Guess, then we will check.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Operators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Software Development T Level  ·  Operators, Input, Output and Program 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54480"/>
            <a:ext cx="6720840" cy="4617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320"/>
              </a:spcAft>
            </a:pPr>
            <a:r>
              <a:rPr sz="2200" b="1">
                <a:solidFill>
                  <a:srgbClr val="202122"/>
                </a:solidFill>
                <a:latin typeface="Calibri"/>
              </a:rPr>
              <a:t>Arithmetic operators do maths:</a:t>
            </a:r>
            <a:r>
              <a:rPr sz="2200" b="0">
                <a:solidFill>
                  <a:srgbClr val="202122"/>
                </a:solidFill>
                <a:latin typeface="Calibri"/>
              </a:rPr>
              <a:t> + - * /, ** for powers, // for integer division (the whole number part) and % for modulus (the remainder). 17 // 5 is 3 and 17 % 5 is 2.</a:t>
            </a:r>
          </a:p>
          <a:p>
            <a:pPr>
              <a:spcAft>
                <a:spcPts val="1320"/>
              </a:spcAft>
            </a:pPr>
            <a:r>
              <a:rPr sz="2200" b="0">
                <a:solidFill>
                  <a:srgbClr val="202122"/>
                </a:solidFill>
                <a:latin typeface="Calibri"/>
              </a:rPr>
              <a:t>Relational operators compare values and give True or False: == (equal), != (not equal), &lt;, &gt;, &lt;= and &gt;=. Don't confuse = (assign) with == (compare).</a:t>
            </a:r>
          </a:p>
          <a:p>
            <a:pPr>
              <a:spcAft>
                <a:spcPts val="1320"/>
              </a:spcAft>
            </a:pPr>
            <a:r>
              <a:rPr sz="2200" b="1">
                <a:solidFill>
                  <a:srgbClr val="202122"/>
                </a:solidFill>
                <a:latin typeface="Calibri"/>
              </a:rPr>
              <a:t>Boolean operators combine conditions:</a:t>
            </a:r>
            <a:r>
              <a:rPr sz="2200" b="0">
                <a:solidFill>
                  <a:srgbClr val="202122"/>
                </a:solidFill>
                <a:latin typeface="Calibri"/>
              </a:rPr>
              <a:t> and (both true), or (either true) and not (reverses it).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0" y="1554480"/>
            <a:ext cx="3867912" cy="4526280"/>
          </a:xfrm>
          <a:prstGeom prst="roundRect">
            <a:avLst>
              <a:gd name="adj" fmla="val 8000"/>
            </a:avLst>
          </a:prstGeom>
          <a:solidFill>
            <a:srgbClr val="033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8046720" y="1828800"/>
            <a:ext cx="548640" cy="54864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202122"/>
                </a:solidFill>
                <a:latin typeface="Calibri"/>
              </a:rPr>
              <a:t>e.g.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256032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A9C8F0"/>
                </a:solidFill>
                <a:latin typeface="Calibri"/>
              </a:rPr>
              <a:t>EXAMPLE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0" y="2971800"/>
            <a:ext cx="3291840" cy="29718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900" b="0" i="0">
                <a:solidFill>
                  <a:srgbClr val="FFFFFF"/>
                </a:solidFill>
                <a:latin typeface="Cambria"/>
              </a:rPr>
              <a:t>Is a number even? n % 2 == 0. Can someone vote? age &gt;= 18 and registered. Is a user a guest? not logged_in.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Operators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Software Development T Level  ·  Operators, Input, Output and Program 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600200"/>
          <a:ext cx="11094413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64077"/>
                <a:gridCol w="4515168"/>
                <a:gridCol w="4515168"/>
              </a:tblGrid>
              <a:tr h="113157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Type</a:t>
                      </a:r>
                    </a:p>
                  </a:txBody>
                  <a:tcPr marL="91440" marR="91440" anchor="ctr">
                    <a:solidFill>
                      <a:srgbClr val="03306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Operators</a:t>
                      </a:r>
                    </a:p>
                  </a:txBody>
                  <a:tcPr marL="91440" marR="91440" anchor="ctr">
                    <a:solidFill>
                      <a:srgbClr val="03306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Example</a:t>
                      </a:r>
                    </a:p>
                  </a:txBody>
                  <a:tcPr marL="91440" marR="91440" anchor="ctr">
                    <a:solidFill>
                      <a:srgbClr val="03306E"/>
                    </a:solidFill>
                  </a:tcPr>
                </a:tc>
              </a:tr>
              <a:tr h="113157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Arithmetic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+  -  *  /  **  //  %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17 // 5 is 3; 17 % 5 is 2; 2 ** 3 is 8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  <a:tr h="113157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Relational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==  !=  &lt;  &gt;  &lt;=  &gt;=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age &gt;= 18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</a:tr>
              <a:tr h="113157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Boolean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not  and  or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age &gt;= 18 and has_id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Quick check: Operators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Software Development T Level  ·  Operators, Input, Output and Program 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5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69164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645920"/>
            <a:ext cx="10271455" cy="11887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>
                <a:solidFill>
                  <a:srgbClr val="202122"/>
                </a:solidFill>
                <a:latin typeface="Calibri"/>
              </a:rPr>
              <a:t>What does 20 // 6 give?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310896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3063240"/>
            <a:ext cx="10271455" cy="11887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>
                <a:solidFill>
                  <a:srgbClr val="202122"/>
                </a:solidFill>
                <a:latin typeface="Calibri"/>
              </a:rPr>
              <a:t>What does 20 % 6 give?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452628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4480560"/>
            <a:ext cx="10271455" cy="11887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>
                <a:solidFill>
                  <a:srgbClr val="202122"/>
                </a:solidFill>
                <a:latin typeface="Calibri"/>
              </a:rPr>
              <a:t>What is the difference between = and ==?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852160"/>
            <a:ext cx="11094415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0" i="1">
                <a:solidFill>
                  <a:srgbClr val="54595D"/>
                </a:solidFill>
                <a:latin typeface="Calibri"/>
              </a:rPr>
              <a:t>Answer on mini whiteboards or in your book. Answers are in the speaker notes.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Working with text files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Software Development T Level  ·  Operators, Input, Output and Program 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54480"/>
            <a:ext cx="6720840" cy="4617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320"/>
              </a:spcAft>
            </a:pPr>
            <a:r>
              <a:rPr sz="2200" b="0">
                <a:solidFill>
                  <a:srgbClr val="202122"/>
                </a:solidFill>
                <a:latin typeface="Calibri"/>
              </a:rPr>
              <a:t>Text files let programs save data between runs.</a:t>
            </a:r>
          </a:p>
          <a:p>
            <a:pPr>
              <a:spcAft>
                <a:spcPts val="1320"/>
              </a:spcAft>
            </a:pPr>
            <a:r>
              <a:rPr sz="2200" b="0">
                <a:solidFill>
                  <a:srgbClr val="202122"/>
                </a:solidFill>
                <a:latin typeface="Calibri"/>
              </a:rPr>
              <a:t>open() opens a file in a mode: 'r' to read, 'w' to write (replacing the contents) or 'a' to append (adding to the end). read() gets everything, readline() one line and readlines() a list of lines. write() adds text.</a:t>
            </a:r>
          </a:p>
          <a:p>
            <a:pPr>
              <a:spcAft>
                <a:spcPts val="1320"/>
              </a:spcAft>
            </a:pPr>
            <a:r>
              <a:rPr sz="2200" b="0">
                <a:solidFill>
                  <a:srgbClr val="202122"/>
                </a:solidFill>
                <a:latin typeface="Calibri"/>
              </a:rPr>
              <a:t>Each line usually ends with a newline, so line.strip() removes it, and line.split(',') breaks a line into parts.</a:t>
            </a:r>
          </a:p>
          <a:p>
            <a:pPr>
              <a:spcAft>
                <a:spcPts val="1320"/>
              </a:spcAft>
            </a:pPr>
            <a:r>
              <a:rPr sz="2200" b="0">
                <a:solidFill>
                  <a:srgbClr val="202122"/>
                </a:solidFill>
                <a:latin typeface="Calibri"/>
              </a:rPr>
              <a:t>Always close() the file, or use 'with open(...)', so data is saved and the file is released.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0" y="1554480"/>
            <a:ext cx="3867912" cy="4526280"/>
          </a:xfrm>
          <a:prstGeom prst="roundRect">
            <a:avLst>
              <a:gd name="adj" fmla="val 8000"/>
            </a:avLst>
          </a:prstGeom>
          <a:solidFill>
            <a:srgbClr val="033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8046720" y="1828800"/>
            <a:ext cx="548640" cy="54864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202122"/>
                </a:solidFill>
                <a:latin typeface="Calibri"/>
              </a:rPr>
              <a:t>e.g.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256032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A9C8F0"/>
                </a:solidFill>
                <a:latin typeface="Calibri"/>
              </a:rPr>
              <a:t>EXAMPLE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0" y="2971800"/>
            <a:ext cx="3291840" cy="29718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900" b="0" i="0">
                <a:solidFill>
                  <a:srgbClr val="FFFFFF"/>
                </a:solidFill>
                <a:latin typeface="Cambria"/>
              </a:rPr>
              <a:t>with open('scores.txt', 'a') as f: f.write('Ali,12\n') adds a score without deleting the others.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Working with text files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Software Development T Level  ·  Operators, Input, Output and Program 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7</a:t>
            </a:r>
          </a:p>
        </p:txBody>
      </p:sp>
      <p:sp>
        <p:nvSpPr>
          <p:cNvPr id="6" name="Rectangle 5"/>
          <p:cNvSpPr/>
          <p:nvPr/>
        </p:nvSpPr>
        <p:spPr>
          <a:xfrm>
            <a:off x="1884006" y="2656332"/>
            <a:ext cx="8423681" cy="36576"/>
          </a:xfrm>
          <a:prstGeom prst="rect">
            <a:avLst/>
          </a:prstGeom>
          <a:solidFill>
            <a:srgbClr val="A9C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1563966" y="2354580"/>
            <a:ext cx="640080" cy="6400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131820"/>
            <a:ext cx="2670733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700" b="1" i="0">
                <a:solidFill>
                  <a:srgbClr val="03306E"/>
                </a:solidFill>
                <a:latin typeface="Calibri"/>
              </a:rPr>
              <a:t>Open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909060"/>
            <a:ext cx="2670733" cy="150876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85800" y="4046220"/>
            <a:ext cx="2396413" cy="123443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202122"/>
                </a:solidFill>
                <a:latin typeface="Calibri"/>
              </a:rPr>
              <a:t>open('scores.txt', 'r') to read, 'w' to write, 'a' to append.</a:t>
            </a:r>
          </a:p>
        </p:txBody>
      </p:sp>
      <p:sp>
        <p:nvSpPr>
          <p:cNvPr id="11" name="Oval 10"/>
          <p:cNvSpPr/>
          <p:nvPr/>
        </p:nvSpPr>
        <p:spPr>
          <a:xfrm>
            <a:off x="4371860" y="2354580"/>
            <a:ext cx="640080" cy="6400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56533" y="3131820"/>
            <a:ext cx="2670733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700" b="1" i="0">
                <a:solidFill>
                  <a:srgbClr val="03306E"/>
                </a:solidFill>
                <a:latin typeface="Calibri"/>
              </a:rPr>
              <a:t>Read or write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56533" y="3909060"/>
            <a:ext cx="2670733" cy="150876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3493693" y="4046220"/>
            <a:ext cx="2396413" cy="123443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202122"/>
                </a:solidFill>
                <a:latin typeface="Calibri"/>
              </a:rPr>
              <a:t>read(), readline(), readlines(), or write().</a:t>
            </a:r>
          </a:p>
        </p:txBody>
      </p:sp>
      <p:sp>
        <p:nvSpPr>
          <p:cNvPr id="15" name="Oval 14"/>
          <p:cNvSpPr/>
          <p:nvPr/>
        </p:nvSpPr>
        <p:spPr>
          <a:xfrm>
            <a:off x="7179754" y="2354580"/>
            <a:ext cx="640080" cy="6400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64427" y="3131820"/>
            <a:ext cx="2670733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700" b="1" i="0">
                <a:solidFill>
                  <a:srgbClr val="03306E"/>
                </a:solidFill>
                <a:latin typeface="Calibri"/>
              </a:rPr>
              <a:t>Process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4427" y="3909060"/>
            <a:ext cx="2670733" cy="150876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301587" y="4046220"/>
            <a:ext cx="2396413" cy="123443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202122"/>
                </a:solidFill>
                <a:latin typeface="Calibri"/>
              </a:rPr>
              <a:t>line.strip() and line.split(',') to tidy and split each line.</a:t>
            </a:r>
          </a:p>
        </p:txBody>
      </p:sp>
      <p:sp>
        <p:nvSpPr>
          <p:cNvPr id="19" name="Oval 18"/>
          <p:cNvSpPr/>
          <p:nvPr/>
        </p:nvSpPr>
        <p:spPr>
          <a:xfrm>
            <a:off x="9987648" y="2354580"/>
            <a:ext cx="640080" cy="6400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72321" y="3131820"/>
            <a:ext cx="2670733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700" b="1" i="0">
                <a:solidFill>
                  <a:srgbClr val="03306E"/>
                </a:solidFill>
                <a:latin typeface="Calibri"/>
              </a:rPr>
              <a:t>Close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72321" y="3909060"/>
            <a:ext cx="2670733" cy="150876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109481" y="4046220"/>
            <a:ext cx="2396413" cy="123443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202122"/>
                </a:solidFill>
                <a:latin typeface="Calibri"/>
              </a:rPr>
              <a:t>close() so data is saved and the file is released.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Quick check: Working with text files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Software Development T Level  ·  Operators, Input, Output and Program 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8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69164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645920"/>
            <a:ext cx="10271455" cy="11887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>
                <a:solidFill>
                  <a:srgbClr val="202122"/>
                </a:solidFill>
                <a:latin typeface="Calibri"/>
              </a:rPr>
              <a:t>Which mode adds to a file without deleting it?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310896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3063240"/>
            <a:ext cx="10271455" cy="11887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>
                <a:solidFill>
                  <a:srgbClr val="202122"/>
                </a:solidFill>
                <a:latin typeface="Calibri"/>
              </a:rPr>
              <a:t>What does line.split(',') do?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452628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4480560"/>
            <a:ext cx="10271455" cy="11887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>
                <a:solidFill>
                  <a:srgbClr val="202122"/>
                </a:solidFill>
                <a:latin typeface="Calibri"/>
              </a:rPr>
              <a:t>What happens if you open an existing file with 'w'?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852160"/>
            <a:ext cx="11094415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0" i="1">
                <a:solidFill>
                  <a:srgbClr val="54595D"/>
                </a:solidFill>
                <a:latin typeface="Calibri"/>
              </a:rPr>
              <a:t>Answer on mini whiteboards or in your book. Answers are in the speaker notes.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Selection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Software Development T Level  ·  Operators, Input, Output and Program 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3515258" cy="457200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777240" y="182880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80136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if / elif / else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68880"/>
            <a:ext cx="3058058" cy="35661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Checks conditions in order and runs the first block that is True.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38218" y="1600200"/>
            <a:ext cx="3515258" cy="457200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4566818" y="182880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61178" y="180136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match case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66818" y="2468880"/>
            <a:ext cx="3058058" cy="35661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Compares one value against several patterns. Tidy for menus.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27796" y="1600200"/>
            <a:ext cx="3515258" cy="457200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8356396" y="182880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50756" y="180136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try except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6396" y="2468880"/>
            <a:ext cx="3058058" cy="35661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Catches errors, e.g. when a user types letters instead of a number.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Iteration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Software Development T Level  ·  Operators, Input, Output and Program 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54480"/>
            <a:ext cx="6720840" cy="4617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320"/>
              </a:spcAft>
            </a:pPr>
            <a:r>
              <a:rPr sz="2200" b="0">
                <a:solidFill>
                  <a:srgbClr val="202122"/>
                </a:solidFill>
                <a:latin typeface="Calibri"/>
              </a:rPr>
              <a:t>Iteration repeats code.</a:t>
            </a:r>
          </a:p>
          <a:p>
            <a:pPr>
              <a:spcAft>
                <a:spcPts val="1320"/>
              </a:spcAft>
            </a:pPr>
            <a:r>
              <a:rPr sz="2200" b="0">
                <a:solidFill>
                  <a:srgbClr val="202122"/>
                </a:solidFill>
                <a:latin typeface="Calibri"/>
              </a:rPr>
              <a:t>A for loop is count-controlled. for i in range(5) runs five times, with i from 0 to 4. for name in names runs once for each item in a list. It can't loop forever by accident.</a:t>
            </a:r>
          </a:p>
          <a:p>
            <a:pPr>
              <a:spcAft>
                <a:spcPts val="1320"/>
              </a:spcAft>
            </a:pPr>
            <a:r>
              <a:rPr sz="2200" b="1">
                <a:solidFill>
                  <a:srgbClr val="202122"/>
                </a:solidFill>
                <a:latin typeface="Calibri"/>
              </a:rPr>
              <a:t>A while loop is condition-controlled:</a:t>
            </a:r>
            <a:r>
              <a:rPr sz="2200" b="0">
                <a:solidFill>
                  <a:srgbClr val="202122"/>
                </a:solidFill>
                <a:latin typeface="Calibri"/>
              </a:rPr>
              <a:t> it repeats as long as its condition is true. Use it when you don't know how many times, such as asking until a valid answer is entered. Something inside the loop must change the condition, or it becomes an infinite loop.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0" y="1554480"/>
            <a:ext cx="3867912" cy="4526280"/>
          </a:xfrm>
          <a:prstGeom prst="roundRect">
            <a:avLst>
              <a:gd name="adj" fmla="val 8000"/>
            </a:avLst>
          </a:prstGeom>
          <a:solidFill>
            <a:srgbClr val="033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8046720" y="1828800"/>
            <a:ext cx="548640" cy="54864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202122"/>
                </a:solidFill>
                <a:latin typeface="Calibri"/>
              </a:rPr>
              <a:t>e.g.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256032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A9C8F0"/>
                </a:solidFill>
                <a:latin typeface="Calibri"/>
              </a:rPr>
              <a:t>EXAMPLE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0" y="2971800"/>
            <a:ext cx="3291840" cy="29718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900" b="0" i="0">
                <a:solidFill>
                  <a:srgbClr val="FFFFFF"/>
                </a:solidFill>
                <a:latin typeface="Cambria"/>
              </a:rPr>
              <a:t>while password != 'secret': password = input('Try again: ') keeps asking until the right password is typed.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Iteration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Software Development T Level  ·  Operators, Input, Output and Program 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5364327" cy="640080"/>
          </a:xfrm>
          <a:prstGeom prst="roundRect">
            <a:avLst>
              <a:gd name="adj" fmla="val 15000"/>
            </a:avLst>
          </a:prstGeom>
          <a:solidFill>
            <a:srgbClr val="033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77240" y="1600200"/>
            <a:ext cx="4907127" cy="6400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Count-controlled: for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377440"/>
            <a:ext cx="5364327" cy="3794760"/>
          </a:xfrm>
          <a:prstGeom prst="roundRect">
            <a:avLst>
              <a:gd name="adj" fmla="val 4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22959" y="2606040"/>
            <a:ext cx="4815687" cy="3337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Repeats a known number of times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for i in range(10):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1">
                <a:solidFill>
                  <a:srgbClr val="202122"/>
                </a:solidFill>
                <a:latin typeface="Calibri"/>
              </a:rPr>
              <a:t>Also loops over lists:</a:t>
            </a:r>
            <a:r>
              <a:rPr sz="2200" b="0">
                <a:solidFill>
                  <a:srgbClr val="202122"/>
                </a:solidFill>
                <a:latin typeface="Calibri"/>
              </a:rPr>
              <a:t> for name in names: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Cannot loop forever by mistake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8727" y="1600200"/>
            <a:ext cx="5364327" cy="640080"/>
          </a:xfrm>
          <a:prstGeom prst="roundRect">
            <a:avLst>
              <a:gd name="adj" fmla="val 15000"/>
            </a:avLst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07327" y="1600200"/>
            <a:ext cx="4907127" cy="6400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Condition-controlled: while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78727" y="2377440"/>
            <a:ext cx="5364327" cy="3794760"/>
          </a:xfrm>
          <a:prstGeom prst="roundRect">
            <a:avLst>
              <a:gd name="adj" fmla="val 4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4815687" cy="3337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Repeats while a condition is True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while guess != answer: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Good when you do not know how many times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1">
                <a:solidFill>
                  <a:srgbClr val="202122"/>
                </a:solidFill>
                <a:latin typeface="Calibri"/>
              </a:rPr>
              <a:t>Risk:</a:t>
            </a:r>
            <a:r>
              <a:rPr sz="2200" b="0">
                <a:solidFill>
                  <a:srgbClr val="202122"/>
                </a:solidFill>
                <a:latin typeface="Calibri"/>
              </a:rPr>
              <a:t> an infinite loop if the condition never changes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Quick check: Iteration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Software Development T Level  ·  Operators, Input, Output and Program 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12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69164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645920"/>
            <a:ext cx="10271455" cy="11887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>
                <a:solidFill>
                  <a:srgbClr val="202122"/>
                </a:solidFill>
                <a:latin typeface="Calibri"/>
              </a:rPr>
              <a:t>How many times does for i in range(5) run?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310896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3063240"/>
            <a:ext cx="10271455" cy="11887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>
                <a:solidFill>
                  <a:srgbClr val="202122"/>
                </a:solidFill>
                <a:latin typeface="Calibri"/>
              </a:rPr>
              <a:t>Which loop suits 'keep asking until valid'?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452628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4480560"/>
            <a:ext cx="10271455" cy="11887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>
                <a:solidFill>
                  <a:srgbClr val="202122"/>
                </a:solidFill>
                <a:latin typeface="Calibri"/>
              </a:rPr>
              <a:t>What causes an infinite loop?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852160"/>
            <a:ext cx="11094415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0" i="1">
                <a:solidFill>
                  <a:srgbClr val="54595D"/>
                </a:solidFill>
                <a:latin typeface="Calibri"/>
              </a:rPr>
              <a:t>Answer on mini whiteboards or in your book. Answers are in the speaker notes.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Check your understanding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Software Development T Level  ·  Operators, Input, Output and Program 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13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618488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600200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What does 20 % 6 evaluate to?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574950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556662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Which operator checks two values are not equal?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3531412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513124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Which file mode adds to the end of a file without deleting it?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4487875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4469587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Which loop suits 'keep asking until the password is right'?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5444337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5426049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Why must a file be closed?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Answers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Software Development T Level  ·  Operators, Input, Output and Program 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14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618488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600200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What does 20 % 6 evaluate to?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2.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574950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556662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Which operator checks two values are not equal?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!=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3531412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513124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Which file mode adds to the end of a file without deleting it?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'a' (append).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4487875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4469587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Which loop suits 'keep asking until the password is right'?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A while loop.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5444337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5426049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Why must a file be closed?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So data is saved and the file is released.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Activity: High score table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Software Development T Level  ·  Operators, Input, Output and Program 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08760"/>
            <a:ext cx="2011680" cy="457200"/>
          </a:xfrm>
          <a:prstGeom prst="roundRect">
            <a:avLst>
              <a:gd name="adj" fmla="val 50000"/>
            </a:avLst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2011680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/>
            <a:r>
              <a:rPr sz="1400" b="1" i="0">
                <a:solidFill>
                  <a:srgbClr val="202122"/>
                </a:solidFill>
                <a:latin typeface="Calibri"/>
              </a:rPr>
              <a:t>30 minutes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1508760"/>
            <a:ext cx="4754880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400" b="0" i="1">
                <a:solidFill>
                  <a:srgbClr val="54595D"/>
                </a:solidFill>
                <a:latin typeface="Calibri"/>
              </a:rPr>
              <a:t>Individual, in Python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2482596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240280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Write a menu using match case: 1 add score, 2 show scores, 3 quit.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3461004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3218688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Option 1 appends 'name,score' to scores.txt.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4439412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4197096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Option 2 reads the file and prints each score using split().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5417820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5175504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Loop the menu with while until the user quits.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0" y="1508760"/>
            <a:ext cx="3867912" cy="4572000"/>
          </a:xfrm>
          <a:prstGeom prst="roundRect">
            <a:avLst>
              <a:gd name="adj" fmla="val 8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046720" y="173736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0645AD"/>
                </a:solidFill>
                <a:latin typeface="Calibri"/>
              </a:rPr>
              <a:t>SUCCESS CRITERIA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2240280"/>
            <a:ext cx="333756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Menu loops correctly</a:t>
            </a:r>
          </a:p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File opened in the right modes</a:t>
            </a:r>
          </a:p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Output is tidy</a:t>
            </a:r>
          </a:p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Invalid menu options handled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30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A9C8F0"/>
                </a:solidFill>
                <a:latin typeface="Calibri"/>
              </a:rPr>
              <a:t>CORE COMPONENT  ·  Core Paper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FFFFFF"/>
                </a:solidFill>
                <a:latin typeface="Cambria"/>
              </a:rPr>
              <a:t>Exit ticket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173736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25880" y="1645920"/>
            <a:ext cx="658368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What is the difference between / and //?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269748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2606040"/>
            <a:ext cx="658368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Why might a while loop never end?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365760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3566160"/>
            <a:ext cx="658368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Why use match case instead of many elif statements?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1645920"/>
            <a:ext cx="3410712" cy="2926080"/>
          </a:xfrm>
          <a:prstGeom prst="roundRect">
            <a:avLst>
              <a:gd name="adj" fmla="val 8000"/>
            </a:avLst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503920" y="1874519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A9C8F0"/>
                </a:solidFill>
                <a:latin typeface="Calibri"/>
              </a:rPr>
              <a:t>REVISE THIS TOPIC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228600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Revision notes for this lesson are on the study wiki: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2926080"/>
            <a:ext cx="2926080" cy="1463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1" i="0">
                <a:solidFill>
                  <a:srgbClr val="FFFFFF"/>
                </a:solidFill>
                <a:latin typeface="Cambria"/>
              </a:rPr>
              <a:t>Core Paper 1: Problem Solving, Programming, Emerging Issues and Legislation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669280"/>
            <a:ext cx="11094415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200" b="0" i="0">
                <a:solidFill>
                  <a:srgbClr val="A9C8F0"/>
                </a:solidFill>
                <a:latin typeface="Calibri"/>
              </a:rPr>
              <a:t>https://lana6478.github.io/T-level-Digital-Software-Development/#/01-core-component/01-core-paper-1.md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Operators, Input, Output and Program Flow</dc:title>
  <dc:subject>Digital Software Development T Level: Core Paper 1</dc:subject>
  <dc:creator>Samuel O'Connell</dc:creator>
  <cp:keywords>T Level; Digital Software Development; lesson slides; 2.4, 2.5, 2.6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