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data must be sorted.</a:t>
            </a:r>
          </a:p>
          <a:p>
            <a:r>
              <a:t>2. Checking every item.</a:t>
            </a:r>
          </a:p>
          <a:p>
            <a:r>
              <a:t>3. Half of the remaining items.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pass makes no swaps.</a:t>
            </a:r>
          </a:p>
          <a:p>
            <a:r>
              <a:t>2. Insertion sort.</a:t>
            </a:r>
          </a:p>
          <a:p>
            <a:r>
              <a:t>3. It needs extra memory.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O notation is not required, but students must reason about best, worst and average cases.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Execution time, memory use, number of comparisons.</a:t>
            </a:r>
          </a:p>
          <a:p>
            <a:r>
              <a:t>2. Data already sorted: one pass.</a:t>
            </a:r>
          </a:p>
          <a:p>
            <a:r>
              <a:t>3. Merge sort.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Searching and Sorting Algorithms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2.11</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linear and binary search.</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bubble, insertion and merge sort.</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Compare algorithms using memory, execution time and number of comparisons.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Choose a suitable algorithm for a situation.</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Find the word 'kiwi' in a dictionary. Did you start at page one? Why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Searching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 linear search checks each item in turn from the start until it finds the target or reaches the end. It works on any list, sorted or not, and is simple, but it's slow on large lists: in the worst case it checks every item.</a:t>
            </a:r>
          </a:p>
          <a:p>
            <a:pPr>
              <a:spcAft>
                <a:spcPts val="1320"/>
              </a:spcAft>
            </a:pPr>
            <a:r>
              <a:rPr sz="2200" b="0">
                <a:solidFill>
                  <a:srgbClr val="202122"/>
                </a:solidFill>
                <a:latin typeface="Calibri"/>
              </a:rPr>
              <a:t>A binary search only works on sorted data. It checks the middle item; if that isn't the target, it throws away the half that can't contain it and repeats on the other half. Each step halves the search, so it's very fast on large lists.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Finding 70 in a sorted list of 1,000 numbers: linear might need 1,000 checks; binary needs about 10, because 2 to the power 10 is 1,024.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Searching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Linear search</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Check each item in turn from the start</a:t>
            </a:r>
          </a:p>
          <a:p>
            <a:pPr marL="274320" indent="-274320">
              <a:spcAft>
                <a:spcPts val="990"/>
              </a:spcAft>
              <a:buClr>
                <a:srgbClr val="0645AD"/>
              </a:buClr>
              <a:buFont typeface="Arial"/>
              <a:buChar char="•"/>
            </a:pPr>
            <a:r>
              <a:rPr sz="2200" b="0">
                <a:solidFill>
                  <a:srgbClr val="202122"/>
                </a:solidFill>
                <a:latin typeface="Calibri"/>
              </a:rPr>
              <a:t>Works on unsorted data</a:t>
            </a:r>
          </a:p>
          <a:p>
            <a:pPr marL="274320" indent="-274320">
              <a:spcAft>
                <a:spcPts val="990"/>
              </a:spcAft>
              <a:buClr>
                <a:srgbClr val="0645AD"/>
              </a:buClr>
              <a:buFont typeface="Arial"/>
              <a:buChar char="•"/>
            </a:pPr>
            <a:r>
              <a:rPr sz="2200" b="0">
                <a:solidFill>
                  <a:srgbClr val="202122"/>
                </a:solidFill>
                <a:latin typeface="Calibri"/>
              </a:rPr>
              <a:t>Simple to write</a:t>
            </a:r>
          </a:p>
          <a:p>
            <a:pPr marL="274320" indent="-274320">
              <a:spcAft>
                <a:spcPts val="990"/>
              </a:spcAft>
              <a:buClr>
                <a:srgbClr val="0645AD"/>
              </a:buClr>
              <a:buFont typeface="Arial"/>
              <a:buChar char="•"/>
            </a:pPr>
            <a:r>
              <a:rPr sz="2200" b="1">
                <a:solidFill>
                  <a:srgbClr val="202122"/>
                </a:solidFill>
                <a:latin typeface="Calibri"/>
              </a:rPr>
              <a:t>Slow on large lists:</a:t>
            </a:r>
            <a:r>
              <a:rPr sz="2200" b="0">
                <a:solidFill>
                  <a:srgbClr val="202122"/>
                </a:solidFill>
                <a:latin typeface="Calibri"/>
              </a:rPr>
              <a:t> may check every item</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Binary search</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Needs sorted data</a:t>
            </a:r>
          </a:p>
          <a:p>
            <a:pPr marL="274320" indent="-274320">
              <a:spcAft>
                <a:spcPts val="990"/>
              </a:spcAft>
              <a:buClr>
                <a:srgbClr val="0645AD"/>
              </a:buClr>
              <a:buFont typeface="Arial"/>
              <a:buChar char="•"/>
            </a:pPr>
            <a:r>
              <a:rPr sz="2200" b="0">
                <a:solidFill>
                  <a:srgbClr val="202122"/>
                </a:solidFill>
                <a:latin typeface="Calibri"/>
              </a:rPr>
              <a:t>Check the middle; discard the half that cannot contain the target</a:t>
            </a:r>
          </a:p>
          <a:p>
            <a:pPr marL="274320" indent="-274320">
              <a:spcAft>
                <a:spcPts val="990"/>
              </a:spcAft>
              <a:buClr>
                <a:srgbClr val="0645AD"/>
              </a:buClr>
              <a:buFont typeface="Arial"/>
              <a:buChar char="•"/>
            </a:pPr>
            <a:r>
              <a:rPr sz="2200" b="0">
                <a:solidFill>
                  <a:srgbClr val="202122"/>
                </a:solidFill>
                <a:latin typeface="Calibri"/>
              </a:rPr>
              <a:t>Repeat until found or nothing is left</a:t>
            </a:r>
          </a:p>
          <a:p>
            <a:pPr marL="274320" indent="-274320">
              <a:spcAft>
                <a:spcPts val="990"/>
              </a:spcAft>
              <a:buClr>
                <a:srgbClr val="0645AD"/>
              </a:buClr>
              <a:buFont typeface="Arial"/>
              <a:buChar char="•"/>
            </a:pPr>
            <a:r>
              <a:rPr sz="2200" b="0">
                <a:solidFill>
                  <a:srgbClr val="202122"/>
                </a:solidFill>
                <a:latin typeface="Calibri"/>
              </a:rPr>
              <a:t>Very fast on large lists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Searching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must be true before a binary search?</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the worst case for linear search?</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much does each binary search step remove?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Sorting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Bubble sort compares neighbouring items and swaps them if they're in the wrong order, making passes until a pass makes no swaps. Simple, but slow on big lists.</a:t>
            </a:r>
          </a:p>
          <a:p>
            <a:pPr>
              <a:spcAft>
                <a:spcPts val="1320"/>
              </a:spcAft>
            </a:pPr>
            <a:r>
              <a:rPr sz="2200" b="0">
                <a:solidFill>
                  <a:srgbClr val="202122"/>
                </a:solidFill>
                <a:latin typeface="Calibri"/>
              </a:rPr>
              <a:t>Insertion sort takes each item in turn and inserts it into the correct place in the sorted part of the list. It's efficient for small or nearly sorted lists.</a:t>
            </a:r>
          </a:p>
          <a:p>
            <a:pPr>
              <a:spcAft>
                <a:spcPts val="1320"/>
              </a:spcAft>
            </a:pPr>
            <a:r>
              <a:rPr sz="2200" b="0">
                <a:solidFill>
                  <a:srgbClr val="202122"/>
                </a:solidFill>
                <a:latin typeface="Calibri"/>
              </a:rPr>
              <a:t>Merge sort splits the list into single items, then merges pairs back together in order until one sorted list remains. It's fast on large lists but needs extra memory for the merging.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Sorting [5, 2, 4]: bubble sort swaps 5 and 2 to give [2, 5, 4], then 5 and 4 to give [2, 4, 5]; the next pass makes no swaps, so it stops.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Sorting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064077"/>
                <a:gridCol w="5676212"/>
                <a:gridCol w="3354125"/>
              </a:tblGrid>
              <a:tr h="1131570">
                <a:tc>
                  <a:txBody>
                    <a:bodyPr wrap="square"/>
                    <a:lstStyle/>
                    <a:p>
                      <a:r>
                        <a:rPr sz="1600" b="1">
                          <a:solidFill>
                            <a:srgbClr val="FFFFFF"/>
                          </a:solidFill>
                          <a:latin typeface="Calibri"/>
                        </a:rPr>
                        <a:t>Algorithm</a:t>
                      </a:r>
                    </a:p>
                  </a:txBody>
                  <a:tcPr marL="91440" marR="91440" anchor="ctr">
                    <a:solidFill>
                      <a:srgbClr val="03306E"/>
                    </a:solidFill>
                  </a:tcPr>
                </a:tc>
                <a:tc>
                  <a:txBody>
                    <a:bodyPr wrap="square"/>
                    <a:lstStyle/>
                    <a:p>
                      <a:r>
                        <a:rPr sz="1600" b="1">
                          <a:solidFill>
                            <a:srgbClr val="FFFFFF"/>
                          </a:solidFill>
                          <a:latin typeface="Calibri"/>
                        </a:rPr>
                        <a:t>How it works</a:t>
                      </a:r>
                    </a:p>
                  </a:txBody>
                  <a:tcPr marL="91440" marR="91440" anchor="ctr">
                    <a:solidFill>
                      <a:srgbClr val="03306E"/>
                    </a:solidFill>
                  </a:tcPr>
                </a:tc>
                <a:tc>
                  <a:txBody>
                    <a:bodyPr wrap="square"/>
                    <a:lstStyle/>
                    <a:p>
                      <a:r>
                        <a:rPr sz="1600" b="1">
                          <a:solidFill>
                            <a:srgbClr val="FFFFFF"/>
                          </a:solidFill>
                          <a:latin typeface="Calibri"/>
                        </a:rPr>
                        <a:t>Best for</a:t>
                      </a:r>
                    </a:p>
                  </a:txBody>
                  <a:tcPr marL="91440" marR="91440" anchor="ctr">
                    <a:solidFill>
                      <a:srgbClr val="03306E"/>
                    </a:solidFill>
                  </a:tcPr>
                </a:tc>
              </a:tr>
              <a:tr h="1131570">
                <a:tc>
                  <a:txBody>
                    <a:bodyPr wrap="square"/>
                    <a:lstStyle/>
                    <a:p>
                      <a:r>
                        <a:rPr sz="1600" b="1">
                          <a:solidFill>
                            <a:srgbClr val="03306E"/>
                          </a:solidFill>
                          <a:latin typeface="Calibri"/>
                        </a:rPr>
                        <a:t>Bubble sort</a:t>
                      </a:r>
                    </a:p>
                  </a:txBody>
                  <a:tcPr marL="91440" marR="91440" anchor="ctr">
                    <a:solidFill>
                      <a:srgbClr val="FFFFFF"/>
                    </a:solidFill>
                  </a:tcPr>
                </a:tc>
                <a:tc>
                  <a:txBody>
                    <a:bodyPr wrap="square"/>
                    <a:lstStyle/>
                    <a:p>
                      <a:r>
                        <a:rPr sz="1600" b="0">
                          <a:solidFill>
                            <a:srgbClr val="202122"/>
                          </a:solidFill>
                          <a:latin typeface="Calibri"/>
                        </a:rPr>
                        <a:t>Compare neighbours and swap; repeat passes until no swaps</a:t>
                      </a:r>
                    </a:p>
                  </a:txBody>
                  <a:tcPr marL="91440" marR="91440" anchor="ctr">
                    <a:solidFill>
                      <a:srgbClr val="FFFFFF"/>
                    </a:solidFill>
                  </a:tcPr>
                </a:tc>
                <a:tc>
                  <a:txBody>
                    <a:bodyPr wrap="square"/>
                    <a:lstStyle/>
                    <a:p>
                      <a:r>
                        <a:rPr sz="1600" b="0">
                          <a:solidFill>
                            <a:srgbClr val="202122"/>
                          </a:solidFill>
                          <a:latin typeface="Calibri"/>
                        </a:rPr>
                        <a:t>Tiny lists, teaching</a:t>
                      </a:r>
                    </a:p>
                  </a:txBody>
                  <a:tcPr marL="91440" marR="91440" anchor="ctr">
                    <a:solidFill>
                      <a:srgbClr val="FFFFFF"/>
                    </a:solidFill>
                  </a:tcPr>
                </a:tc>
              </a:tr>
              <a:tr h="1131570">
                <a:tc>
                  <a:txBody>
                    <a:bodyPr wrap="square"/>
                    <a:lstStyle/>
                    <a:p>
                      <a:r>
                        <a:rPr sz="1600" b="1">
                          <a:solidFill>
                            <a:srgbClr val="03306E"/>
                          </a:solidFill>
                          <a:latin typeface="Calibri"/>
                        </a:rPr>
                        <a:t>Insertion sort</a:t>
                      </a:r>
                    </a:p>
                  </a:txBody>
                  <a:tcPr marL="91440" marR="91440" anchor="ctr">
                    <a:solidFill>
                      <a:srgbClr val="EAF3FF"/>
                    </a:solidFill>
                  </a:tcPr>
                </a:tc>
                <a:tc>
                  <a:txBody>
                    <a:bodyPr wrap="square"/>
                    <a:lstStyle/>
                    <a:p>
                      <a:r>
                        <a:rPr sz="1600" b="0">
                          <a:solidFill>
                            <a:srgbClr val="202122"/>
                          </a:solidFill>
                          <a:latin typeface="Calibri"/>
                        </a:rPr>
                        <a:t>Take each item and insert it into the sorted part</a:t>
                      </a:r>
                    </a:p>
                  </a:txBody>
                  <a:tcPr marL="91440" marR="91440" anchor="ctr">
                    <a:solidFill>
                      <a:srgbClr val="EAF3FF"/>
                    </a:solidFill>
                  </a:tcPr>
                </a:tc>
                <a:tc>
                  <a:txBody>
                    <a:bodyPr wrap="square"/>
                    <a:lstStyle/>
                    <a:p>
                      <a:r>
                        <a:rPr sz="1600" b="0">
                          <a:solidFill>
                            <a:srgbClr val="202122"/>
                          </a:solidFill>
                          <a:latin typeface="Calibri"/>
                        </a:rPr>
                        <a:t>Small or nearly sorted lists</a:t>
                      </a:r>
                    </a:p>
                  </a:txBody>
                  <a:tcPr marL="91440" marR="91440" anchor="ctr">
                    <a:solidFill>
                      <a:srgbClr val="EAF3FF"/>
                    </a:solidFill>
                  </a:tcPr>
                </a:tc>
              </a:tr>
              <a:tr h="1131570">
                <a:tc>
                  <a:txBody>
                    <a:bodyPr wrap="square"/>
                    <a:lstStyle/>
                    <a:p>
                      <a:r>
                        <a:rPr sz="1600" b="1">
                          <a:solidFill>
                            <a:srgbClr val="03306E"/>
                          </a:solidFill>
                          <a:latin typeface="Calibri"/>
                        </a:rPr>
                        <a:t>Merge sort</a:t>
                      </a:r>
                    </a:p>
                  </a:txBody>
                  <a:tcPr marL="91440" marR="91440" anchor="ctr">
                    <a:solidFill>
                      <a:srgbClr val="FFFFFF"/>
                    </a:solidFill>
                  </a:tcPr>
                </a:tc>
                <a:tc>
                  <a:txBody>
                    <a:bodyPr wrap="square"/>
                    <a:lstStyle/>
                    <a:p>
                      <a:r>
                        <a:rPr sz="1600" b="0">
                          <a:solidFill>
                            <a:srgbClr val="202122"/>
                          </a:solidFill>
                          <a:latin typeface="Calibri"/>
                        </a:rPr>
                        <a:t>Split into single items, then merge pairs back in order</a:t>
                      </a:r>
                    </a:p>
                  </a:txBody>
                  <a:tcPr marL="91440" marR="91440" anchor="ctr">
                    <a:solidFill>
                      <a:srgbClr val="FFFFFF"/>
                    </a:solidFill>
                  </a:tcPr>
                </a:tc>
                <a:tc>
                  <a:txBody>
                    <a:bodyPr wrap="square"/>
                    <a:lstStyle/>
                    <a:p>
                      <a:r>
                        <a:rPr sz="1600" b="0">
                          <a:solidFill>
                            <a:srgbClr val="202122"/>
                          </a:solidFill>
                          <a:latin typeface="Calibri"/>
                        </a:rPr>
                        <a:t>Large lists; needs extra memory</a:t>
                      </a:r>
                    </a:p>
                  </a:txBody>
                  <a:tcPr marL="91440" marR="91440"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Sorting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How does bubble sort know it has finished?</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sort suits nearly sorted data?</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merge sort's drawback?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Comparing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Algorithms that do the same job can perform very differently.</a:t>
            </a:r>
          </a:p>
          <a:p>
            <a:pPr>
              <a:spcAft>
                <a:spcPts val="1260"/>
              </a:spcAft>
            </a:pPr>
            <a:r>
              <a:rPr sz="2100" b="0">
                <a:solidFill>
                  <a:srgbClr val="202122"/>
                </a:solidFill>
                <a:latin typeface="Calibri"/>
              </a:rPr>
              <a:t>Compare them by execution time (how long they take as the data grows), memory use (merge sort needs extra space; bubble and insertion sort work in place) and the number of comparisons they make.</a:t>
            </a:r>
          </a:p>
          <a:p>
            <a:pPr>
              <a:spcAft>
                <a:spcPts val="1260"/>
              </a:spcAft>
            </a:pPr>
            <a:r>
              <a:rPr sz="2100" b="0">
                <a:solidFill>
                  <a:srgbClr val="202122"/>
                </a:solidFill>
                <a:latin typeface="Calibri"/>
              </a:rPr>
              <a:t>Think about best, worst and average cases. Bubble sort on an already sorted list finishes in one pass (best case) but on a reversed list needs the maximum number of passes (worst case).</a:t>
            </a:r>
          </a:p>
          <a:p>
            <a:pPr>
              <a:spcAft>
                <a:spcPts val="1260"/>
              </a:spcAft>
            </a:pPr>
            <a:r>
              <a:rPr sz="2100" b="0">
                <a:solidFill>
                  <a:srgbClr val="202122"/>
                </a:solidFill>
                <a:latin typeface="Calibri"/>
              </a:rPr>
              <a:t>Choose the algorithm that suits the data size and situation.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Sorting a class list of 30 names: insertion sort is fine. Sorting 5 million transactions overnight: merge sort.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Comparing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Execution time</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How long it takes as the data grows.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Memory use</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Merge sort needs extra memory to merge; bubble and insertion sort in place.</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Comparisons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Count how many times items are compared.</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Best, worst, average</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Bubble sort on sorted data can finish in one pass; reversed data is its worst case.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Comparing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three ways to compare algorithms.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bubble sort's best case?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sort would you use for millions of records?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What must be true before a binary search?</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How many items might a linear search check in a list of 1,000?</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Which sort splits a list and merges it back together?</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Which sort is efficient on nearly sorted data?</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Give one drawback of merge sort.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What must be true before a binary search?</a:t>
            </a:r>
          </a:p>
          <a:p>
            <a:r>
              <a:rPr sz="1800" b="1">
                <a:solidFill>
                  <a:srgbClr val="03306E"/>
                </a:solidFill>
                <a:latin typeface="Calibri"/>
              </a:rPr>
              <a:t>The data must be sorted.</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How many items might a linear search check in a list of 1,000?</a:t>
            </a:r>
          </a:p>
          <a:p>
            <a:r>
              <a:rPr sz="1800" b="1">
                <a:solidFill>
                  <a:srgbClr val="03306E"/>
                </a:solidFill>
                <a:latin typeface="Calibri"/>
              </a:rPr>
              <a:t>Up to 1,000 (every item).</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Which sort splits a list and merges it back together?</a:t>
            </a:r>
          </a:p>
          <a:p>
            <a:r>
              <a:rPr sz="1800" b="1">
                <a:solidFill>
                  <a:srgbClr val="03306E"/>
                </a:solidFill>
                <a:latin typeface="Calibri"/>
              </a:rPr>
              <a:t>Merge sort.</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Which sort is efficient on nearly sorted data?</a:t>
            </a:r>
          </a:p>
          <a:p>
            <a:r>
              <a:rPr sz="1800" b="1">
                <a:solidFill>
                  <a:srgbClr val="03306E"/>
                </a:solidFill>
                <a:latin typeface="Calibri"/>
              </a:rPr>
              <a:t>Insertion sort.</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Give one drawback of merge sort.</a:t>
            </a:r>
          </a:p>
          <a:p>
            <a:r>
              <a:rPr sz="1800" b="1">
                <a:solidFill>
                  <a:srgbClr val="03306E"/>
                </a:solidFill>
                <a:latin typeface="Calibri"/>
              </a:rPr>
              <a:t>It uses extra memory.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Human sorting race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Searching and Sorting Algorithms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Groups of eight</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Each person holds a number card.</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Sort yourselves using bubble sort, counting comparisons.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Shuffle and repeat with insertion sort, then merge sort.</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Compare the counts and write a rule for when to use each.</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Each algorithm followed correctly</a:t>
            </a:r>
          </a:p>
          <a:p>
            <a:pPr marL="274320" indent="-274320">
              <a:spcAft>
                <a:spcPts val="810"/>
              </a:spcAft>
              <a:buClr>
                <a:srgbClr val="0645AD"/>
              </a:buClr>
              <a:buFont typeface="Arial"/>
              <a:buChar char="•"/>
            </a:pPr>
            <a:r>
              <a:rPr sz="1800" b="0">
                <a:solidFill>
                  <a:srgbClr val="202122"/>
                </a:solidFill>
                <a:latin typeface="Calibri"/>
              </a:rPr>
              <a:t>Comparisons counted</a:t>
            </a:r>
          </a:p>
          <a:p>
            <a:pPr marL="274320" indent="-274320">
              <a:spcAft>
                <a:spcPts val="810"/>
              </a:spcAft>
              <a:buClr>
                <a:srgbClr val="0645AD"/>
              </a:buClr>
              <a:buFont typeface="Arial"/>
              <a:buChar char="•"/>
            </a:pPr>
            <a:r>
              <a:rPr sz="1800" b="0">
                <a:solidFill>
                  <a:srgbClr val="202122"/>
                </a:solidFill>
                <a:latin typeface="Calibri"/>
              </a:rPr>
              <a:t>Rule is justified with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can't binary search work on unsorted data?</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the worst case for bubble sort?</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Which algorithm would you use to sort 1 million records, and why?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Programming, Emerging Issues and Legislation</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Searching and Sorting Algorithms</dc:title>
  <dc:subject>Digital Software Development T Level: Core Paper 1</dc:subject>
  <dc:creator>Samuel O'Connell</dc:creator>
  <cp:keywords>T Level; Digital Software Development; lesson slides; 2.11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