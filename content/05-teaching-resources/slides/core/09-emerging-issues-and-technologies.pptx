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E.g. remote working, monitoring, automation.</a:t>
            </a:r>
          </a:p>
          <a:p>
            <a:r>
              <a:t>2. E.g. job losses, privacy concerns, isolation.</a:t>
            </a:r>
          </a:p>
          <a:p>
            <a:r>
              <a:t>3. Less routine coding, more design, testing and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Everyone being able to use digital products fairly.</a:t>
            </a:r>
          </a:p>
          <a:p>
            <a:r>
              <a:t>2. Biased data produces unfair software.</a:t>
            </a:r>
          </a:p>
          <a:p>
            <a:r>
              <a:t>3. E.g. age, digital skills, accessibility needs.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Processing data close to where it's collected.</a:t>
            </a:r>
          </a:p>
          <a:p>
            <a:r>
              <a:t>2. E.g. rare metals, energy use, disposal.</a:t>
            </a:r>
          </a:p>
          <a:p>
            <a:r>
              <a:t>3. Finds patterns in data to make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Emerging Issues and Technologies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3.1, 3.2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Explain how digital technology affects organisational culture and society.</a:t>
            </a:r>
          </a:p>
        </p:txBody>
      </p:sp>
      <p:sp>
        <p:nvSpPr>
          <p:cNvPr id="9" name="Oval 8"/>
          <p:cNvSpPr/>
          <p:nvPr/>
        </p:nvSpPr>
        <p:spPr>
          <a:xfrm>
            <a:off x="548640" y="329184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Describe digital inclusion, including bias in datasets.</a:t>
            </a:r>
          </a:p>
        </p:txBody>
      </p:sp>
      <p:sp>
        <p:nvSpPr>
          <p:cNvPr id="11" name="Oval 10"/>
          <p:cNvSpPr/>
          <p:nvPr/>
        </p:nvSpPr>
        <p:spPr>
          <a:xfrm>
            <a:off x="548640" y="43434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Evaluate the impact of emerging technologies.</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Generative AI can now write code. Will software developers still be needed in ten years?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Impact of digital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Digital technology changes how organisations work: communication moves online, people are expected to be more productive and available, staff are monitored more, remote and hybrid working are normal, and automation and AI take over routine tasks.</a:t>
            </a:r>
          </a:p>
          <a:p>
            <a:pPr>
              <a:spcAft>
                <a:spcPts val="1320"/>
              </a:spcAft>
            </a:pPr>
            <a:r>
              <a:rPr sz="2200" b="1">
                <a:solidFill>
                  <a:srgbClr val="202122"/>
                </a:solidFill>
                <a:latin typeface="Calibri"/>
              </a:rPr>
              <a:t>It also changes society:</a:t>
            </a:r>
            <a:r>
              <a:rPr sz="2200" b="0">
                <a:solidFill>
                  <a:srgbClr val="202122"/>
                </a:solidFill>
                <a:latin typeface="Calibri"/>
              </a:rPr>
              <a:t> some jobs disappear and new skills are needed, fewer decisions involve humans, privacy is harder to protect and behaviour changes. Access to information and services improves for many, but people without skills, devices or internet risk being left out. Generative AI and globalisation are speeding this up.</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AI coding assistants speed up routine code, so developers spend more time on design, testing and checking the AI's output.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Impact of digital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On organisational culture</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New ways of communicating</a:t>
            </a:r>
          </a:p>
          <a:p>
            <a:pPr marL="274320" indent="-274320">
              <a:spcAft>
                <a:spcPts val="990"/>
              </a:spcAft>
              <a:buClr>
                <a:srgbClr val="0645AD"/>
              </a:buClr>
              <a:buFont typeface="Arial"/>
              <a:buChar char="•"/>
            </a:pPr>
            <a:r>
              <a:rPr sz="2200" b="0">
                <a:solidFill>
                  <a:srgbClr val="202122"/>
                </a:solidFill>
                <a:latin typeface="Calibri"/>
              </a:rPr>
              <a:t>Higher expectations of productivity and availability</a:t>
            </a:r>
          </a:p>
          <a:p>
            <a:pPr marL="274320" indent="-274320">
              <a:spcAft>
                <a:spcPts val="990"/>
              </a:spcAft>
              <a:buClr>
                <a:srgbClr val="0645AD"/>
              </a:buClr>
              <a:buFont typeface="Arial"/>
              <a:buChar char="•"/>
            </a:pPr>
            <a:r>
              <a:rPr sz="2200" b="0">
                <a:solidFill>
                  <a:srgbClr val="202122"/>
                </a:solidFill>
                <a:latin typeface="Calibri"/>
              </a:rPr>
              <a:t>More staff monitoring</a:t>
            </a:r>
          </a:p>
          <a:p>
            <a:pPr marL="274320" indent="-274320">
              <a:spcAft>
                <a:spcPts val="990"/>
              </a:spcAft>
              <a:buClr>
                <a:srgbClr val="0645AD"/>
              </a:buClr>
              <a:buFont typeface="Arial"/>
              <a:buChar char="•"/>
            </a:pPr>
            <a:r>
              <a:rPr sz="2200" b="0">
                <a:solidFill>
                  <a:srgbClr val="202122"/>
                </a:solidFill>
                <a:latin typeface="Calibri"/>
              </a:rPr>
              <a:t>Remote, hybrid and in-office working</a:t>
            </a:r>
          </a:p>
          <a:p>
            <a:pPr marL="274320" indent="-274320">
              <a:spcAft>
                <a:spcPts val="990"/>
              </a:spcAft>
              <a:buClr>
                <a:srgbClr val="0645AD"/>
              </a:buClr>
              <a:buFont typeface="Arial"/>
              <a:buChar char="•"/>
            </a:pPr>
            <a:r>
              <a:rPr sz="2200" b="0">
                <a:solidFill>
                  <a:srgbClr val="202122"/>
                </a:solidFill>
                <a:latin typeface="Calibri"/>
              </a:rPr>
              <a:t>Automation, including AI</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On society</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45"/>
              </a:spcAft>
              <a:buClr>
                <a:srgbClr val="0645AD"/>
              </a:buClr>
              <a:buFont typeface="Arial"/>
              <a:buChar char="•"/>
            </a:pPr>
            <a:r>
              <a:rPr sz="2100" b="0">
                <a:solidFill>
                  <a:srgbClr val="202122"/>
                </a:solidFill>
                <a:latin typeface="Calibri"/>
              </a:rPr>
              <a:t>Job losses and changing skills</a:t>
            </a:r>
          </a:p>
          <a:p>
            <a:pPr marL="274320" indent="-274320">
              <a:spcAft>
                <a:spcPts val="945"/>
              </a:spcAft>
              <a:buClr>
                <a:srgbClr val="0645AD"/>
              </a:buClr>
              <a:buFont typeface="Arial"/>
              <a:buChar char="•"/>
            </a:pPr>
            <a:r>
              <a:rPr sz="2100" b="0">
                <a:solidFill>
                  <a:srgbClr val="202122"/>
                </a:solidFill>
                <a:latin typeface="Calibri"/>
              </a:rPr>
              <a:t>Less human decision-making</a:t>
            </a:r>
          </a:p>
          <a:p>
            <a:pPr marL="274320" indent="-274320">
              <a:spcAft>
                <a:spcPts val="945"/>
              </a:spcAft>
              <a:buClr>
                <a:srgbClr val="0645AD"/>
              </a:buClr>
              <a:buFont typeface="Arial"/>
              <a:buChar char="•"/>
            </a:pPr>
            <a:r>
              <a:rPr sz="2100" b="0">
                <a:solidFill>
                  <a:srgbClr val="202122"/>
                </a:solidFill>
                <a:latin typeface="Calibri"/>
              </a:rPr>
              <a:t>Privacy, digital footprint and surveillance</a:t>
            </a:r>
          </a:p>
          <a:p>
            <a:pPr marL="274320" indent="-274320">
              <a:spcAft>
                <a:spcPts val="945"/>
              </a:spcAft>
              <a:buClr>
                <a:srgbClr val="0645AD"/>
              </a:buClr>
              <a:buFont typeface="Arial"/>
              <a:buChar char="•"/>
            </a:pPr>
            <a:r>
              <a:rPr sz="2100" b="0">
                <a:solidFill>
                  <a:srgbClr val="202122"/>
                </a:solidFill>
                <a:latin typeface="Calibri"/>
              </a:rPr>
              <a:t>Isolation for some, better access for others</a:t>
            </a:r>
          </a:p>
          <a:p>
            <a:pPr marL="274320" indent="-274320">
              <a:spcAft>
                <a:spcPts val="945"/>
              </a:spcAft>
              <a:buClr>
                <a:srgbClr val="0645AD"/>
              </a:buClr>
              <a:buFont typeface="Arial"/>
              <a:buChar char="•"/>
            </a:pPr>
            <a:r>
              <a:rPr sz="2100" b="0">
                <a:solidFill>
                  <a:srgbClr val="202122"/>
                </a:solidFill>
                <a:latin typeface="Calibri"/>
              </a:rPr>
              <a:t>Generative AI and globalisation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Impact of digital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Give two impacts of technology on organisations.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one negative impact on society.</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is AI changing developers' work?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Digital inclusion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Digital inclusion means everyone can use digital products fairly.</a:t>
            </a:r>
          </a:p>
          <a:p>
            <a:pPr>
              <a:spcAft>
                <a:spcPts val="1200"/>
              </a:spcAft>
            </a:pPr>
            <a:r>
              <a:rPr sz="2000" b="0">
                <a:solidFill>
                  <a:srgbClr val="202122"/>
                </a:solidFill>
                <a:latin typeface="Calibri"/>
              </a:rPr>
              <a:t>It needs suitable technology and connectivity, design that follows accessibility best practice, and, for public sector services, meeting accessibility regulations by law.</a:t>
            </a:r>
          </a:p>
          <a:p>
            <a:pPr>
              <a:spcAft>
                <a:spcPts val="1200"/>
              </a:spcAft>
            </a:pPr>
            <a:r>
              <a:rPr sz="2000" b="0">
                <a:solidFill>
                  <a:srgbClr val="202122"/>
                </a:solidFill>
                <a:latin typeface="Calibri"/>
              </a:rPr>
              <a:t>Developers must also check datasets for bias. An AI trained on data that under-represents some groups will treat those groups unfairly.</a:t>
            </a:r>
          </a:p>
          <a:p>
            <a:pPr>
              <a:spcAft>
                <a:spcPts val="1200"/>
              </a:spcAft>
            </a:pPr>
            <a:r>
              <a:rPr sz="2000" b="0">
                <a:solidFill>
                  <a:srgbClr val="202122"/>
                </a:solidFill>
                <a:latin typeface="Calibri"/>
              </a:rPr>
              <a:t>Think about users' age, digital and literacy skills, whether they're staff or the public, culture, and accessibility needs such as screen readers or limited mobility.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face-unlock feature trained mostly on lighter skin tones fails more often for darker-skinned users: biased data, unfair product.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Digital inclusion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Fair access needs suitable technology and connectivity.</a:t>
            </a:r>
          </a:p>
          <a:p>
            <a:pPr marL="274320" indent="-274320">
              <a:spcAft>
                <a:spcPts val="1080"/>
              </a:spcAft>
              <a:buClr>
                <a:srgbClr val="0645AD"/>
              </a:buClr>
              <a:buFont typeface="Arial"/>
              <a:buChar char="•"/>
            </a:pPr>
            <a:r>
              <a:rPr sz="2400" b="0">
                <a:solidFill>
                  <a:srgbClr val="202122"/>
                </a:solidFill>
                <a:latin typeface="Calibri"/>
              </a:rPr>
              <a:t>Check datasets for bias before training or using them.</a:t>
            </a:r>
          </a:p>
          <a:p>
            <a:pPr marL="274320" indent="-274320">
              <a:spcAft>
                <a:spcPts val="1080"/>
              </a:spcAft>
              <a:buClr>
                <a:srgbClr val="0645AD"/>
              </a:buClr>
              <a:buFont typeface="Arial"/>
              <a:buChar char="•"/>
            </a:pPr>
            <a:r>
              <a:rPr sz="2400" b="0">
                <a:solidFill>
                  <a:srgbClr val="202122"/>
                </a:solidFill>
                <a:latin typeface="Calibri"/>
              </a:rPr>
              <a:t>Follow best-practice codes and public sector accessibility regulations.</a:t>
            </a:r>
          </a:p>
          <a:p>
            <a:pPr marL="274320" indent="-274320">
              <a:spcAft>
                <a:spcPts val="1080"/>
              </a:spcAft>
              <a:buClr>
                <a:srgbClr val="0645AD"/>
              </a:buClr>
              <a:buFont typeface="Arial"/>
              <a:buChar char="•"/>
            </a:pPr>
            <a:r>
              <a:rPr sz="2400" b="0">
                <a:solidFill>
                  <a:srgbClr val="202122"/>
                </a:solidFill>
                <a:latin typeface="Calibri"/>
              </a:rPr>
              <a:t>Consider users' age, digital and literacy skills, culture and accessibility needs.</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Biased training data produces biased software. Developers are responsible for checking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Digital inclusion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digital inclusion?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check datasets for bias?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Name two user characteristics that affect inclusion.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Several technologies are changing what developers build.</a:t>
            </a:r>
          </a:p>
          <a:p>
            <a:pPr>
              <a:spcAft>
                <a:spcPts val="1200"/>
              </a:spcAft>
            </a:pPr>
            <a:r>
              <a:rPr sz="2000" b="0">
                <a:solidFill>
                  <a:srgbClr val="202122"/>
                </a:solidFill>
                <a:latin typeface="Calibri"/>
              </a:rPr>
              <a:t>Quantum computing could solve problems ordinary computers can't. The Internet of Things connects billions of devices, with edge computing processing data close to where it's collected. AI and machine learning power recommendations and generative tools. Augmented and virtual reality create new interfaces. Open source software and blockchain change how code and data are shared. Autonomous machines, such as self-driving cars, rely on software to make decisions.</a:t>
            </a:r>
          </a:p>
          <a:p>
            <a:pPr>
              <a:spcAft>
                <a:spcPts val="1200"/>
              </a:spcAft>
            </a:pPr>
            <a:r>
              <a:rPr sz="2000" b="1">
                <a:solidFill>
                  <a:srgbClr val="202122"/>
                </a:solidFill>
                <a:latin typeface="Calibri"/>
              </a:rPr>
              <a:t>All have environmental costs:</a:t>
            </a:r>
            <a:r>
              <a:rPr sz="2000" b="0">
                <a:solidFill>
                  <a:srgbClr val="202122"/>
                </a:solidFill>
                <a:latin typeface="Calibri"/>
              </a:rPr>
              <a:t> rare metals, energy use and disposal.</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smart-farm app combines IoT soil sensors, edge computing on a field hub, and machine learning to decide when to water.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600" b="1" i="0">
                <a:solidFill>
                  <a:srgbClr val="03306E"/>
                </a:solidFill>
                <a:latin typeface="Calibri"/>
              </a:rPr>
              <a:t>Processing and storage</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Quantum computing and growing storage demand.</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IoT</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Edge computing in industry, smart cities and homes.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AI</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Generative AI and machine learning.</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Extended reality</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Augmented and virtual reality.</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600" b="1" i="0">
                <a:solidFill>
                  <a:srgbClr val="03306E"/>
                </a:solidFill>
                <a:latin typeface="Calibri"/>
              </a:rPr>
              <a:t>Open source and blockchain</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Shared code and tamper-resistant ledgers.</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Autonomous machines</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1800" b="0" i="0">
                <a:solidFill>
                  <a:srgbClr val="202122"/>
                </a:solidFill>
                <a:latin typeface="Calibri"/>
              </a:rPr>
              <a:t>Self-driving cars, robotic assembly. Plus environmental costs: rare metals, energy, disposal.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Emerging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edge computing?</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one environmental cost of technology.</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machine learning do?</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Give two impacts of digital technology on society.</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Why should developers check datasets for bias?</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edge computing?</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Give one environmental impact of new technology.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Give two impacts of digital technology on society.</a:t>
            </a:r>
          </a:p>
          <a:p>
            <a:r>
              <a:rPr sz="1800" b="1">
                <a:solidFill>
                  <a:srgbClr val="03306E"/>
                </a:solidFill>
                <a:latin typeface="Calibri"/>
              </a:rPr>
              <a:t>Any two, e.g. job losses, privacy concerns, better access to information.</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Why should developers check datasets for bias?</a:t>
            </a:r>
          </a:p>
          <a:p>
            <a:r>
              <a:rPr sz="1800" b="1">
                <a:solidFill>
                  <a:srgbClr val="03306E"/>
                </a:solidFill>
                <a:latin typeface="Calibri"/>
              </a:rPr>
              <a:t>Biased data leads to unfair or inaccurate software.</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edge computing?</a:t>
            </a:r>
          </a:p>
          <a:p>
            <a:r>
              <a:rPr sz="1800" b="1">
                <a:solidFill>
                  <a:srgbClr val="03306E"/>
                </a:solidFill>
                <a:latin typeface="Calibri"/>
              </a:rPr>
              <a:t>Processing data near where it is collected rather than centrally.</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Give one environmental impact of new technology.</a:t>
            </a:r>
          </a:p>
          <a:p>
            <a:r>
              <a:rPr sz="1800" b="1">
                <a:solidFill>
                  <a:srgbClr val="03306E"/>
                </a:solidFill>
                <a:latin typeface="Calibri"/>
              </a:rPr>
              <a:t>Rare metal use, energy use or disposal.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Ethics review</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Issues and Technologies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Your group is building an AI tool to shortlist job applicants.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Identify three ways it could exclude or disadvantage people.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Suggest a fix for each.</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Present your review in two minutes.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Considers bias in training data</a:t>
            </a:r>
          </a:p>
          <a:p>
            <a:pPr marL="274320" indent="-274320">
              <a:spcAft>
                <a:spcPts val="810"/>
              </a:spcAft>
              <a:buClr>
                <a:srgbClr val="0645AD"/>
              </a:buClr>
              <a:buFont typeface="Arial"/>
              <a:buChar char="•"/>
            </a:pPr>
            <a:r>
              <a:rPr sz="1800" b="0">
                <a:solidFill>
                  <a:srgbClr val="202122"/>
                </a:solidFill>
                <a:latin typeface="Calibri"/>
              </a:rPr>
              <a:t>Considers accessibility</a:t>
            </a:r>
          </a:p>
          <a:p>
            <a:pPr marL="274320" indent="-274320">
              <a:spcAft>
                <a:spcPts val="810"/>
              </a:spcAft>
              <a:buClr>
                <a:srgbClr val="0645AD"/>
              </a:buClr>
              <a:buFont typeface="Arial"/>
              <a:buChar char="•"/>
            </a:pPr>
            <a:r>
              <a:rPr sz="1800" b="0">
                <a:solidFill>
                  <a:srgbClr val="202122"/>
                </a:solidFill>
                <a:latin typeface="Calibri"/>
              </a:rPr>
              <a:t>Fixes are realistic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emerging technology will most change software development?</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Name one characteristic that affects inclusivity.</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does professional development matter for developers?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Programming, Emerging Issues and Legislation</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Issues and Technologies</dc:title>
  <dc:subject>Digital Software Development T Level: Core Paper 1</dc:subject>
  <dc:creator>Samuel O'Connell</dc:creator>
  <cp:keywords>T Level; Digital Software Development; lesson slides; 3.1, 3.2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