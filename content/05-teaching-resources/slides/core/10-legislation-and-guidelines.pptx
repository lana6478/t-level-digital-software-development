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An eye test.</a:t>
            </a:r>
          </a:p>
          <a:p>
            <a:r>
              <a:t>2. E.g. eye strain, back, neck or wrist pain.</a:t>
            </a:r>
          </a:p>
          <a:p>
            <a:r>
              <a:t>3. E.g. chair, screen height, lighting.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The Data Protection Act / UK GDPR.</a:t>
            </a:r>
          </a:p>
          <a:p>
            <a:r>
              <a:t>2. Unauthorised access and damaging systems.</a:t>
            </a:r>
          </a:p>
          <a:p>
            <a:r>
              <a:t>3. Nine.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WCAG.</a:t>
            </a:r>
          </a:p>
          <a:p>
            <a:r>
              <a:t>2. E.g. BCS, IAP.</a:t>
            </a:r>
          </a:p>
          <a:p>
            <a:r>
              <a:t>3. Safely reporting wrongdoing in an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Legislation and Guidelines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4.1, 4.2</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Describe health and safety law for digital work.</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Explain data protection, computer misuse, equality and intellectual property law.</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Explain how codes of conduct and industry standards shape professional behaviour.</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Describe acceptable use policies and whistleblowing.</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You find that your company's app is collecting users' locations without telling them. What should you 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Health and safety for digital work</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Software developers spend long hours at screens, so health and safety law still matters.</a:t>
            </a:r>
          </a:p>
          <a:p>
            <a:pPr>
              <a:spcAft>
                <a:spcPts val="1320"/>
              </a:spcAft>
            </a:pPr>
            <a:r>
              <a:rPr sz="2200" b="0">
                <a:solidFill>
                  <a:srgbClr val="202122"/>
                </a:solidFill>
                <a:latin typeface="Calibri"/>
              </a:rPr>
              <a:t>Under the Health and Safety at Work Act, employers must provide a safe environment, training, welfare facilities, and information, instruction and supervision.</a:t>
            </a:r>
          </a:p>
          <a:p>
            <a:pPr>
              <a:spcAft>
                <a:spcPts val="1320"/>
              </a:spcAft>
            </a:pPr>
            <a:r>
              <a:rPr sz="2200" b="0">
                <a:solidFill>
                  <a:srgbClr val="202122"/>
                </a:solidFill>
                <a:latin typeface="Calibri"/>
              </a:rPr>
              <a:t>Display screen equipment (DSE) rules require workstation assessments (chair, screen height, lighting), regular breaks from the screen, eye tests on request, and training.</a:t>
            </a:r>
          </a:p>
          <a:p>
            <a:pPr>
              <a:spcAft>
                <a:spcPts val="1320"/>
              </a:spcAft>
            </a:pPr>
            <a:r>
              <a:rPr sz="2200" b="0">
                <a:solidFill>
                  <a:srgbClr val="202122"/>
                </a:solidFill>
                <a:latin typeface="Calibri"/>
              </a:rPr>
              <a:t>Without them, developers risk eye strain, headaches, and back, neck and wrist problems.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developer with wrist pain gets a DSE assessment, leading to a better keyboard position, a mouse change and scheduled micro-breaks.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Health and safety for digital work</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Health and Safety at Work Act</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A safe working environment</a:t>
            </a:r>
          </a:p>
          <a:p>
            <a:pPr marL="274320" indent="-274320">
              <a:spcAft>
                <a:spcPts val="990"/>
              </a:spcAft>
              <a:buClr>
                <a:srgbClr val="0645AD"/>
              </a:buClr>
              <a:buFont typeface="Arial"/>
              <a:buChar char="•"/>
            </a:pPr>
            <a:r>
              <a:rPr sz="2200" b="0">
                <a:solidFill>
                  <a:srgbClr val="202122"/>
                </a:solidFill>
                <a:latin typeface="Calibri"/>
              </a:rPr>
              <a:t>Properly trained staff</a:t>
            </a:r>
          </a:p>
          <a:p>
            <a:pPr marL="274320" indent="-274320">
              <a:spcAft>
                <a:spcPts val="990"/>
              </a:spcAft>
              <a:buClr>
                <a:srgbClr val="0645AD"/>
              </a:buClr>
              <a:buFont typeface="Arial"/>
              <a:buChar char="•"/>
            </a:pPr>
            <a:r>
              <a:rPr sz="2200" b="0">
                <a:solidFill>
                  <a:srgbClr val="202122"/>
                </a:solidFill>
                <a:latin typeface="Calibri"/>
              </a:rPr>
              <a:t>Adequate welfare</a:t>
            </a:r>
          </a:p>
          <a:p>
            <a:pPr marL="274320" indent="-274320">
              <a:spcAft>
                <a:spcPts val="990"/>
              </a:spcAft>
              <a:buClr>
                <a:srgbClr val="0645AD"/>
              </a:buClr>
              <a:buFont typeface="Arial"/>
              <a:buChar char="•"/>
            </a:pPr>
            <a:r>
              <a:rPr sz="2200" b="0">
                <a:solidFill>
                  <a:srgbClr val="202122"/>
                </a:solidFill>
                <a:latin typeface="Calibri"/>
              </a:rPr>
              <a:t>Information, instruction and supervision</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Display screen equipment</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Workstation assessments</a:t>
            </a:r>
          </a:p>
          <a:p>
            <a:pPr marL="274320" indent="-274320">
              <a:spcAft>
                <a:spcPts val="990"/>
              </a:spcAft>
              <a:buClr>
                <a:srgbClr val="0645AD"/>
              </a:buClr>
              <a:buFont typeface="Arial"/>
              <a:buChar char="•"/>
            </a:pPr>
            <a:r>
              <a:rPr sz="2200" b="0">
                <a:solidFill>
                  <a:srgbClr val="202122"/>
                </a:solidFill>
                <a:latin typeface="Calibri"/>
              </a:rPr>
              <a:t>Regular breaks from the screen</a:t>
            </a:r>
          </a:p>
          <a:p>
            <a:pPr marL="274320" indent="-274320">
              <a:spcAft>
                <a:spcPts val="990"/>
              </a:spcAft>
              <a:buClr>
                <a:srgbClr val="0645AD"/>
              </a:buClr>
              <a:buFont typeface="Arial"/>
              <a:buChar char="•"/>
            </a:pPr>
            <a:r>
              <a:rPr sz="2200" b="0">
                <a:solidFill>
                  <a:srgbClr val="202122"/>
                </a:solidFill>
                <a:latin typeface="Calibri"/>
              </a:rPr>
              <a:t>Eye tests on request</a:t>
            </a:r>
          </a:p>
          <a:p>
            <a:pPr marL="274320" indent="-274320">
              <a:spcAft>
                <a:spcPts val="990"/>
              </a:spcAft>
              <a:buClr>
                <a:srgbClr val="0645AD"/>
              </a:buClr>
              <a:buFont typeface="Arial"/>
              <a:buChar char="•"/>
            </a:pPr>
            <a:r>
              <a:rPr sz="2200" b="0">
                <a:solidFill>
                  <a:srgbClr val="202122"/>
                </a:solidFill>
                <a:latin typeface="Calibri"/>
              </a:rPr>
              <a:t>Training and information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Health and safety for digital work</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must employers provide DSE users on request?</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Name two health risks of long screen use.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a workstation assessment check?</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Key legislation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Developers must build software that respects the law.</a:t>
            </a:r>
          </a:p>
          <a:p>
            <a:pPr>
              <a:spcAft>
                <a:spcPts val="1200"/>
              </a:spcAft>
            </a:pPr>
            <a:r>
              <a:rPr sz="2000" b="0">
                <a:solidFill>
                  <a:srgbClr val="202122"/>
                </a:solidFill>
                <a:latin typeface="Calibri"/>
              </a:rPr>
              <a:t>The Data Protection Act and UK GDPR control how personal data is collected, used and kept, under eight principles such as using data fairly, only for stated purposes, keeping it accurate and secure.</a:t>
            </a:r>
          </a:p>
          <a:p>
            <a:pPr>
              <a:spcAft>
                <a:spcPts val="1200"/>
              </a:spcAft>
            </a:pPr>
            <a:r>
              <a:rPr sz="2000" b="0">
                <a:solidFill>
                  <a:srgbClr val="202122"/>
                </a:solidFill>
                <a:latin typeface="Calibri"/>
              </a:rPr>
              <a:t>The Computer Misuse Act 1990 makes unauthorised access, access intending further crimes, and damaging systems illegal.</a:t>
            </a:r>
          </a:p>
          <a:p>
            <a:pPr>
              <a:spcAft>
                <a:spcPts val="1200"/>
              </a:spcAft>
            </a:pPr>
            <a:r>
              <a:rPr sz="2000" b="0">
                <a:solidFill>
                  <a:srgbClr val="202122"/>
                </a:solidFill>
                <a:latin typeface="Calibri"/>
              </a:rPr>
              <a:t>Equality law protects nine characteristics, so software mustn't discriminate. Intellectual property law protects designs and patents. Some offences fall under international law.</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An app that quietly collects users' locations without consent breaks data protection law, however useful the data 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Key legislation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600" b="1" i="0">
                <a:solidFill>
                  <a:srgbClr val="03306E"/>
                </a:solidFill>
                <a:latin typeface="Calibri"/>
              </a:rPr>
              <a:t>Data Protection Act / UK GDPR</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Protects personal data. Learn its eight principles.</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600" b="1" i="0">
                <a:solidFill>
                  <a:srgbClr val="03306E"/>
                </a:solidFill>
                <a:latin typeface="Calibri"/>
              </a:rPr>
              <a:t>Computer Misuse Act 1990</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1700" b="0" i="0">
                <a:solidFill>
                  <a:srgbClr val="202122"/>
                </a:solidFill>
                <a:latin typeface="Calibri"/>
              </a:rPr>
              <a:t>Unauthorised access, access with intent to commit further crimes, and unauthorised acts that impair a computer.</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Equality</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1800" b="0" i="0">
                <a:solidFill>
                  <a:srgbClr val="202122"/>
                </a:solidFill>
                <a:latin typeface="Calibri"/>
              </a:rPr>
              <a:t>Nine protected characteristics; direct and indirect discrimination, harassment, victimisation.</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700" b="1" i="0">
                <a:solidFill>
                  <a:srgbClr val="03306E"/>
                </a:solidFill>
                <a:latin typeface="Calibri"/>
              </a:rPr>
              <a:t>Intellectual property</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Unregistered designs, registered designs and patents.</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International law</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Some offences cross borders, e.g. in cyberspace and surveillance.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Key legislation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law covers personal data?</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the Computer Misuse Act make illegal?</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many protected characteristics are there?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Guidelines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Beyond the law, guidelines describe professional practice.</a:t>
            </a:r>
          </a:p>
          <a:p>
            <a:pPr>
              <a:spcAft>
                <a:spcPts val="1140"/>
              </a:spcAft>
            </a:pPr>
            <a:r>
              <a:rPr sz="1900" b="0">
                <a:solidFill>
                  <a:srgbClr val="202122"/>
                </a:solidFill>
                <a:latin typeface="Calibri"/>
              </a:rPr>
              <a:t>Codes of conduct from employers, professional bodies such as BCS, the Institution of Analysts and Programmers and CIISec, and government expect you to follow policy and law, minimise risk to the public, work with competence and integrity, meet deadlines and keep confidentiality.</a:t>
            </a:r>
          </a:p>
          <a:p>
            <a:pPr>
              <a:spcAft>
                <a:spcPts val="1140"/>
              </a:spcAft>
            </a:pPr>
            <a:r>
              <a:rPr sz="1900" b="0">
                <a:solidFill>
                  <a:srgbClr val="202122"/>
                </a:solidFill>
                <a:latin typeface="Calibri"/>
              </a:rPr>
              <a:t>Industry standards include ISO, WCAG (web accessibility), W3C and IETF (web and internet), BS, IEEE and PCI SSC (card payments).</a:t>
            </a:r>
          </a:p>
          <a:p>
            <a:pPr>
              <a:spcAft>
                <a:spcPts val="1140"/>
              </a:spcAft>
            </a:pPr>
            <a:r>
              <a:rPr sz="1900" b="0">
                <a:solidFill>
                  <a:srgbClr val="202122"/>
                </a:solidFill>
                <a:latin typeface="Calibri"/>
              </a:rPr>
              <a:t>Acceptable use policies set rules for using IT, and whistleblowing procedures let staff report wrongdoing safely.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Following WCAG means adding alt text to images and keyboard navigation, so blind and motor-impaired users can use your site.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Guidelines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Codes of conduct</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Organisational, professional (BCS, IAP, CIISec) and governmental</a:t>
            </a:r>
          </a:p>
          <a:p>
            <a:pPr marL="274320" indent="-274320">
              <a:spcAft>
                <a:spcPts val="990"/>
              </a:spcAft>
              <a:buClr>
                <a:srgbClr val="0645AD"/>
              </a:buClr>
              <a:buFont typeface="Arial"/>
              <a:buChar char="•"/>
            </a:pPr>
            <a:r>
              <a:rPr sz="2200" b="0">
                <a:solidFill>
                  <a:srgbClr val="202122"/>
                </a:solidFill>
                <a:latin typeface="Calibri"/>
              </a:rPr>
              <a:t>Follow policy and law; minimise risk to the public</a:t>
            </a:r>
          </a:p>
          <a:p>
            <a:pPr marL="274320" indent="-274320">
              <a:spcAft>
                <a:spcPts val="990"/>
              </a:spcAft>
              <a:buClr>
                <a:srgbClr val="0645AD"/>
              </a:buClr>
              <a:buFont typeface="Arial"/>
              <a:buChar char="•"/>
            </a:pPr>
            <a:r>
              <a:rPr sz="2200" b="0">
                <a:solidFill>
                  <a:srgbClr val="202122"/>
                </a:solidFill>
                <a:latin typeface="Calibri"/>
              </a:rPr>
              <a:t>Competence, integrity and meeting deadlines</a:t>
            </a:r>
          </a:p>
          <a:p>
            <a:pPr marL="274320" indent="-274320">
              <a:spcAft>
                <a:spcPts val="990"/>
              </a:spcAft>
              <a:buClr>
                <a:srgbClr val="0645AD"/>
              </a:buClr>
              <a:buFont typeface="Arial"/>
              <a:buChar char="•"/>
            </a:pPr>
            <a:r>
              <a:rPr sz="2200" b="0">
                <a:solidFill>
                  <a:srgbClr val="202122"/>
                </a:solidFill>
                <a:latin typeface="Calibri"/>
              </a:rPr>
              <a:t>Confidentiality and trust</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Standards and policies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Standards:</a:t>
            </a:r>
            <a:r>
              <a:rPr sz="2200" b="0">
                <a:solidFill>
                  <a:srgbClr val="202122"/>
                </a:solidFill>
                <a:latin typeface="Calibri"/>
              </a:rPr>
              <a:t> ISO, WCAG, W3C, IETF, BS, IEEE, PCI SSC</a:t>
            </a:r>
          </a:p>
          <a:p>
            <a:pPr marL="274320" indent="-274320">
              <a:spcAft>
                <a:spcPts val="990"/>
              </a:spcAft>
              <a:buClr>
                <a:srgbClr val="0645AD"/>
              </a:buClr>
              <a:buFont typeface="Arial"/>
              <a:buChar char="•"/>
            </a:pPr>
            <a:r>
              <a:rPr sz="2200" b="1">
                <a:solidFill>
                  <a:srgbClr val="202122"/>
                </a:solidFill>
                <a:latin typeface="Calibri"/>
              </a:rPr>
              <a:t>Acceptable use policy:</a:t>
            </a:r>
            <a:r>
              <a:rPr sz="2200" b="0">
                <a:solidFill>
                  <a:srgbClr val="202122"/>
                </a:solidFill>
                <a:latin typeface="Calibri"/>
              </a:rPr>
              <a:t> permitted activities, etiquette, sanctions</a:t>
            </a:r>
          </a:p>
          <a:p>
            <a:pPr marL="274320" indent="-274320">
              <a:spcAft>
                <a:spcPts val="990"/>
              </a:spcAft>
              <a:buClr>
                <a:srgbClr val="0645AD"/>
              </a:buClr>
              <a:buFont typeface="Arial"/>
              <a:buChar char="•"/>
            </a:pPr>
            <a:r>
              <a:rPr sz="2200" b="1">
                <a:solidFill>
                  <a:srgbClr val="202122"/>
                </a:solidFill>
                <a:latin typeface="Calibri"/>
              </a:rPr>
              <a:t>Whistleblowing:</a:t>
            </a:r>
            <a:r>
              <a:rPr sz="2200" b="0">
                <a:solidFill>
                  <a:srgbClr val="202122"/>
                </a:solidFill>
                <a:latin typeface="Calibri"/>
              </a:rPr>
              <a:t> a safe way to report wrongdoing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Guidelines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standard covers web accessibility?</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Name a professional body for developers.</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whistleblowing?</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Name two employer duties under the Health and Safety at Work Act.</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Which law covers hacking into a system?</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How many protected characteristics are there?</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Which standard covers web accessibility?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Name two employer duties under the Health and Safety at Work Act.</a:t>
            </a:r>
          </a:p>
          <a:p>
            <a:r>
              <a:rPr sz="1800" b="1">
                <a:solidFill>
                  <a:srgbClr val="03306E"/>
                </a:solidFill>
                <a:latin typeface="Calibri"/>
              </a:rPr>
              <a:t>Any two of: safe environment, training, welfare, information, instruction, supervision.</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Which law covers hacking into a system?</a:t>
            </a:r>
          </a:p>
          <a:p>
            <a:r>
              <a:rPr sz="1800" b="1">
                <a:solidFill>
                  <a:srgbClr val="03306E"/>
                </a:solidFill>
                <a:latin typeface="Calibri"/>
              </a:rPr>
              <a:t>The Computer Misuse Act 1990.</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How many protected characteristics are there?</a:t>
            </a:r>
          </a:p>
          <a:p>
            <a:r>
              <a:rPr sz="1800" b="1">
                <a:solidFill>
                  <a:srgbClr val="03306E"/>
                </a:solidFill>
                <a:latin typeface="Calibri"/>
              </a:rPr>
              <a:t>Nine.</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Which standard covers web accessibility?</a:t>
            </a:r>
          </a:p>
          <a:p>
            <a:r>
              <a:rPr sz="1800" b="1">
                <a:solidFill>
                  <a:srgbClr val="03306E"/>
                </a:solidFill>
                <a:latin typeface="Calibri"/>
              </a:rPr>
              <a:t>WCAG.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Compliance check</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Legislation and Guidelines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Review a feature list for a new fitness app from your teacher.</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Flag every feature that raises a legal or ethical issue.</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Name the law or guideline involved.</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Suggest a compliant alternative.</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Data protection issues identified</a:t>
            </a:r>
          </a:p>
          <a:p>
            <a:pPr marL="274320" indent="-274320">
              <a:spcAft>
                <a:spcPts val="810"/>
              </a:spcAft>
              <a:buClr>
                <a:srgbClr val="0645AD"/>
              </a:buClr>
              <a:buFont typeface="Arial"/>
              <a:buChar char="•"/>
            </a:pPr>
            <a:r>
              <a:rPr sz="1800" b="0">
                <a:solidFill>
                  <a:srgbClr val="202122"/>
                </a:solidFill>
                <a:latin typeface="Calibri"/>
              </a:rPr>
              <a:t>Accessibility considered</a:t>
            </a:r>
          </a:p>
          <a:p>
            <a:pPr marL="274320" indent="-274320">
              <a:spcAft>
                <a:spcPts val="810"/>
              </a:spcAft>
              <a:buClr>
                <a:srgbClr val="0645AD"/>
              </a:buClr>
              <a:buFont typeface="Arial"/>
              <a:buChar char="•"/>
            </a:pPr>
            <a:r>
              <a:rPr sz="1800" b="0">
                <a:solidFill>
                  <a:srgbClr val="202122"/>
                </a:solidFill>
                <a:latin typeface="Calibri"/>
              </a:rPr>
              <a:t>Alternatives are practical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must developers know data protection law?</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is an acceptable use policy for?</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Why is whistleblowing protected?</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1: Problem Solving, Programming, Emerging Issues and Legislation</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https://lana6478.github.io/T-level-Digital-Software-Development/#/01-core-component/01-core-paper-1.md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Legislation and Guidelines</dc:title>
  <dc:subject>Digital Software Development T Level: Core Paper 1</dc:subject>
  <dc:creator>Samuel O'Connell</dc:creator>
  <cp:keywords>T Level; Digital Software Development; lesson slides; 4.1, 4.2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