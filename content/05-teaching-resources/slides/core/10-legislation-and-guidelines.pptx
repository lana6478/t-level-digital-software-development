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4"/>
    <p:sldId id="263" r:id="rId15"/>
    <p:sldId id="264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notesMaster" Target="notesMasters/notesMaster1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Give students a few minutes to answer on mini whiteboards or paper, then reveal the answers on the next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Talk through any answers the class found difficult.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Students answer on a sticky note or in the chat before leaving.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306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595360" y="1005840"/>
            <a:ext cx="3291840" cy="3291840"/>
          </a:xfrm>
          <a:prstGeom prst="ellipse">
            <a:avLst/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Oval 2"/>
          <p:cNvSpPr/>
          <p:nvPr/>
        </p:nvSpPr>
        <p:spPr>
          <a:xfrm>
            <a:off x="9966960" y="3200400"/>
            <a:ext cx="2377440" cy="237744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Oval 3"/>
          <p:cNvSpPr/>
          <p:nvPr/>
        </p:nvSpPr>
        <p:spPr>
          <a:xfrm>
            <a:off x="8138160" y="4023360"/>
            <a:ext cx="1371600" cy="1371600"/>
          </a:xfrm>
          <a:prstGeom prst="ellipse">
            <a:avLst/>
          </a:prstGeom>
          <a:solidFill>
            <a:srgbClr val="A9C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548640" y="91440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1" i="0">
                <a:solidFill>
                  <a:srgbClr val="F2B705"/>
                </a:solidFill>
                <a:latin typeface="Calibri"/>
              </a:rPr>
              <a:t>CORE COMPONENT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71600"/>
            <a:ext cx="7315200" cy="2286000"/>
          </a:xfrm>
          <a:prstGeom prst="rect">
            <a:avLst/>
          </a:prstGeom>
          <a:noFill/>
        </p:spPr>
        <p:txBody>
          <a:bodyPr wrap="square" anchor="b" lIns="0" rIns="0" tIns="0" bIns="0"/>
          <a:lstStyle/>
          <a:p>
            <a:pPr algn="l"/>
            <a:r>
              <a:rPr sz="4400" b="1" i="0">
                <a:solidFill>
                  <a:srgbClr val="FFFFFF"/>
                </a:solidFill>
                <a:latin typeface="Cambria"/>
              </a:rPr>
              <a:t>Legislation and Guidelines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84048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A9C8F0"/>
                </a:solidFill>
                <a:latin typeface="Calibri"/>
              </a:rPr>
              <a:t>Core Paper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29768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>
                <a:solidFill>
                  <a:srgbClr val="A9C8F0"/>
                </a:solidFill>
                <a:latin typeface="Calibri"/>
              </a:rPr>
              <a:t>Specification reference: 4.1, 4.2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5760720"/>
            <a:ext cx="7498079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0" i="0">
                <a:solidFill>
                  <a:srgbClr val="A9C8F0"/>
                </a:solidFill>
                <a:latin typeface="Calibri"/>
              </a:rPr>
              <a:t>Digital Software Development T Level  ·  Lesson slides</a:t>
            </a:r>
          </a:p>
          <a:p>
            <a:pPr algn="l"/>
            <a:r>
              <a:rPr sz="1100" b="0" i="0">
                <a:solidFill>
                  <a:srgbClr val="A9C8F0"/>
                </a:solidFill>
                <a:latin typeface="Calibri"/>
              </a:rPr>
              <a:t>Unofficial teaching resource. Check the official Pearson specification for assessment detail.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CORE COMPONENT  ·  Core Paper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Learning objectives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Software Development T Level  ·  Legislation and Guidelines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508760"/>
            <a:ext cx="676656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1">
                <a:solidFill>
                  <a:srgbClr val="54595D"/>
                </a:solidFill>
                <a:latin typeface="Calibri"/>
              </a:rPr>
              <a:t>By the end of this lesson you should be able to:</a:t>
            </a:r>
          </a:p>
        </p:txBody>
      </p:sp>
      <p:sp>
        <p:nvSpPr>
          <p:cNvPr id="7" name="Oval 6"/>
          <p:cNvSpPr/>
          <p:nvPr/>
        </p:nvSpPr>
        <p:spPr>
          <a:xfrm>
            <a:off x="548640" y="2234565"/>
            <a:ext cx="457200" cy="45720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202122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2011680"/>
            <a:ext cx="6035040" cy="902969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Describe health and safety law for digital work.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3274695"/>
            <a:ext cx="457200" cy="45720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202122"/>
                </a:solidFill>
                <a:latin typeface="Calibr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3051810"/>
            <a:ext cx="6035040" cy="902969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Explain data protection, computer misuse, equality and intellectual property law.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4314825"/>
            <a:ext cx="457200" cy="45720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202122"/>
                </a:solidFill>
                <a:latin typeface="Calibri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4091939"/>
            <a:ext cx="6035040" cy="902969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Explain how codes of conduct and industry standards shape professional behaviour.</a:t>
            </a:r>
          </a:p>
        </p:txBody>
      </p:sp>
      <p:sp>
        <p:nvSpPr>
          <p:cNvPr id="13" name="Oval 12"/>
          <p:cNvSpPr/>
          <p:nvPr/>
        </p:nvSpPr>
        <p:spPr>
          <a:xfrm>
            <a:off x="548640" y="5354954"/>
            <a:ext cx="457200" cy="45720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202122"/>
                </a:solidFill>
                <a:latin typeface="Calibri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5132069"/>
            <a:ext cx="6035040" cy="902969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Describe acceptable use policies and whistleblowing.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0" y="1508760"/>
            <a:ext cx="3867912" cy="4526280"/>
          </a:xfrm>
          <a:prstGeom prst="roundRect">
            <a:avLst>
              <a:gd name="adj" fmla="val 8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8046720" y="1737360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1" i="0">
                <a:solidFill>
                  <a:srgbClr val="0645AD"/>
                </a:solidFill>
                <a:latin typeface="Calibri"/>
              </a:rPr>
              <a:t>STARTER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0" y="2194560"/>
            <a:ext cx="3291840" cy="36576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>
                <a:solidFill>
                  <a:srgbClr val="03306E"/>
                </a:solidFill>
                <a:latin typeface="Cambria"/>
              </a:rPr>
              <a:t>You find that your company's app is collecting users' locations without telling them. What should you do?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CORE COMPONENT  ·  Core Paper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Health and safety for digital 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Software Development T Level  ·  Legislation and Guidelines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00200"/>
            <a:ext cx="5364327" cy="640080"/>
          </a:xfrm>
          <a:prstGeom prst="roundRect">
            <a:avLst>
              <a:gd name="adj" fmla="val 15000"/>
            </a:avLst>
          </a:prstGeom>
          <a:solidFill>
            <a:srgbClr val="033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777240" y="1600200"/>
            <a:ext cx="4907127" cy="6400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Health and Safety at Work Act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377440"/>
            <a:ext cx="5364327" cy="3794760"/>
          </a:xfrm>
          <a:prstGeom prst="roundRect">
            <a:avLst>
              <a:gd name="adj" fmla="val 4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22959" y="2606040"/>
            <a:ext cx="4815687" cy="3337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spcAft>
                <a:spcPts val="990"/>
              </a:spcAft>
              <a:buClr>
                <a:srgbClr val="0645AD"/>
              </a:buClr>
              <a:buFont typeface="Arial"/>
              <a:buChar char="•"/>
            </a:pPr>
            <a:r>
              <a:rPr sz="2200" b="0">
                <a:solidFill>
                  <a:srgbClr val="202122"/>
                </a:solidFill>
                <a:latin typeface="Calibri"/>
              </a:rPr>
              <a:t>A safe working environment</a:t>
            </a:r>
          </a:p>
          <a:p>
            <a:pPr marL="274320" indent="-274320">
              <a:spcAft>
                <a:spcPts val="990"/>
              </a:spcAft>
              <a:buClr>
                <a:srgbClr val="0645AD"/>
              </a:buClr>
              <a:buFont typeface="Arial"/>
              <a:buChar char="•"/>
            </a:pPr>
            <a:r>
              <a:rPr sz="2200" b="0">
                <a:solidFill>
                  <a:srgbClr val="202122"/>
                </a:solidFill>
                <a:latin typeface="Calibri"/>
              </a:rPr>
              <a:t>Properly trained staff</a:t>
            </a:r>
          </a:p>
          <a:p>
            <a:pPr marL="274320" indent="-274320">
              <a:spcAft>
                <a:spcPts val="990"/>
              </a:spcAft>
              <a:buClr>
                <a:srgbClr val="0645AD"/>
              </a:buClr>
              <a:buFont typeface="Arial"/>
              <a:buChar char="•"/>
            </a:pPr>
            <a:r>
              <a:rPr sz="2200" b="0">
                <a:solidFill>
                  <a:srgbClr val="202122"/>
                </a:solidFill>
                <a:latin typeface="Calibri"/>
              </a:rPr>
              <a:t>Adequate welfare</a:t>
            </a:r>
          </a:p>
          <a:p>
            <a:pPr marL="274320" indent="-274320">
              <a:spcAft>
                <a:spcPts val="990"/>
              </a:spcAft>
              <a:buClr>
                <a:srgbClr val="0645AD"/>
              </a:buClr>
              <a:buFont typeface="Arial"/>
              <a:buChar char="•"/>
            </a:pPr>
            <a:r>
              <a:rPr sz="2200" b="0">
                <a:solidFill>
                  <a:srgbClr val="202122"/>
                </a:solidFill>
                <a:latin typeface="Calibri"/>
              </a:rPr>
              <a:t>Information, instruction and supervision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78727" y="1600200"/>
            <a:ext cx="5364327" cy="640080"/>
          </a:xfrm>
          <a:prstGeom prst="roundRect">
            <a:avLst>
              <a:gd name="adj" fmla="val 15000"/>
            </a:avLst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07327" y="1600200"/>
            <a:ext cx="4907127" cy="6400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Display screen equipment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78727" y="2377440"/>
            <a:ext cx="5364327" cy="3794760"/>
          </a:xfrm>
          <a:prstGeom prst="roundRect">
            <a:avLst>
              <a:gd name="adj" fmla="val 4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553047" y="2606040"/>
            <a:ext cx="4815687" cy="3337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spcAft>
                <a:spcPts val="990"/>
              </a:spcAft>
              <a:buClr>
                <a:srgbClr val="0645AD"/>
              </a:buClr>
              <a:buFont typeface="Arial"/>
              <a:buChar char="•"/>
            </a:pPr>
            <a:r>
              <a:rPr sz="2200" b="0">
                <a:solidFill>
                  <a:srgbClr val="202122"/>
                </a:solidFill>
                <a:latin typeface="Calibri"/>
              </a:rPr>
              <a:t>Workstation assessments</a:t>
            </a:r>
          </a:p>
          <a:p>
            <a:pPr marL="274320" indent="-274320">
              <a:spcAft>
                <a:spcPts val="990"/>
              </a:spcAft>
              <a:buClr>
                <a:srgbClr val="0645AD"/>
              </a:buClr>
              <a:buFont typeface="Arial"/>
              <a:buChar char="•"/>
            </a:pPr>
            <a:r>
              <a:rPr sz="2200" b="0">
                <a:solidFill>
                  <a:srgbClr val="202122"/>
                </a:solidFill>
                <a:latin typeface="Calibri"/>
              </a:rPr>
              <a:t>Regular breaks from the screen</a:t>
            </a:r>
          </a:p>
          <a:p>
            <a:pPr marL="274320" indent="-274320">
              <a:spcAft>
                <a:spcPts val="990"/>
              </a:spcAft>
              <a:buClr>
                <a:srgbClr val="0645AD"/>
              </a:buClr>
              <a:buFont typeface="Arial"/>
              <a:buChar char="•"/>
            </a:pPr>
            <a:r>
              <a:rPr sz="2200" b="0">
                <a:solidFill>
                  <a:srgbClr val="202122"/>
                </a:solidFill>
                <a:latin typeface="Calibri"/>
              </a:rPr>
              <a:t>Eye tests on request</a:t>
            </a:r>
          </a:p>
          <a:p>
            <a:pPr marL="274320" indent="-274320">
              <a:spcAft>
                <a:spcPts val="990"/>
              </a:spcAft>
              <a:buClr>
                <a:srgbClr val="0645AD"/>
              </a:buClr>
              <a:buFont typeface="Arial"/>
              <a:buChar char="•"/>
            </a:pPr>
            <a:r>
              <a:rPr sz="2200" b="0">
                <a:solidFill>
                  <a:srgbClr val="202122"/>
                </a:solidFill>
                <a:latin typeface="Calibri"/>
              </a:rPr>
              <a:t>Training and information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CORE COMPONENT  ·  Core Paper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Key legislation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Software Development T Level  ·  Legislation and Guidelines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00200"/>
            <a:ext cx="3515258" cy="21488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Oval 6"/>
          <p:cNvSpPr/>
          <p:nvPr/>
        </p:nvSpPr>
        <p:spPr>
          <a:xfrm>
            <a:off x="777240" y="1828800"/>
            <a:ext cx="457200" cy="45720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202122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801368"/>
            <a:ext cx="2509418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600" b="1" i="0">
                <a:solidFill>
                  <a:srgbClr val="03306E"/>
                </a:solidFill>
                <a:latin typeface="Calibri"/>
              </a:rPr>
              <a:t>Data Protection Act / UK GDPR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468880"/>
            <a:ext cx="3058058" cy="1143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Protects personal data. Learn its eight principles.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38218" y="1600200"/>
            <a:ext cx="3515258" cy="21488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Oval 10"/>
          <p:cNvSpPr/>
          <p:nvPr/>
        </p:nvSpPr>
        <p:spPr>
          <a:xfrm>
            <a:off x="4566818" y="1828800"/>
            <a:ext cx="457200" cy="45720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202122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61178" y="1801368"/>
            <a:ext cx="2509418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600" b="1" i="0">
                <a:solidFill>
                  <a:srgbClr val="03306E"/>
                </a:solidFill>
                <a:latin typeface="Calibri"/>
              </a:rPr>
              <a:t>Computer Misuse Act 1990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66818" y="2468880"/>
            <a:ext cx="3058058" cy="1143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700" b="0" i="0">
                <a:solidFill>
                  <a:srgbClr val="202122"/>
                </a:solidFill>
                <a:latin typeface="Calibri"/>
              </a:rPr>
              <a:t>Unauthorised access, access with intent to commit further crimes, and unauthorised acts that impair a computer.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27796" y="1600200"/>
            <a:ext cx="3515258" cy="21488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Oval 14"/>
          <p:cNvSpPr/>
          <p:nvPr/>
        </p:nvSpPr>
        <p:spPr>
          <a:xfrm>
            <a:off x="8356396" y="1828800"/>
            <a:ext cx="457200" cy="45720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202122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50756" y="1801368"/>
            <a:ext cx="2509418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Equality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56396" y="2468880"/>
            <a:ext cx="3058058" cy="1143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202122"/>
                </a:solidFill>
                <a:latin typeface="Calibri"/>
              </a:rPr>
              <a:t>Nine protected characteristics; direct and indirect discrimination, harassment, victimisation.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023360"/>
            <a:ext cx="3515258" cy="21488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Oval 18"/>
          <p:cNvSpPr/>
          <p:nvPr/>
        </p:nvSpPr>
        <p:spPr>
          <a:xfrm>
            <a:off x="777240" y="4251960"/>
            <a:ext cx="457200" cy="45720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202122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4224528"/>
            <a:ext cx="2509418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700" b="1" i="0">
                <a:solidFill>
                  <a:srgbClr val="03306E"/>
                </a:solidFill>
                <a:latin typeface="Calibri"/>
              </a:rPr>
              <a:t>Intellectual property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4892040"/>
            <a:ext cx="3058058" cy="1143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Unregistered designs, registered designs and patents.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38218" y="4023360"/>
            <a:ext cx="3515258" cy="21488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Oval 22"/>
          <p:cNvSpPr/>
          <p:nvPr/>
        </p:nvSpPr>
        <p:spPr>
          <a:xfrm>
            <a:off x="4566818" y="4251960"/>
            <a:ext cx="457200" cy="45720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202122"/>
                </a:solidFill>
                <a:latin typeface="Calibri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61178" y="4224528"/>
            <a:ext cx="2509418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International law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66818" y="4892040"/>
            <a:ext cx="3058058" cy="1143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Some offences cross borders, e.g. in cyberspace and surveillance.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CORE COMPONENT  ·  Core Paper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Guidelines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Software Development T Level  ·  Legislation and Guidelines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00200"/>
            <a:ext cx="5364327" cy="640080"/>
          </a:xfrm>
          <a:prstGeom prst="roundRect">
            <a:avLst>
              <a:gd name="adj" fmla="val 15000"/>
            </a:avLst>
          </a:prstGeom>
          <a:solidFill>
            <a:srgbClr val="033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777240" y="1600200"/>
            <a:ext cx="4907127" cy="6400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Codes of conduct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377440"/>
            <a:ext cx="5364327" cy="3794760"/>
          </a:xfrm>
          <a:prstGeom prst="roundRect">
            <a:avLst>
              <a:gd name="adj" fmla="val 4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22959" y="2606040"/>
            <a:ext cx="4815687" cy="3337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spcAft>
                <a:spcPts val="990"/>
              </a:spcAft>
              <a:buClr>
                <a:srgbClr val="0645AD"/>
              </a:buClr>
              <a:buFont typeface="Arial"/>
              <a:buChar char="•"/>
            </a:pPr>
            <a:r>
              <a:rPr sz="2200" b="0">
                <a:solidFill>
                  <a:srgbClr val="202122"/>
                </a:solidFill>
                <a:latin typeface="Calibri"/>
              </a:rPr>
              <a:t>Organisational, professional (BCS, IAP, CIISec) and governmental</a:t>
            </a:r>
          </a:p>
          <a:p>
            <a:pPr marL="274320" indent="-274320">
              <a:spcAft>
                <a:spcPts val="990"/>
              </a:spcAft>
              <a:buClr>
                <a:srgbClr val="0645AD"/>
              </a:buClr>
              <a:buFont typeface="Arial"/>
              <a:buChar char="•"/>
            </a:pPr>
            <a:r>
              <a:rPr sz="2200" b="0">
                <a:solidFill>
                  <a:srgbClr val="202122"/>
                </a:solidFill>
                <a:latin typeface="Calibri"/>
              </a:rPr>
              <a:t>Follow policy and law; minimise risk to the public</a:t>
            </a:r>
          </a:p>
          <a:p>
            <a:pPr marL="274320" indent="-274320">
              <a:spcAft>
                <a:spcPts val="990"/>
              </a:spcAft>
              <a:buClr>
                <a:srgbClr val="0645AD"/>
              </a:buClr>
              <a:buFont typeface="Arial"/>
              <a:buChar char="•"/>
            </a:pPr>
            <a:r>
              <a:rPr sz="2200" b="0">
                <a:solidFill>
                  <a:srgbClr val="202122"/>
                </a:solidFill>
                <a:latin typeface="Calibri"/>
              </a:rPr>
              <a:t>Competence, integrity and meeting deadlines</a:t>
            </a:r>
          </a:p>
          <a:p>
            <a:pPr marL="274320" indent="-274320">
              <a:spcAft>
                <a:spcPts val="990"/>
              </a:spcAft>
              <a:buClr>
                <a:srgbClr val="0645AD"/>
              </a:buClr>
              <a:buFont typeface="Arial"/>
              <a:buChar char="•"/>
            </a:pPr>
            <a:r>
              <a:rPr sz="2200" b="0">
                <a:solidFill>
                  <a:srgbClr val="202122"/>
                </a:solidFill>
                <a:latin typeface="Calibri"/>
              </a:rPr>
              <a:t>Confidentiality and trust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78727" y="1600200"/>
            <a:ext cx="5364327" cy="640080"/>
          </a:xfrm>
          <a:prstGeom prst="roundRect">
            <a:avLst>
              <a:gd name="adj" fmla="val 15000"/>
            </a:avLst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07327" y="1600200"/>
            <a:ext cx="4907127" cy="6400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Standards and policies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78727" y="2377440"/>
            <a:ext cx="5364327" cy="3794760"/>
          </a:xfrm>
          <a:prstGeom prst="roundRect">
            <a:avLst>
              <a:gd name="adj" fmla="val 4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553047" y="2606040"/>
            <a:ext cx="4815687" cy="3337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spcAft>
                <a:spcPts val="990"/>
              </a:spcAft>
              <a:buClr>
                <a:srgbClr val="0645AD"/>
              </a:buClr>
              <a:buFont typeface="Arial"/>
              <a:buChar char="•"/>
            </a:pPr>
            <a:r>
              <a:rPr sz="2200" b="1">
                <a:solidFill>
                  <a:srgbClr val="202122"/>
                </a:solidFill>
                <a:latin typeface="Calibri"/>
              </a:rPr>
              <a:t>Standards:</a:t>
            </a:r>
            <a:r>
              <a:rPr sz="2200" b="0">
                <a:solidFill>
                  <a:srgbClr val="202122"/>
                </a:solidFill>
                <a:latin typeface="Calibri"/>
              </a:rPr>
              <a:t> ISO, WCAG, W3C, IETF, BS, IEEE, PCI SSC</a:t>
            </a:r>
          </a:p>
          <a:p>
            <a:pPr marL="274320" indent="-274320">
              <a:spcAft>
                <a:spcPts val="990"/>
              </a:spcAft>
              <a:buClr>
                <a:srgbClr val="0645AD"/>
              </a:buClr>
              <a:buFont typeface="Arial"/>
              <a:buChar char="•"/>
            </a:pPr>
            <a:r>
              <a:rPr sz="2200" b="1">
                <a:solidFill>
                  <a:srgbClr val="202122"/>
                </a:solidFill>
                <a:latin typeface="Calibri"/>
              </a:rPr>
              <a:t>Acceptable use policy:</a:t>
            </a:r>
            <a:r>
              <a:rPr sz="2200" b="0">
                <a:solidFill>
                  <a:srgbClr val="202122"/>
                </a:solidFill>
                <a:latin typeface="Calibri"/>
              </a:rPr>
              <a:t> permitted activities, etiquette, sanctions</a:t>
            </a:r>
          </a:p>
          <a:p>
            <a:pPr marL="274320" indent="-274320">
              <a:spcAft>
                <a:spcPts val="990"/>
              </a:spcAft>
              <a:buClr>
                <a:srgbClr val="0645AD"/>
              </a:buClr>
              <a:buFont typeface="Arial"/>
              <a:buChar char="•"/>
            </a:pPr>
            <a:r>
              <a:rPr sz="2200" b="1">
                <a:solidFill>
                  <a:srgbClr val="202122"/>
                </a:solidFill>
                <a:latin typeface="Calibri"/>
              </a:rPr>
              <a:t>Whistleblowing:</a:t>
            </a:r>
            <a:r>
              <a:rPr sz="2200" b="0">
                <a:solidFill>
                  <a:srgbClr val="202122"/>
                </a:solidFill>
                <a:latin typeface="Calibri"/>
              </a:rPr>
              <a:t> a safe way to report wrongdoing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CORE COMPONENT  ·  Core Paper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Check your understanding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Software Development T Level  ·  Legislation and Guidelines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6</a:t>
            </a:r>
          </a:p>
        </p:txBody>
      </p:sp>
      <p:sp>
        <p:nvSpPr>
          <p:cNvPr id="6" name="Oval 5"/>
          <p:cNvSpPr/>
          <p:nvPr/>
        </p:nvSpPr>
        <p:spPr>
          <a:xfrm>
            <a:off x="548640" y="1618488"/>
            <a:ext cx="411480" cy="41148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1600200"/>
            <a:ext cx="10408615" cy="103098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>
                <a:solidFill>
                  <a:srgbClr val="202122"/>
                </a:solidFill>
                <a:latin typeface="Calibri"/>
              </a:rPr>
              <a:t>Name two employer duties under the Health and Safety at Work Act.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2814066"/>
            <a:ext cx="411480" cy="41148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795778"/>
            <a:ext cx="10408615" cy="103098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>
                <a:solidFill>
                  <a:srgbClr val="202122"/>
                </a:solidFill>
                <a:latin typeface="Calibri"/>
              </a:rPr>
              <a:t>Which law covers hacking into a system?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4009644"/>
            <a:ext cx="411480" cy="41148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3991356"/>
            <a:ext cx="10408615" cy="103098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>
                <a:solidFill>
                  <a:srgbClr val="202122"/>
                </a:solidFill>
                <a:latin typeface="Calibri"/>
              </a:rPr>
              <a:t>How many protected characteristics are there?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5205221"/>
            <a:ext cx="411480" cy="41148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5186933"/>
            <a:ext cx="10408615" cy="103098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>
                <a:solidFill>
                  <a:srgbClr val="202122"/>
                </a:solidFill>
                <a:latin typeface="Calibri"/>
              </a:rPr>
              <a:t>Which standard covers web accessibility?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CORE COMPONENT  ·  Core Paper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Answers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Software Development T Level  ·  Legislation and Guidelines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7</a:t>
            </a:r>
          </a:p>
        </p:txBody>
      </p:sp>
      <p:sp>
        <p:nvSpPr>
          <p:cNvPr id="6" name="Oval 5"/>
          <p:cNvSpPr/>
          <p:nvPr/>
        </p:nvSpPr>
        <p:spPr>
          <a:xfrm>
            <a:off x="548640" y="1618488"/>
            <a:ext cx="411480" cy="41148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1600200"/>
            <a:ext cx="10408615" cy="103098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54595D"/>
                </a:solidFill>
                <a:latin typeface="Calibri"/>
              </a:rPr>
              <a:t>Name two employer duties under the Health and Safety at Work Act.</a:t>
            </a:r>
          </a:p>
          <a:p>
            <a:r>
              <a:rPr sz="1800" b="1">
                <a:solidFill>
                  <a:srgbClr val="03306E"/>
                </a:solidFill>
                <a:latin typeface="Calibri"/>
              </a:rPr>
              <a:t>Any two of: safe environment, training, welfare, information, instruction, supervision.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2814066"/>
            <a:ext cx="411480" cy="41148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795778"/>
            <a:ext cx="10408615" cy="103098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54595D"/>
                </a:solidFill>
                <a:latin typeface="Calibri"/>
              </a:rPr>
              <a:t>Which law covers hacking into a system?</a:t>
            </a:r>
          </a:p>
          <a:p>
            <a:r>
              <a:rPr sz="1800" b="1">
                <a:solidFill>
                  <a:srgbClr val="03306E"/>
                </a:solidFill>
                <a:latin typeface="Calibri"/>
              </a:rPr>
              <a:t>The Computer Misuse Act 1990.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4009644"/>
            <a:ext cx="411480" cy="41148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3991356"/>
            <a:ext cx="10408615" cy="103098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54595D"/>
                </a:solidFill>
                <a:latin typeface="Calibri"/>
              </a:rPr>
              <a:t>How many protected characteristics are there?</a:t>
            </a:r>
          </a:p>
          <a:p>
            <a:r>
              <a:rPr sz="1800" b="1">
                <a:solidFill>
                  <a:srgbClr val="03306E"/>
                </a:solidFill>
                <a:latin typeface="Calibri"/>
              </a:rPr>
              <a:t>Nine.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5205221"/>
            <a:ext cx="411480" cy="41148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5186933"/>
            <a:ext cx="10408615" cy="103098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54595D"/>
                </a:solidFill>
                <a:latin typeface="Calibri"/>
              </a:rPr>
              <a:t>Which standard covers web accessibility?</a:t>
            </a:r>
          </a:p>
          <a:p>
            <a:r>
              <a:rPr sz="1800" b="1">
                <a:solidFill>
                  <a:srgbClr val="03306E"/>
                </a:solidFill>
                <a:latin typeface="Calibri"/>
              </a:rPr>
              <a:t>WCAG.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CORE COMPONENT  ·  Core Paper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Activity: Compliance 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Software Development T Level  ·  Legislation and Guidelines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508760"/>
            <a:ext cx="2011680" cy="457200"/>
          </a:xfrm>
          <a:prstGeom prst="roundRect">
            <a:avLst>
              <a:gd name="adj" fmla="val 50000"/>
            </a:avLst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548640" y="1508760"/>
            <a:ext cx="2011680" cy="45720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/>
            <a:r>
              <a:rPr sz="1400" b="1" i="0">
                <a:solidFill>
                  <a:srgbClr val="202122"/>
                </a:solidFill>
                <a:latin typeface="Calibri"/>
              </a:rPr>
              <a:t>20 minutes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0" y="1508760"/>
            <a:ext cx="4754880" cy="45720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400" b="0" i="1">
                <a:solidFill>
                  <a:srgbClr val="54595D"/>
                </a:solidFill>
                <a:latin typeface="Calibri"/>
              </a:rPr>
              <a:t>Pairs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2482596"/>
            <a:ext cx="384048" cy="384048"/>
          </a:xfrm>
          <a:prstGeom prst="ellipse">
            <a:avLst/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2240280"/>
            <a:ext cx="5943600" cy="8686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700" b="0" i="0">
                <a:solidFill>
                  <a:srgbClr val="202122"/>
                </a:solidFill>
                <a:latin typeface="Calibri"/>
              </a:rPr>
              <a:t>Review a feature list for a new fitness app from your teacher.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3461004"/>
            <a:ext cx="384048" cy="384048"/>
          </a:xfrm>
          <a:prstGeom prst="ellipse">
            <a:avLst/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3218688"/>
            <a:ext cx="5943600" cy="8686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700" b="0" i="0">
                <a:solidFill>
                  <a:srgbClr val="202122"/>
                </a:solidFill>
                <a:latin typeface="Calibri"/>
              </a:rPr>
              <a:t>Flag every feature that raises a legal or ethical issue.</a:t>
            </a:r>
          </a:p>
        </p:txBody>
      </p:sp>
      <p:sp>
        <p:nvSpPr>
          <p:cNvPr id="13" name="Oval 12"/>
          <p:cNvSpPr/>
          <p:nvPr/>
        </p:nvSpPr>
        <p:spPr>
          <a:xfrm>
            <a:off x="548640" y="4439412"/>
            <a:ext cx="384048" cy="384048"/>
          </a:xfrm>
          <a:prstGeom prst="ellipse">
            <a:avLst/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4197096"/>
            <a:ext cx="5943600" cy="8686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700" b="0" i="0">
                <a:solidFill>
                  <a:srgbClr val="202122"/>
                </a:solidFill>
                <a:latin typeface="Calibri"/>
              </a:rPr>
              <a:t>Name the law or guideline involved.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5417820"/>
            <a:ext cx="384048" cy="384048"/>
          </a:xfrm>
          <a:prstGeom prst="ellipse">
            <a:avLst/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" y="5175504"/>
            <a:ext cx="5943600" cy="8686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700" b="0" i="0">
                <a:solidFill>
                  <a:srgbClr val="202122"/>
                </a:solidFill>
                <a:latin typeface="Calibri"/>
              </a:rPr>
              <a:t>Suggest a compliant alternative.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0" y="1508760"/>
            <a:ext cx="3867912" cy="4572000"/>
          </a:xfrm>
          <a:prstGeom prst="roundRect">
            <a:avLst>
              <a:gd name="adj" fmla="val 8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046720" y="1737360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1" i="0">
                <a:solidFill>
                  <a:srgbClr val="0645AD"/>
                </a:solidFill>
                <a:latin typeface="Calibri"/>
              </a:rPr>
              <a:t>SUCCESS CRITERIA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0" y="2240280"/>
            <a:ext cx="333756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spcAft>
                <a:spcPts val="810"/>
              </a:spcAft>
              <a:buClr>
                <a:srgbClr val="0645AD"/>
              </a:buClr>
              <a:buFont typeface="Arial"/>
              <a:buChar char="•"/>
            </a:pPr>
            <a:r>
              <a:rPr sz="1800" b="0">
                <a:solidFill>
                  <a:srgbClr val="202122"/>
                </a:solidFill>
                <a:latin typeface="Calibri"/>
              </a:rPr>
              <a:t>Data protection issues identified</a:t>
            </a:r>
          </a:p>
          <a:p>
            <a:pPr marL="274320" indent="-274320">
              <a:spcAft>
                <a:spcPts val="810"/>
              </a:spcAft>
              <a:buClr>
                <a:srgbClr val="0645AD"/>
              </a:buClr>
              <a:buFont typeface="Arial"/>
              <a:buChar char="•"/>
            </a:pPr>
            <a:r>
              <a:rPr sz="1800" b="0">
                <a:solidFill>
                  <a:srgbClr val="202122"/>
                </a:solidFill>
                <a:latin typeface="Calibri"/>
              </a:rPr>
              <a:t>Accessibility considered</a:t>
            </a:r>
          </a:p>
          <a:p>
            <a:pPr marL="274320" indent="-274320">
              <a:spcAft>
                <a:spcPts val="810"/>
              </a:spcAft>
              <a:buClr>
                <a:srgbClr val="0645AD"/>
              </a:buClr>
              <a:buFont typeface="Arial"/>
              <a:buChar char="•"/>
            </a:pPr>
            <a:r>
              <a:rPr sz="1800" b="0">
                <a:solidFill>
                  <a:srgbClr val="202122"/>
                </a:solidFill>
                <a:latin typeface="Calibri"/>
              </a:rPr>
              <a:t>Alternatives are practical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306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A9C8F0"/>
                </a:solidFill>
                <a:latin typeface="Calibri"/>
              </a:rPr>
              <a:t>CORE COMPONENT  ·  Core Paper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FFFFFF"/>
                </a:solidFill>
                <a:latin typeface="Cambria"/>
              </a:rPr>
              <a:t>Exit ticket</a:t>
            </a:r>
          </a:p>
        </p:txBody>
      </p:sp>
      <p:sp>
        <p:nvSpPr>
          <p:cNvPr id="4" name="Oval 3"/>
          <p:cNvSpPr/>
          <p:nvPr/>
        </p:nvSpPr>
        <p:spPr>
          <a:xfrm>
            <a:off x="548640" y="1737360"/>
            <a:ext cx="502920" cy="50292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700" b="1">
                <a:solidFill>
                  <a:srgbClr val="202122"/>
                </a:solidFill>
                <a:latin typeface="Calibr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25880" y="1645920"/>
            <a:ext cx="6583680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FFFFFF"/>
                </a:solidFill>
                <a:latin typeface="Calibri"/>
              </a:rPr>
              <a:t>Why must developers know data protection law?</a:t>
            </a:r>
          </a:p>
        </p:txBody>
      </p:sp>
      <p:sp>
        <p:nvSpPr>
          <p:cNvPr id="6" name="Oval 5"/>
          <p:cNvSpPr/>
          <p:nvPr/>
        </p:nvSpPr>
        <p:spPr>
          <a:xfrm>
            <a:off x="548640" y="2697480"/>
            <a:ext cx="502920" cy="50292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700" b="1">
                <a:solidFill>
                  <a:srgbClr val="202122"/>
                </a:solidFill>
                <a:latin typeface="Calibri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25880" y="2606040"/>
            <a:ext cx="6583680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FFFFFF"/>
                </a:solidFill>
                <a:latin typeface="Calibri"/>
              </a:rPr>
              <a:t>What is an acceptable use policy for?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3657600"/>
            <a:ext cx="502920" cy="50292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700" b="1">
                <a:solidFill>
                  <a:srgbClr val="202122"/>
                </a:solidFill>
                <a:latin typeface="Calibri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25880" y="3566160"/>
            <a:ext cx="6583680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FFFFFF"/>
                </a:solidFill>
                <a:latin typeface="Calibri"/>
              </a:rPr>
              <a:t>Why is whistleblowing protected?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0" y="1645920"/>
            <a:ext cx="3410712" cy="2926080"/>
          </a:xfrm>
          <a:prstGeom prst="roundRect">
            <a:avLst>
              <a:gd name="adj" fmla="val 8000"/>
            </a:avLst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503920" y="1874519"/>
            <a:ext cx="292608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1" i="0">
                <a:solidFill>
                  <a:srgbClr val="A9C8F0"/>
                </a:solidFill>
                <a:latin typeface="Calibri"/>
              </a:rPr>
              <a:t>REVISE THIS TOPIC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3920" y="228600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Revision notes for this lesson are on the study wiki: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2926080"/>
            <a:ext cx="2926080" cy="1463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1" i="0">
                <a:solidFill>
                  <a:srgbClr val="FFFFFF"/>
                </a:solidFill>
                <a:latin typeface="Cambria"/>
              </a:rPr>
              <a:t>Core Paper 1: Problem Solving, Programming, Emerging Issues and Legislation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5669280"/>
            <a:ext cx="11094415" cy="5486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200" b="0" i="0">
                <a:solidFill>
                  <a:srgbClr val="A9C8F0"/>
                </a:solidFill>
                <a:latin typeface="Calibri"/>
              </a:rPr>
              <a:t>https://lana6478.github.io/T-level-Digital-Software-Development/#/01-core-component/01-core-paper-1.md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Legislation and Guidelines</dc:title>
  <dc:subject>Digital Software Development T Level: Core Paper 1</dc:subject>
  <dc:creator>Samuel O'Connell</dc:creator>
  <cp:keywords>T Level; Digital Software Development; lesson slides; 4.1, 4.2</cp:keywords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